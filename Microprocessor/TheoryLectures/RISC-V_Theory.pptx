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8"/>
  </p:notesMasterIdLst>
  <p:sldIdLst>
    <p:sldId id="256" r:id="rId2"/>
    <p:sldId id="327" r:id="rId3"/>
    <p:sldId id="271" r:id="rId4"/>
    <p:sldId id="273" r:id="rId5"/>
    <p:sldId id="407" r:id="rId6"/>
    <p:sldId id="408" r:id="rId7"/>
    <p:sldId id="409" r:id="rId8"/>
    <p:sldId id="411" r:id="rId9"/>
    <p:sldId id="410" r:id="rId10"/>
    <p:sldId id="419" r:id="rId11"/>
    <p:sldId id="420" r:id="rId12"/>
    <p:sldId id="421" r:id="rId13"/>
    <p:sldId id="422" r:id="rId14"/>
    <p:sldId id="423" r:id="rId15"/>
    <p:sldId id="424" r:id="rId16"/>
    <p:sldId id="258" r:id="rId17"/>
    <p:sldId id="426" r:id="rId18"/>
    <p:sldId id="257" r:id="rId19"/>
    <p:sldId id="425" r:id="rId20"/>
    <p:sldId id="430" r:id="rId21"/>
    <p:sldId id="270" r:id="rId22"/>
    <p:sldId id="412" r:id="rId23"/>
    <p:sldId id="413" r:id="rId24"/>
    <p:sldId id="414" r:id="rId25"/>
    <p:sldId id="415" r:id="rId26"/>
    <p:sldId id="416" r:id="rId27"/>
    <p:sldId id="417" r:id="rId28"/>
    <p:sldId id="418" r:id="rId29"/>
    <p:sldId id="329" r:id="rId30"/>
    <p:sldId id="274" r:id="rId31"/>
    <p:sldId id="275" r:id="rId32"/>
    <p:sldId id="391" r:id="rId33"/>
    <p:sldId id="429" r:id="rId34"/>
    <p:sldId id="427" r:id="rId35"/>
    <p:sldId id="276" r:id="rId36"/>
    <p:sldId id="277" r:id="rId37"/>
    <p:sldId id="279" r:id="rId38"/>
    <p:sldId id="280" r:id="rId39"/>
    <p:sldId id="404" r:id="rId40"/>
    <p:sldId id="281" r:id="rId41"/>
    <p:sldId id="261" r:id="rId42"/>
    <p:sldId id="262" r:id="rId43"/>
    <p:sldId id="283" r:id="rId44"/>
    <p:sldId id="284" r:id="rId45"/>
    <p:sldId id="383" r:id="rId46"/>
    <p:sldId id="400" r:id="rId47"/>
    <p:sldId id="461" r:id="rId48"/>
    <p:sldId id="287" r:id="rId49"/>
    <p:sldId id="288" r:id="rId50"/>
    <p:sldId id="292" r:id="rId51"/>
    <p:sldId id="293" r:id="rId52"/>
    <p:sldId id="294" r:id="rId53"/>
    <p:sldId id="296" r:id="rId54"/>
    <p:sldId id="264" r:id="rId55"/>
    <p:sldId id="265" r:id="rId56"/>
    <p:sldId id="266" r:id="rId57"/>
    <p:sldId id="267" r:id="rId58"/>
    <p:sldId id="268" r:id="rId59"/>
    <p:sldId id="428" r:id="rId60"/>
    <p:sldId id="298" r:id="rId61"/>
    <p:sldId id="300" r:id="rId62"/>
    <p:sldId id="448" r:id="rId63"/>
    <p:sldId id="449" r:id="rId64"/>
    <p:sldId id="269" r:id="rId65"/>
    <p:sldId id="450" r:id="rId66"/>
    <p:sldId id="451" r:id="rId67"/>
    <p:sldId id="272" r:id="rId68"/>
    <p:sldId id="452" r:id="rId69"/>
    <p:sldId id="453" r:id="rId70"/>
    <p:sldId id="454" r:id="rId71"/>
    <p:sldId id="455" r:id="rId72"/>
    <p:sldId id="456" r:id="rId73"/>
    <p:sldId id="457" r:id="rId74"/>
    <p:sldId id="458" r:id="rId75"/>
    <p:sldId id="459" r:id="rId76"/>
    <p:sldId id="460" r:id="rId77"/>
    <p:sldId id="301" r:id="rId78"/>
    <p:sldId id="387" r:id="rId79"/>
    <p:sldId id="388" r:id="rId80"/>
    <p:sldId id="309" r:id="rId81"/>
    <p:sldId id="402" r:id="rId82"/>
    <p:sldId id="403" r:id="rId83"/>
    <p:sldId id="392" r:id="rId84"/>
    <p:sldId id="393" r:id="rId85"/>
    <p:sldId id="405" r:id="rId86"/>
    <p:sldId id="406" r:id="rId87"/>
    <p:sldId id="446" r:id="rId88"/>
    <p:sldId id="431" r:id="rId89"/>
    <p:sldId id="432" r:id="rId90"/>
    <p:sldId id="433" r:id="rId91"/>
    <p:sldId id="434" r:id="rId92"/>
    <p:sldId id="435" r:id="rId93"/>
    <p:sldId id="278" r:id="rId94"/>
    <p:sldId id="436" r:id="rId95"/>
    <p:sldId id="438" r:id="rId96"/>
    <p:sldId id="282" r:id="rId97"/>
    <p:sldId id="439" r:id="rId98"/>
    <p:sldId id="440" r:id="rId99"/>
    <p:sldId id="285" r:id="rId100"/>
    <p:sldId id="286" r:id="rId101"/>
    <p:sldId id="462" r:id="rId102"/>
    <p:sldId id="441" r:id="rId103"/>
    <p:sldId id="442" r:id="rId104"/>
    <p:sldId id="290" r:id="rId105"/>
    <p:sldId id="444" r:id="rId106"/>
    <p:sldId id="445" r:id="rId10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6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ableStyles" Target="tableStyle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microsoft.com/office/2016/11/relationships/changesInfo" Target="changesInfos/changesInfo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presProps" Target="pres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ani Tarun HYD UDBA2" userId="ab02101d-1e38-4ec7-aa34-8e64e9574373" providerId="ADAL" clId="{BF31D36D-94D4-41A4-856B-5FAA74F6A753}"/>
    <pc:docChg chg="undo custSel addSld delSld modSld">
      <pc:chgData name="Bharani Tarun HYD UDBA2" userId="ab02101d-1e38-4ec7-aa34-8e64e9574373" providerId="ADAL" clId="{BF31D36D-94D4-41A4-856B-5FAA74F6A753}" dt="2025-10-01T03:02:40.072" v="185" actId="20577"/>
      <pc:docMkLst>
        <pc:docMk/>
      </pc:docMkLst>
      <pc:sldChg chg="addSp modSp mod">
        <pc:chgData name="Bharani Tarun HYD UDBA2" userId="ab02101d-1e38-4ec7-aa34-8e64e9574373" providerId="ADAL" clId="{BF31D36D-94D4-41A4-856B-5FAA74F6A753}" dt="2025-09-29T04:54:52.366" v="159" actId="20577"/>
        <pc:sldMkLst>
          <pc:docMk/>
          <pc:sldMk cId="0" sldId="264"/>
        </pc:sldMkLst>
      </pc:sldChg>
      <pc:sldChg chg="addSp delSp modSp mod">
        <pc:chgData name="Bharani Tarun HYD UDBA2" userId="ab02101d-1e38-4ec7-aa34-8e64e9574373" providerId="ADAL" clId="{BF31D36D-94D4-41A4-856B-5FAA74F6A753}" dt="2025-10-01T03:02:40.072" v="185" actId="20577"/>
        <pc:sldMkLst>
          <pc:docMk/>
          <pc:sldMk cId="0" sldId="282"/>
        </pc:sldMkLst>
      </pc:sldChg>
      <pc:sldChg chg="modSp">
        <pc:chgData name="Bharani Tarun HYD UDBA2" userId="ab02101d-1e38-4ec7-aa34-8e64e9574373" providerId="ADAL" clId="{BF31D36D-94D4-41A4-856B-5FAA74F6A753}" dt="2025-09-29T02:19:21.303" v="0"/>
        <pc:sldMkLst>
          <pc:docMk/>
          <pc:sldMk cId="0" sldId="293"/>
        </pc:sldMkLst>
      </pc:sldChg>
      <pc:sldChg chg="addSp new del">
        <pc:chgData name="Bharani Tarun HYD UDBA2" userId="ab02101d-1e38-4ec7-aa34-8e64e9574373" providerId="ADAL" clId="{BF31D36D-94D4-41A4-856B-5FAA74F6A753}" dt="2025-09-29T02:22:28.214" v="3" actId="680"/>
        <pc:sldMkLst>
          <pc:docMk/>
          <pc:sldMk cId="3069191194" sldId="463"/>
        </pc:sldMkLst>
      </pc:sldChg>
    </pc:docChg>
  </pc:docChgLst>
  <pc:docChgLst>
    <pc:chgData name="Bharani Tarun HYD UDBA2" userId="ab02101d-1e38-4ec7-aa34-8e64e9574373" providerId="ADAL" clId="{D1122A50-D14C-4F1C-AFFB-22AED9AA1318}"/>
    <pc:docChg chg="undo custSel modSld">
      <pc:chgData name="Bharani Tarun HYD UDBA2" userId="ab02101d-1e38-4ec7-aa34-8e64e9574373" providerId="ADAL" clId="{D1122A50-D14C-4F1C-AFFB-22AED9AA1318}" dt="2026-04-06T03:26:45.246" v="205" actId="1037"/>
      <pc:docMkLst>
        <pc:docMk/>
      </pc:docMkLst>
      <pc:sldChg chg="addSp delSp modSp mod">
        <pc:chgData name="Bharani Tarun HYD UDBA2" userId="ab02101d-1e38-4ec7-aa34-8e64e9574373" providerId="ADAL" clId="{D1122A50-D14C-4F1C-AFFB-22AED9AA1318}" dt="2026-04-06T03:26:45.246" v="205" actId="1037"/>
        <pc:sldMkLst>
          <pc:docMk/>
          <pc:sldMk cId="0" sldId="300"/>
        </pc:sldMkLst>
        <pc:spChg chg="add del mod">
          <ac:chgData name="Bharani Tarun HYD UDBA2" userId="ab02101d-1e38-4ec7-aa34-8e64e9574373" providerId="ADAL" clId="{D1122A50-D14C-4F1C-AFFB-22AED9AA1318}" dt="2026-04-06T03:10:52.520" v="91"/>
          <ac:spMkLst>
            <pc:docMk/>
            <pc:sldMk cId="0" sldId="300"/>
            <ac:spMk id="2" creationId="{0188A835-3648-5211-FAD1-C2669DE104D7}"/>
          </ac:spMkLst>
        </pc:spChg>
        <pc:spChg chg="add">
          <ac:chgData name="Bharani Tarun HYD UDBA2" userId="ab02101d-1e38-4ec7-aa34-8e64e9574373" providerId="ADAL" clId="{D1122A50-D14C-4F1C-AFFB-22AED9AA1318}" dt="2026-04-06T03:10:41.521" v="89"/>
          <ac:spMkLst>
            <pc:docMk/>
            <pc:sldMk cId="0" sldId="300"/>
            <ac:spMk id="3" creationId="{5E0FE07F-0BEF-78EC-EF33-D233D9FBAD15}"/>
          </ac:spMkLst>
        </pc:spChg>
        <pc:spChg chg="add mod">
          <ac:chgData name="Bharani Tarun HYD UDBA2" userId="ab02101d-1e38-4ec7-aa34-8e64e9574373" providerId="ADAL" clId="{D1122A50-D14C-4F1C-AFFB-22AED9AA1318}" dt="2026-04-06T03:26:45.246" v="205" actId="1037"/>
          <ac:spMkLst>
            <pc:docMk/>
            <pc:sldMk cId="0" sldId="300"/>
            <ac:spMk id="4" creationId="{3BF96517-7EF6-A896-8486-86689CDEABAE}"/>
          </ac:spMkLst>
        </pc:spChg>
        <pc:spChg chg="add">
          <ac:chgData name="Bharani Tarun HYD UDBA2" userId="ab02101d-1e38-4ec7-aa34-8e64e9574373" providerId="ADAL" clId="{D1122A50-D14C-4F1C-AFFB-22AED9AA1318}" dt="2026-04-06T03:11:10.202" v="93"/>
          <ac:spMkLst>
            <pc:docMk/>
            <pc:sldMk cId="0" sldId="300"/>
            <ac:spMk id="5" creationId="{CCE023F7-53D1-9E50-D92B-164B4F496E2D}"/>
          </ac:spMkLst>
        </pc:spChg>
        <pc:spChg chg="add del">
          <ac:chgData name="Bharani Tarun HYD UDBA2" userId="ab02101d-1e38-4ec7-aa34-8e64e9574373" providerId="ADAL" clId="{D1122A50-D14C-4F1C-AFFB-22AED9AA1318}" dt="2026-04-06T03:23:20.272" v="200" actId="11529"/>
          <ac:spMkLst>
            <pc:docMk/>
            <pc:sldMk cId="0" sldId="300"/>
            <ac:spMk id="6" creationId="{1D14CBEF-DBC2-5B56-7E5A-3BC5BB581F62}"/>
          </ac:spMkLst>
        </pc:spChg>
        <pc:spChg chg="mod">
          <ac:chgData name="Bharani Tarun HYD UDBA2" userId="ab02101d-1e38-4ec7-aa34-8e64e9574373" providerId="ADAL" clId="{D1122A50-D14C-4F1C-AFFB-22AED9AA1318}" dt="2026-04-06T03:10:11.342" v="88" actId="1038"/>
          <ac:spMkLst>
            <pc:docMk/>
            <pc:sldMk cId="0" sldId="300"/>
            <ac:spMk id="77827" creationId="{13D71D30-2D0E-0630-ECB5-EDCCCED1EB15}"/>
          </ac:spMkLst>
        </pc:spChg>
        <pc:spChg chg="mod">
          <ac:chgData name="Bharani Tarun HYD UDBA2" userId="ab02101d-1e38-4ec7-aa34-8e64e9574373" providerId="ADAL" clId="{D1122A50-D14C-4F1C-AFFB-22AED9AA1318}" dt="2026-04-06T03:19:25.876" v="168" actId="1037"/>
          <ac:spMkLst>
            <pc:docMk/>
            <pc:sldMk cId="0" sldId="300"/>
            <ac:spMk id="77828" creationId="{4061B22B-72F9-8C5E-8AFC-A1FB5251DA86}"/>
          </ac:spMkLst>
        </pc:spChg>
        <pc:picChg chg="add">
          <ac:chgData name="Bharani Tarun HYD UDBA2" userId="ab02101d-1e38-4ec7-aa34-8e64e9574373" providerId="ADAL" clId="{D1122A50-D14C-4F1C-AFFB-22AED9AA1318}" dt="2026-04-06T03:10:41.521" v="89"/>
          <ac:picMkLst>
            <pc:docMk/>
            <pc:sldMk cId="0" sldId="300"/>
            <ac:picMk id="1026" creationId="{0774A217-803D-B17C-A630-DC397976582D}"/>
          </ac:picMkLst>
        </pc:picChg>
        <pc:picChg chg="add">
          <ac:chgData name="Bharani Tarun HYD UDBA2" userId="ab02101d-1e38-4ec7-aa34-8e64e9574373" providerId="ADAL" clId="{D1122A50-D14C-4F1C-AFFB-22AED9AA1318}" dt="2026-04-06T03:10:41.521" v="89"/>
          <ac:picMkLst>
            <pc:docMk/>
            <pc:sldMk cId="0" sldId="300"/>
            <ac:picMk id="1027" creationId="{817BD2D9-0ABC-FAE9-4EDE-727FA10A58BA}"/>
          </ac:picMkLst>
        </pc:picChg>
        <pc:picChg chg="add">
          <ac:chgData name="Bharani Tarun HYD UDBA2" userId="ab02101d-1e38-4ec7-aa34-8e64e9574373" providerId="ADAL" clId="{D1122A50-D14C-4F1C-AFFB-22AED9AA1318}" dt="2026-04-06T03:10:41.521" v="89"/>
          <ac:picMkLst>
            <pc:docMk/>
            <pc:sldMk cId="0" sldId="300"/>
            <ac:picMk id="1028" creationId="{86210C38-2F55-3FD9-4E83-26D54DC0C368}"/>
          </ac:picMkLst>
        </pc:picChg>
        <pc:picChg chg="add">
          <ac:chgData name="Bharani Tarun HYD UDBA2" userId="ab02101d-1e38-4ec7-aa34-8e64e9574373" providerId="ADAL" clId="{D1122A50-D14C-4F1C-AFFB-22AED9AA1318}" dt="2026-04-06T03:10:41.521" v="89"/>
          <ac:picMkLst>
            <pc:docMk/>
            <pc:sldMk cId="0" sldId="300"/>
            <ac:picMk id="1029" creationId="{6FDB4D57-CC76-E0C8-9E16-034F59C64709}"/>
          </ac:picMkLst>
        </pc:picChg>
        <pc:picChg chg="add">
          <ac:chgData name="Bharani Tarun HYD UDBA2" userId="ab02101d-1e38-4ec7-aa34-8e64e9574373" providerId="ADAL" clId="{D1122A50-D14C-4F1C-AFFB-22AED9AA1318}" dt="2026-04-06T03:11:10.202" v="93"/>
          <ac:picMkLst>
            <pc:docMk/>
            <pc:sldMk cId="0" sldId="300"/>
            <ac:picMk id="1031" creationId="{E313DF13-0806-D0CF-49D8-B7E19B9B1514}"/>
          </ac:picMkLst>
        </pc:picChg>
        <pc:picChg chg="add">
          <ac:chgData name="Bharani Tarun HYD UDBA2" userId="ab02101d-1e38-4ec7-aa34-8e64e9574373" providerId="ADAL" clId="{D1122A50-D14C-4F1C-AFFB-22AED9AA1318}" dt="2026-04-06T03:11:10.202" v="93"/>
          <ac:picMkLst>
            <pc:docMk/>
            <pc:sldMk cId="0" sldId="300"/>
            <ac:picMk id="1032" creationId="{4EBAEB35-DCA8-4C40-F5F1-143B4E23AF6E}"/>
          </ac:picMkLst>
        </pc:picChg>
        <pc:picChg chg="add">
          <ac:chgData name="Bharani Tarun HYD UDBA2" userId="ab02101d-1e38-4ec7-aa34-8e64e9574373" providerId="ADAL" clId="{D1122A50-D14C-4F1C-AFFB-22AED9AA1318}" dt="2026-04-06T03:11:10.202" v="93"/>
          <ac:picMkLst>
            <pc:docMk/>
            <pc:sldMk cId="0" sldId="300"/>
            <ac:picMk id="1033" creationId="{F04152ED-3CC2-574A-9856-C97F36B1CA29}"/>
          </ac:picMkLst>
        </pc:picChg>
        <pc:picChg chg="add">
          <ac:chgData name="Bharani Tarun HYD UDBA2" userId="ab02101d-1e38-4ec7-aa34-8e64e9574373" providerId="ADAL" clId="{D1122A50-D14C-4F1C-AFFB-22AED9AA1318}" dt="2026-04-06T03:11:10.202" v="93"/>
          <ac:picMkLst>
            <pc:docMk/>
            <pc:sldMk cId="0" sldId="300"/>
            <ac:picMk id="1034" creationId="{9329F2B4-5D9A-1B3E-87D2-2B84954FA54C}"/>
          </ac:picMkLst>
        </pc:picChg>
      </pc:sldChg>
      <pc:sldChg chg="modSp mod">
        <pc:chgData name="Bharani Tarun HYD UDBA2" userId="ab02101d-1e38-4ec7-aa34-8e64e9574373" providerId="ADAL" clId="{D1122A50-D14C-4F1C-AFFB-22AED9AA1318}" dt="2026-04-01T03:22:47.905" v="9" actId="20577"/>
        <pc:sldMkLst>
          <pc:docMk/>
          <pc:sldMk cId="2822712927" sldId="423"/>
        </pc:sldMkLst>
        <pc:spChg chg="mod">
          <ac:chgData name="Bharani Tarun HYD UDBA2" userId="ab02101d-1e38-4ec7-aa34-8e64e9574373" providerId="ADAL" clId="{D1122A50-D14C-4F1C-AFFB-22AED9AA1318}" dt="2026-04-01T03:22:47.905" v="9" actId="20577"/>
          <ac:spMkLst>
            <pc:docMk/>
            <pc:sldMk cId="2822712927" sldId="423"/>
            <ac:spMk id="3" creationId="{92F2AB36-C4DF-52E8-C628-319CCEB216B5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9-29T02:39:33.1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20073 6456 0,'18'0'109,"17"0"-93,36-18-16,52 1 0,36-1 15,17 0-15,124-35 32,-212 53-32,89 0 15,-125 0 1,107 0 0,-18 18-1,106-18 1,-106 0-1,18 0 1,70-18 0,-70-17-1,-35 17 1,-36-17 0,-53 0-1,-17 0 16,-1-71-15,-17 35 0,0-123-1,-17 53 1,17 0 0,-18 0-1,18 70 1,-35 1-1,-18 52 1,35-35 0,-70 18-1,-35 17 1,-160-35 15,1-17-31,18 35 31,-283 17-15,282 36 0,-70-1-1,-229 107 1,299-71 0,-35 17-1,-105 18 1,210-35-1,-69 0 1,70 0 0,17 0-1,-34-35 1,52 17 0,-70 18 15,-18-18-16,123-35 1,19 18 0,-1-1-1,-88 36 1,88-17 0,-18 16-1,1 1 1,35-17-1,35-36 1,35 17-16,0-17 16,1 0-1,-1 18 17,18 0-17,0-1 16,0 18-15,35 1-16,1 17 16,87 141-1,-52-88 1,-18-54 0,0 1-1,-18-35 1,124-18-1,52 0 1,19-18 0,140-52-1,-176 17 1,-18 35 0,124 18-1,-106 0 16,-88 18-15,0 0 0,0-1-1,35 1 1,-35-18 0,70 0-1,1 0 1,-54 0-1,-105 0-15,17-18 16,36 18 15,-36 0-15,0 0 0,-17 0-16,17 0 15,-17 0-15,17 0 0,0 0 16,0 0 15,1 0-15,-19 0 15,1 0-15</inkml:trace>
  <inkml:trace contextRef="#ctx0" brushRef="#br0" timeOffset="4192.14">31803 2910 0,'-18'0'31,"1"0"-15,-1 0 15,18-17-15,-18 17 0,18-18-16,-17 18 15,17-18 1,-18 1-16,-17-1 15,-89-52 17,-334-160-17,140 72 1,71 52 0,141 70-16,-88-34 15,0 17 1,-17 0-1,70 53 1,35 0 0,70 0-16,-52 0 15,-18 0 1,36 0-16,-1 18 16,-17-1-16,-194 19 31,88 17-16,-71-1 1,212-34 0,-52 0-1,-54 17 1,53-17 0,-53 17 15,71 0-31,70-17 15,-35 0-15,-35 17 16,18 18 0,-18 0-1,70-18-15,-35 0 16,-18 0 0,-17 18-1,18-17 16,17-1-15,-18-17 0,36 17-1,-36-18 1,54 1 0,-1 0-1,0-18 1,1 17-1,-1 1 1,-17 70 15,0 18-15,-18 70 0,17-52-1,19-54-15,-1 89 31,18-106-15,0-18 0,0-17-1,0 17 1,0-17 0,0 0-1,0-1 16,18 1-31,-1 0 16,72-1 0,69 18-1,72 1 17,-107-36-17,-52 0-15,123-18 16,-53 0-1,53 1 1,53-18 0,70 17-1,-176-17 1,-52 17 0,-36 0-1,88 1 1,-18-1-1,54-35 1,-1 18 15,-35 17-15,-88 18 0,0-17-16,53-19 31,-18 1-16,-18 0 1,72 17 0,-54 18-1,0-35 1,35 0 0,-34 35-1,-1-18 1,-53 0-16,36 1 15,52-1 1,18 18 0,-53 0-1,36-18 1,-36 18 15,-53 0-15,18 0-1,-35 0 1,70 0 0,71 18-1,-71-18 1,-35 18 0,-35-18-16,-1 17 15,1 1 1,35-18-1,-36 0 1,19 18 0,-1-1-16,-17-17 15,35 35 1,52 18 15,1 0-31,0-17 16,-18-1 15,-70-17-15,0-18-1,34 0 1,1 0 0,18 0 15,-36 0-31,0 0 15,18-18 17,-17 18-32,-19-18 15,19 18 1,-19-35 0,54-36 15,-1 1-16,-52 35 1,0-1 0,-1 1-1,-17 0 1,0-89 0,-17 54-1,-19-18 1,1-1-1,17 36 1,-17 0 0,17 36-1,-17-18 1,18 17 15,-1 0-15,0 18-1,1-35 1,-72 0 15,72 35-31,-89-36 16,-17 1 0,70 35-1,17-17-15,19 17 16,-1-18-16,0 18 15,-35 0 1,1 0 15,-37 0-15,72 0-16,-195 0 31,177 18-15,-18-18-1,0 0 1,35 0 0,1 0-1,-19 35 1,19-35 0,-1 0 15,0 0-16,1 0 17,-1 0-32</inkml:trace>
  <inkml:trace contextRef="#ctx0" brushRef="#br0" timeOffset="7026.91">29863 3881 0,'0'-18'31,"0"0"-15,17 18 0,1 0-1,0 0 1,34 0 0,19 0-16,123-17 15,176-19 1,177 36 15,-212 18-15,18-18-1,-71 35 1,-35 1 0,-35-36-1,-177 0 1,-17 0 15,-18-18 78,0 0-77,0 1 30,0-1-31,0 0 1,-18-52-17,1 17 1,17 18-16,-36-54 16,1 1-1,17 0 1,1 53-16,-1-36 31,-17 1-15,0-54-1,17 18 1,0-35 0,1 71-1,17-1 1,-36 1-1,19 52 1,17 0 0,0 1-1,0-1 1,-18 0 0,1 18 15,-1 0 16,0 0-32,1 0 1,-36 0 0,-53 0-1,35 18-15,-140 0 16,-1-18-1,-194 70 1,212-35 0,18 1-1,-53 17 17,87-18-17,90-17-15,-54-1 16,88 1-1,-53-18 17,36 0-17,-35 17 1,-19 1 0,19 0-1,-36-1 1,53-17-1,18 0 1,-18 18 0,18-18-1,-1 0 1,1 0 15,17 0-15,1 0-1,-1 0 1,1 0 0,17 18 46,0-1-46,0 1 15,35 105 0,-35-70-31,0-17 16,0-19-16,0 19 16,0-1-1,0-18 1,0 54-1,17 35 17,1 35-17,0 88 1,-18-88 0,0-105-1,0-19-15,0 1 16,0 17-1,0-17 1,0-1 0,0 1-1,0 0 17,0-1-32,0 1 31</inkml:trace>
  <inkml:trace contextRef="#ctx0" brushRef="#br0" timeOffset="24285.77">16898 7955 0,'0'18'63,"0"-1"-32,0 1-16,0 0 1,0-1-16,0 1 16,0 17-1,0-17-15,0 52 32,0-17-32,0 36 15,0 34 1,-18 53 15,1-52-15,17-71-16,-36 158 31,19-175-31,-1 70 16,1 17-1,-1-35 16,0 89-15,18-142 0,-17 35-16,17-17 15,-36 159 1,36-141 0,0 17-1,0-35 1,0-18-1,0 0 329,0-17-344,0 17 16,0 18-16,-17 0 15,17 0-15,-18 35 16,-17 89 0,0 52-1,35-88 1,0 124 15,0-177-31,17 53 16,-17-71-16,0 54 15,0-1 1,0-17 0,0 35-1,0-53 1,0 36 0,0-1-1,-17-34 1,-1 69 15,0-87-15,18-18-1,0-18 1,0 18 0,0-18-1,18 106 1,17-17-1,-17-54-15,-18 72 16,0-54 0,0-35-1,0 17 1,0-35 0,0-17-1,0 17 16,0-17-15,0 0 265,17-18-281,1 35 16,0 0-16,-1 1 16,1 87-1,-18-52-15,18 87 16,-18 19-1,0-89-15,-36 159 16,36-36 0,0-16 15,-17-107-15,-1 35-1,0-35 1,-34 53-1,16-35 1,19-35 0,17-18-1,-36 70 1,36-87 0,0-1-1,-17 71 16,17-53-31,0-1 16,-18 19 0,0 17 15,18-35-31,0-35 16,0 52-16,0-17 15,0 53 16,0-71-15,0-17 0,0 35-1,0-35 1,0 34 0,18-16-1,-18 34 16,18-34-31,-1-1 16,1 0 0,-18 0-1,18 1 1,-1 17 0,-17-36-1,18 19 16,-18-1-15,0 18 0,18 0-1,-18-18 1,0-17 0,17 34-1,1-16 1,-18 34-1,17 1 1,1-36 0,0 53 15,-1 1-15,-17-72-16,0 71 31,0-35-16,0-17 1,0 16 0,0 1-1,0-17 1,18-19 0,-18 1-1,0 0 1,0-1 15,0 1-15</inkml:trace>
  <inkml:trace contextRef="#ctx0" brushRef="#br0" timeOffset="32762.96">25665 9454 0,'17'0'31,"1"0"-15,-1 0-1,1 0 1,0 18-16,-1 0 16,1-1-1,0-17 1,17 18-1,-35 0 1,18-1-16,17 1 31,-35 0-15,35 34 0,-17-34-1,-1 0 1,-17-1-1,18 1 1,-18 0 15</inkml:trace>
  <inkml:trace contextRef="#ctx0" brushRef="#br0" timeOffset="37107.87">25523 5186 0,'0'17'31,"0"1"-15,0 53-16,0-1 15,36 89 1,-19 0 0,36 70-1,-35-53 1,17 177 15,-35-212-31,0-70 16,0 88-1,-35 70 17,35-194-32,-18 53 15,18-17 1,0 52-1,-35 1 1,17-36 15,-17 53-15,35 0 0,0-88-16,0 0 15,0 71 1,-18-19-1,18 1 1,-17 0 0,17-71-1,0 36 1,-18-18 0,18-18 15,0 0 234,71 89-249,-36-54-16,-17 1 16,-1 0-16,19 123 31,16 0-15,19 105-1,-18-52 1,-35-105-1,-18 69 1,0-70 0,-53 53-1,35-105 1,0-19 0,1-17-1,17-35 1,0 35-1,0-1 1,0-34 0,0 17 15,0-17 172,0 0-203,0-1 16,0 36-16,0-35 0,0 123 31,35 247-15,-35-123-1,0 17 1,0 106-1,0-106 17,0-194-32,-18-35 15,18 71 1,0 87 0,0-34-1,18 17 1,-18 17-1,18-87 1,-1-18 0,-17 17 15,18-52-15,-18-1-1,0-17 1,0-17 15,0-1 235,35 35-251,-17 54-15,35 35 16,0 88-16,-36 123 16,-17-123-1,0-124-15,0 18 16,18 106-1,-18 53 17,0-176-32,0 70 31,0-177-15,0 36-16,0-35 15,0 53 1,0 52-1,0-52 1,0-19 0,0 19-1,0-53 1,0 17 0,0 18-1,0-18 1,0 18-1,0-35 1,0 17 0,0 71 15,0-71-15,0 18-1,0-18 1,0 36-1,0 17 17,0-53-32,0-17 15,0 52 17,0-17-32,0-35 15,0 17 1,0 1-1,18 17 1,-18-18 15,0 0-15,0 0 0,0-17-1,0 0 1,0-1-1,0 1 1,0 0 0,0-1 15,0 1-15,0-1 296,0 1-296,0 0-1,0-1-15,0 1 16,0 0 0,0-1-1,0 1-15,0 0 31,0-1-31,0 1 47,0-1 16,0 1-48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9-29T02:50:29.9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23477 8061 0,'0'35'15,"0"18"1,18 0 0,0 35-1,17-17 1,-17 17 0,-1 35-1,-17-52 1,71 35-1,35 17 1,70 36 0,-35-106-1,177 141-15,-1-18 16,248 89 15,-283-142-15,-159-52-1,-17-36 1,-53-17 0,0 0-1,-18-18 1,-17 0 0,-71-36 30,-35-17-30,-53-17-16,-18-18 0,-70-18 16,105 71-1,71-1 1,35 19 0</inkml:trace>
  <inkml:trace contextRef="#ctx0" brushRef="#br0" timeOffset="5357.78">7426 7655 0,'18'0'47,"-1"0"-32,1 0 1,17 0 0,53 0-1,53 0 1,-88 0-16,159 0 16,35-17-1,0-19 1,-124 19-1,19-19 17,-90 36-32,37-35 15,-36 18 1,-18-19 0,-18 19 15,1-1-16,0 0 1,35-17 0,-53 17-16,17 1 15,-17-1 1,36-17 0,-36-18-1,-18-35 1,-17-36-1,-18 36 1,0 0 0,-71-36 15,54 71-15,-36 1-1,35 16 1,-70 1-1,18 17 1,52 18 0,-17 0-1,-18 0 1,71 18-16,0-18 16,-18 18-1,-88 17 16,88-35-31,17 0 16,19 0 0,-1 0-1,-17 53 17,-18 0-17,-18 70 1,19-35-1,34-70-15,-35 53 16,0 34 0,35-69-1,-35 70 1,18-54 0,18 1-1,-19-17-15,36-1 16,-17-17-1,17-1 1,0 1 0,0 17-1,0-17-15,0 17 16,0-17-16,53 35 31,-18 0-15,35-1-1,19 19 1,-36-36-16,70 36 16,-17-18-1,35-18 1,-88-17-16,88-1 16,0-17-1,0 0 1,36-17-1,-36-1 17,-53 0-17,-70 1 1,-1-1 15,-17 0-31,18 18 16,17-17-1,106-107 1,18 19 0,-18-19-1,-53 36 1,-88 53 0,36-18-1,-36 0 1,0-18-1,-18-35 1,-17 18 0,17 35-1,-88-35 1,18 0 0,-36 35-1,-52-18 16,70 18-15,-88 1 0,106 34-1,-53 0 1,35 18 0,18 0-1,35 0 1,-71 0-1,54 0 1,-18 0 0,17 18-1,18-18 17,18 35-17,-53 0 1,53-17-1,-1 35 1,-52 18 0,17-18-1,54-1 1,-36 1 0,35 0-1,-17-17 1,17-19-1,18 18 1,-17 1 0,-1 17-1,18-18 17,0 35-17,35 1 1,-17-36-16,17 54 15,18-37 1,0 19 0,71 35-1,-1-53 1,-35 0 0,53-18-1,-105-35 1,17 0-16,-36 0 15,18 0-15,36 0 16,-18 0 0,-18 0-1,53 0 1,-35-18 0,36 1-1,52-19 16,0 19-15,-35-19 0,-36 1-1,-52 18 1,35-19 0,0 1-1,141-71 1,0-53-1,-124 89 1,-17-1 15,-35 54-31,-18-1 16,0 0-16,17-17 16,-17 0-1,-17-18 1,17 18-16,-35-36 15,-1 1 1,-17-19 0,-35 19-1,0 34 1,-18-16 0,0 16-1,53 19 1,-35-19-1,18 36 1,-1-17 0,0-1-1,54 18 1,-18 0 0,-1 0 15,-17 18 0,36 17-31,-36 0 16,-35 71-1,-71-18 1,88-17 0,71-53-1,-17-18 1,-19 35-1,19-18 1,-1 19 0,-17 17-1,17-36 17,18 1-17,-17 35 1,-1-18-1,18 18 1,0-18 0,18 1-1,-18 16 1,17-16 0,1-1-1,-1 0 1,-17 1-1,18-1 1,-18-17-16,18-18 16,-18 35-1,17-35 1,-17 35 15,0-17-15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0:40.093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20126 8837 0,'18'0'109,"-1"0"-93,89 0 0,-71 0-16,18 0 15,0 0 1,53 0-1,-53 0 1,17 0 0,72 0-1,-19-35 1,-52 17 0,-18 18 15,-1 0-16,1 0 1,18-17 0,-18 17-1,-18 0 1,18 0 0,0 0-1,-18 0-15,18 0 16,0 0-1,-18 0 1,1 0 0,-1 0-1,18 0 1,-18 0 0,18 0-1,0 0 1,17 0-1,-17 0 1,-17 0 0,17 0-1,-36 0-15,19 0 16,16 0 0,19 0-1,-18 0 1,17 35-1,1-18 1,17 36 0,-35-35-1,0-18 17,35 18-17,-17-18 1,-18 0-1,35 0 1,18 0 0,-71 0-16,53 0 15,18 0 1,0 0 0,-18 0-1,-35 0 1,18 0-1,-1 0 1,-52-18-16,52 0 16,-34 1-1,-1-1 1,35-17 15,-17 0-15,0-18-1,-17 35-15,-1-17 16,0-1-16,18-17 16,18-17-1,-19-1 1,-16 36 0,-19 17-1,-17 1 1,0-1-1,0 1 1,0-1 0,0 0 93,-17 1-109,-19-19 16,-34 1-1,-1 0 1,18 35 0,18-35-1,-18 35 1,-17-18-1,-19 0 1,1 1 0,0 17-1,-18-18 1,18-17 0,0 17 15,17 0-16,-52-17 1,17 0 0,18 17-1,17 18 1,-17 0 0,35 0-1,36 0-15,-19 0 16,1 0-16,-18 0 15,0 0 1,0 0 0,0 0-1,-17 0 1,52 0 0,-17 18-1,0-18-15,-18 0 16,0 17-1,-18-17 1,1 36 0,17-36-1,0 0 1,-35 17 0,35-17-1,0 0 1,-18 0-1,18 18 1,0-18 0,0 0-1,-52 0 1,-1 0 0,70 0 15,1 0-16,-18 0 1,0 0 0,-17 35-1,-159 1 1,17-1 0,18-17-1,123-1 1,18-17-1,36 0 1,-1 0-16,-35 18 31,0-18-15,18 17 0,0-17-1,-1 18 1,19-18-16,-54 35 15,18 1 1,18-36 0,0 0-1,-18 17 1,35 1-16,-35 0 16,36 17-1,-1-18 1,0 54-1,1-18 1,-1 0 0,0 17-1,18-52-15,-17 35 16,17 18 15,0-19-15,0-34-1,0 17 1,0-17 0,0 0 31,17-1-1,1 1-14,0-18-17,-18 18 1,17-18 0,1 0-16,0 0 31,-1 0-16,1 0-15,0 0 32,-1 17 15,1-17-32,-18 18-15,17-18 16,1 17-1,0-17 64,-1 0-64,1 0 1,0 0 140,-1 0-140</inkml:trace>
  <inkml:trace contextRef="#ctx0" brushRef="#br0" timeOffset="2016.29">19473 9648 0,'18'0'218,"-18"-17"-218,18 17 16,-1 0 0,1 0-1,0-18 1,-1 18 15,1 0-31,-1 0 31,1 0-15,0 0 15,-1 0-15,1 0-1,17 0 1,-17 0 0,17 0-16,0 0 15,1 0 1,17 0 0,-36 0-1,1 0 110</inkml:trace>
  <inkml:trace contextRef="#ctx0" brushRef="#br0" timeOffset="3072.75">19950 9331 0,'0'35'125,"17"1"-110,18-36-15,1 35 16,-1 0 0,18 18-1,-18-35-15,-17 35 16,0-53 0,-1 0-1,-17 17 1,18 1-1,-18-1 32,0 1-31,0 0 0,-18-1-1,18 1-15,-35 0 16,0 17 15,35-17-31,-36-18 16,19 0 15,-1 0 16,0 0-16</inkml:trace>
  <inkml:trace contextRef="#ctx0" brushRef="#br0" timeOffset="5914.31">20779 9842 0,'17'0'203,"71"0"-188,-35 0 17,0 0-17,18 18 1,-54-18 0,19 18-1,-1-18 1,0 0-1,1 0 1,-1 0-16,0 0 16,18 0-1,-18 0 1,-17 0 0,0 0-1,-1 0 1,36 0 15,-18 0-15,1 0-1,17 0 1,-36 0 0,36 0-1,-18 0 1,-17 0-1,17 0 1,18 0 0,0 0-1,0 0 1,0 0 0,0 0-1,-18 0 1,18 0 15,-35 0-15,35 0-1,-18-18 1,0 18 0,-17 0-16,17-18 15,18 18 1,0 0-1,18 0 1,-19-17 0,19-1-1,-36 18-15,18 0 16,-17 0 0,16-17-1,-16 17 16,-1 0 1,-17 0-17,-1 0-15,19-18 16,-19 18 0,18 0-1,1 0 1,34 0-1,-17 0 1,35-18 0,-35 18-1,-35 0 1,17 0 0,-17 0-1,35 0 1,0 0 15,17 0-15,-52 0 46</inkml:trace>
  <inkml:trace contextRef="#ctx0" brushRef="#br0" timeOffset="11084.94">21290 10830 0,'18'0'125,"-1"0"-109,1 0-16,0 0 16,17-17-16,-17-1 15,52 18 1,18-18-1,36 18 1,-54 0 0,1-17 15,-1 17-15,1 0-1,-18 0 1,0 17-1,-35 1-15,52-18 16,1 18 0,-18-18-1,-1 0 1,19 0 0,-18 0-1,0 0 1,-18 0-1,18 0 17,0 17-17,0-17 1,17 0 0,-34 18-16,-1 0 15,18-1 1,0 1-1,17-18 1,-17 0 0,0 17-1,18-17 1,-18 0 0,-18 0-1,18 0 1,0 0-1,0 0 17,0 0-17,17 0 1,-35 0 0,18 0-1,0 0 1,0 0-1,0 0 1,0 0 0,35 0-1,-52 0 1,16 0 15,19 0-15,-18 0-1,0 0 1,0 0 15,0 0-15,105 36 0,-140-36-1,35 0-15,18 17 16,-1-17-1,-17 0 1,0 18 0,0 0-1,-18-1-15,89 19 16,-72-19 0,1 1-1,-17-18 1,-19 0-1,1 0 17,0 0-32,17 0 31,18 0-15,0 0-1,70 0 1,-17 0-1,0 0 1,-53 0 0,0 0-1,0 0 1,0 0 0,-36 0-16,54-18 15,-1-17 1,-17 17-1,18 1 1,-18-1 15,0 0-15,35 18 0,-35-17-1,0 17 1,0 0-1,-1-18 1,1 18 0,-17 0-16,-19 0 15,1-18-15,17 18 16,36 0 0,-18 0-1,0 0 1,-1 0-1,1 0 1,-17 0 0,34 0-1,-17 0 1,53 0 0,0-17-1,0-1 1,-36 18-1,-17-17 1,0-1 0,18 0-1,-1 1 1,1 17 0,-18-18-1,17 18 1,-17 0-1,35 0 17,-35 0-17,0 0 1,35 0 0,-17 0-1,-36-18 1,0 18-16,18 0 15,0 0 1,0 0 0,0 0-1,-35 0 1,17 0 15,-17 0-31,17 0 16,0 0-16,-17 0 15</inkml:trace>
  <inkml:trace contextRef="#ctx0" brushRef="#br0" timeOffset="12730.23">22842 11307 0,'36'35'78,"-1"0"-78,0-17 16,177 123-1,-142-88 1,54 0-1,-36 17 1,-17-17 0,-36-35-1,0-1 1,18 19 0,-35-19-1,-1 1 1</inkml:trace>
  <inkml:trace contextRef="#ctx0" brushRef="#br0" timeOffset="13670.84">23724 11342 0,'-35'17'94,"0"19"-78,17-19-16,-35 19 0,-17-1 15,-54 18 1,-35 17 0,36 1-1,52-18 1,18-18-1,1 18 1,-19-18 0,71-17-1,-18 0 17,1-18-17,-1 17 16,0 1-15,1-18 0,17 18-1</inkml:trace>
  <inkml:trace contextRef="#ctx0" brushRef="#br0" timeOffset="16779.43">21572 12330 0</inkml:trace>
  <inkml:trace contextRef="#ctx0" brushRef="#br0" timeOffset="17931.38">19985 12347 0,'0'18'32,"0"-1"-17,0 1-15,0 0 16,17 17-1,1-17 1,0-1 0,-1 19-1,1-36 1,0 17 0,70 1 15,18-36-16,-18-35 1,35-17 0,-17-18-1,-18 17 1,-17 18 0,-53 35-16,-18 1 15</inkml:trace>
  <inkml:trace contextRef="#ctx0" brushRef="#br0" timeOffset="19112.88">19879 12965 0,'18'35'140,"-1"-18"-124,19-17 0,-19 18-16,18-18 15,142-35 1,193-89 0,1 71-1,-19-35 1,-87 35-1,-194 18 1,-54 35 0,-17-18-1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9-29T02:51:42.33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4322 6385 0,'17'0'110,"1"-17"-110,-1-1 31,1 18-15,0 0-1,17 0 1,-17 0-1,17 0 1,71 0 0,70 18-1,-70-1 1,17 1 0,-87-18-16,34 0 31,-17 0-16,18 0 1,-1 0 0,-17 0-16,35 0 15,1 0 1,16 0 0,1 0-1,-70 0 1,16 0-1,1 0 1,0 0-16,-17 0 16,52 0-1,-18 0 1,-34 0 0,17 0-1,17 0 1,71 0 15,-35 0-15,35-18-1,-88 18 1,-35 0 0,-1 0-1,36 0 1,-35 0-1,17 0 1,18-17 0,-18 17-1,1 0 1,17 0 0,-18 0-1,35 0 1,-34 0-1,158 0 17,-53-18-17,-35 0 1,52 18 0,-105 0-1,0 0 1,-18 0-1,1 0 1,17 0 0,-18 0-1,36 0 1,17 0 0,-35 0-1,0 0 1,-18 0-1,0 0 17,-17 0-17,-1 0 1,19 0 0,-19 0-1,1 0 1,0 0-1,-1 0 1,1 0-16,-1 0 31,1 0-31,0 0 16,17 0 0,-17 0 15,-1 0-16,1 0 1,0 18-16,-1-18 16,1 0-1,17 0 17,-17 0-17,-1 0 1</inkml:trace>
  <inkml:trace contextRef="#ctx0" brushRef="#br0" timeOffset="4684.64">4357 7320 0,'17'0'63,"-17"-18"-48,18 18 1,0 0-16,-1 0 16,1 0-1,35 0-15,88 0 16,-18 0-1,72 0 1,-107 0 0,18-35 15,-18 35-15,-18-17-1,-34 17-15,34 0 16,18 0-1,-17 0 1,35-18 0,-53 18-1,-18 0 1,0 0 0,18-18-1,0 18 1,0-17-1,-18 17 1,53 0 0,-52 0 15,105 0-15,-53 0-1,-17 0 1,17 0-1,-18 0 1,-34 0 0,16 0-1,-34 0 1,0 0 0,-1 0-16,1 0 31,0 0-31,17 0 31,0 0-15,1 0-1,-1 17 17,-18-17-32,19 0 15,-1 0 1,18 18-1,53 0 1,-36-18 0,-34 0-1,16 0 1,-34 0 0,17 17-1,1-17 1,-1 0-1,0 0 1,-17 0 0,0 0-1,-1 0 1,18 18 15,-17-18-15,17 0-1,18 0 1,-17 0 0,-1 17-1,35-17 1,54 18 0,-89-18-1,18 0 1,0 0-1,0 0 17,-35 0-17,17 0 1,0 0 0,-17 0-1,-1 0 16,-17 18-15,18-18 406,17 0-422,18 17 16,-18 1-16,18-18 15,0 18-15,35-18 16,-52 17-16,-1-17 15,0 0 1,71 0 0,-53 0-1,35 0 1,18 0 0,-71 0-1,18 0 1,0 0-1,-35 0 1,35 0 0,-18 0 15,0 0-31,71 18 31,0-18-15,-71 0-1,18 0 1,0 18 0,35-1-1,0-17 1,-35 0-16,18 0 16,0 0-1,-1 0 1,-17 0-1,-18 0 1,-17 0 0,35 0-1,0 0 1,0 0 15,0 0-15,17 0-1,-17 0 1,-18 0 0,18 0-1,-17 0 1,-19 0-16,1 0 16,35 0-1,0 0 1,-18-17-1,35-1 1,-34 18 0,52 0 15,-35 0-15,0 0-1,-36 0-15,36-18 16,18 18-1,-36 0 1,18 0 0,18-17-1,-36 17 1,18-18 0,-36 18-1,36 0 1,71 0-1,-36-18 1,0 1 0,-35 17 15,18-18-15,-36 18-1,-17 0 16,-1 0-31,19 0 16,-1 0 0,18-18-1,-18 18 1,0 0 15,1-17-15,-19 17-16,18 0 15,-17 0 1,17 0 0,-17 0-1,17 0 17,-17 0-32,0 0 31</inkml:trace>
  <inkml:trace contextRef="#ctx0" brushRef="#br0" timeOffset="11412.38">4357 8202 0,'17'0'110,"1"0"-95,0 0 16,-1 0-15,19 0 0,-19 0-1,89 0 1,0 0 0,17 0-1,-52 0 1,-36 0-16,1 0 15,-1 0 1,-18 0 0,36 0-1,0 0 17,-35 0-32,52 0 15,19 0 16,-1 0-15,0 0 0,36 0-1,-54-18 1,1 1 0,-54 17-16,1 0 15,52 0 1,-34 0-1,17 0 1,-18 0 0,-17 0-1,17 0 1,18 0 0,0 0-16,-18 0 0,88 0 15,-34 0 16,-54 0-15,18 0 0,-18 0-1,0 0 1,18 0 0,-17 0-1,-19 0 1,54 0-1,-36 0 1,53 0 0,-17 0 15,-36 0-31,71 0 31,-71 0-15,18 0-1,0 0 1,0 0 0,-35 0-16,34 0 15,-16 0 1,-1 0 0,53 0-1,-70 0 1,35 0-16,-18 0 15,18 0 1,-35 0 0,-1 0-16,36 0 15,-18 0 17,-17 0-32,17 0 15,1 0 1,-19 0-16,1 0 0,0 0 15,34 0 17,1 0-17,0 0 1,-35 0 0,17 0-1,18 0 1,-18 0-1,-17 0 1,0 0 0,17 0-1,-17 0 1,17 0 15,0 17-15,0 1 15,-17-18-31,35 0 31,-18 0-15,1 0 0,-19 0-16,1 0 15,17 0 1,-17 0-1,-1 0 1,19 0 15,-19 0 516,19 0-531,-19 0-16,54 0 15,17 0-15,-17 0 16,87 35 0,-52-35-1,35 0 1,0 36 0,-88-36-1,-17 0 1,-1 0-1,-18 0 1,1 0 15,0 0 79</inkml:trace>
  <inkml:trace contextRef="#ctx0" brushRef="#br0" timeOffset="13889.25">13247 8167 0,'17'0'63,"36"0"-32,-17 0-31,17 0 0,17 0 15,124 0 1,-70 17 0,-89 1-1,18-18-15,88 18 16,-53-1 0,-17-17 15,-54 0-31,89 0 15,-35 0 1,87 0 0,-69 0-1,-19 0 1,-52 0-16,17 0 16,71 0-1,-18 0 1,71-35-1,-106 35 1,35-18-16,0 18 16,-35 0 15,-18 0-31,-17 0 16,35 0-1,-35 0 16,17 0-15,18 0 0,-18 0-1,0 0 1,-17 0 0,17 0-1,18 0 1,-18 0-1,18 0 1,-17 0 0,-19 0-1,19 0-15,-19 0 32,1 0-17,17 0 1,-17 0 15,-1 0-31,1 0 31,0 0-15,-1 0 0,1 0 15,0 0-31,-1 0 15,1 0 1,17 0 0,-17 0-1,-1 0 17,1 0-17</inkml:trace>
  <inkml:trace contextRef="#ctx0" brushRef="#br0" timeOffset="56568.56">15469 2540 0,'0'18'78,"0"-1"-62,0 1 15,0 0-31,0-1 0,0 54 32,36-1-17,-1-17-15,0 35 16,18 18-1,0-53 1,-35-18-16,35 54 16,-36-54-1,1-17 1,-18-1 0,17 18-16,1-17 31,-18 0-16</inkml:trace>
  <inkml:trace contextRef="#ctx0" brushRef="#br0" timeOffset="60724.98">5098 10142 0,'17'0'125,"1"0"-109,17 0 15,-17 0-15,-1 0-1,19 0 1,-19 0 0,1 0-16,0 0 15,35 0 1,17 0 0,1 0-16,-1 0 31,-17 0-31,-18 0 0,54 0 15,-72 0 1,36 0-16,18 0 16,-36 0-1,36 0 17,-36 0-17,53 18 1,88 0-1,-140-18-15,70 0 16,-18 0 0,-18 17-1,1-17 1,-54 0-16,54 0 31,-36 0-31,-17 0 16,53 0-16,52 0 15,36 0 1,70 0 0,-123 0 15,-36 18-31,-34-18 31,17 0-15,-36 0-1,19 0-15,16 0 16,1 0 0,0 0-1,-17-18 1,34 18 0,-17 0-1,-35 0 1,-1-17-16,19 17 15,34-18 1,-17 18 0,18-18-1,-36 18 17,18 0-17,17 0 1,-34 0-1,17-17 1,17-1 0,18 18-1,-17-18 1,52-17 0,-52 35-1,17-17 1,-17 17-1,-54 0 1,19 0 0,-19 0-1,18 0-15,-17 0 16,35 0 0,-35 0-1,17 0 1,53 0-1,-17 0 1,-1 0 0,-17 0-1,0 0 1,-18 0 0,-17 0-1,0 0 1,-1 0-1,1 0 1,17 0 15,-17 0-15,-1 0-16,1 0 16,17-18-1,1 0 16,-19 18-15,1 0 0,0 0-16,-1 0 15,1 0 1</inkml:trace>
  <inkml:trace contextRef="#ctx0" brushRef="#br0" timeOffset="86727.83">6191 13088 0,'18'0'78,"0"0"-47,-1 0-15,1 0-1,-1 0 16,1 0-15,0 0 15,-1 0-15,19 0 0,-19 0-16,19 0 31,-1 0-16,-18 0-15,1 18 16,17-18 0,1 0-16,17 17 31,-36-17-31,18 0 16,1 18-1,17-18-15,-36 0 31,36 18-15,-17-18 0,-19 0-16,1 0 15,17 0 1,0 0 15,-17 0-15,0 0 31</inkml:trace>
  <inkml:trace contextRef="#ctx0" brushRef="#br0" timeOffset="102203.72">7567 14587 0,'18'0'47,"-1"0"-31,1 0-1,17 0 1,-17 0-16,70 36 16,177 17-1,-89-18 16,124 18-15,-71-36 0,1 19-1,-142-19-15,70-17 16,1 0 0,-35 0-1,87 0 1,-105 0-1,18 0 1,-36 0 15,-35 0-31,35 0 16,-17 0 0,-36 0-16,35 0 15,19 0 1,-1-17-1,18-1 1,-18 18 0,35-18-1,-35 18 1,1-17 0,-19-1-1,18 18 1,-17-18-1,-36 1 1,18 17-16,71 0 16,-19 0-1,-16-18 1,52 1 15,-53-1-15,35 0-1,-52 18 1,-36 0 0,71 0-1,-71 0 1,-17-17 0,17 17-1,18 0 1,0-18-1,0 18 1,18 0 15,-36 0-15,35 0 0,-34 0-1,-19 0 1,1 0-16,17 0 15,1 0 1,-19 0 0,1 0-1,-1 0 1,1 0 31</inkml:trace>
  <inkml:trace contextRef="#ctx0" brushRef="#br0" timeOffset="108297.84">20779 9243 0,'17'0'63,"1"0"-47,0 0-1,17 0 1,0 0-16,-17 0 15,52 0-15,1 0 16,52 0 0,212 17-1,-141-17 1,0 0 0,-123 18-1,-18-18 1,35 0-16,53 0 15,-35 0 1,-53 0-16,0 0 0,88 0 31,-35 0-15,-53 0 0,17 0-1,1 0 1,-18 0-1,-18 0 1,-17 0 0,35 0-1,-18-18 1,-17 18 0,-1 0-1,1 0 1,-1 0-16,1 0 31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1:11.735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11218 8502 0,'-17'0'187,"-19"-35"-187,-52-1 16,-123-34-1,158 35 1,0 35 0,17-36-16,-69-34 15,34 17 1,18 35-1,-70-35 1,-54 36 0,-70 17-1,106 0 1,-35 0 0,52 17-1,-34 36 1,16 18-1,1-18 1,71-18-16,-36 0 16,35 0-1,-105 54 1,0-19 0,105 1-1,-17-18 1,35 17-1,-18 1 1,36-18-16,-35 17 16,17 1-1,-18 17 1,18-35 0,0 17-1,18 1 1,35 0-1,0 17 1,18 35 0,52-17 15,1 35-15,-18-70-1,17-1 1,1-17-1,-54-17-15,36 16 16,18 1 0,70 18-1,-18-18 1,-52-18 0,0 0-1,-1-35-15,18 0 16,36 0-16,193-35 15,18 17 1,-88-17 0,0-18-1,-88 36 17,-71 17-32,0 0 15,18-18-15,124-35 16,-36-35-1,-53 53 1,18-18 0,-71 17-1,-18 19 1,-17-1-16,0-35 16,18 0-1,17-17 1,-18-1-1,19 18 1,-19-17 0,36-54-1,-53 36 17,17 0-17,-34 0 1,-1 35-1,-35 0 1,0 18 0,0-18-1,-35-18 1,-18 1 0,-18 17-1,18-18 1,-17 36-1,-1-36 1,1 1 0,34 52-1,-17-35-15,-17 18 32,-1 17-17,18 18 1,-35 0-1,35 0-15,0 0 16,1 0-16,-107-17 16,18 17-1,35 17 1,18-17 0,17 18-1,-35-1 1,36 19-16,-19-19 15,19 19 1,-1-19 0,18 19 15,1-36-15,-19 17-1,0 18 1,54-35-1,-1 0 1,1 0 187</inkml:trace>
  <inkml:trace contextRef="#ctx0" brushRef="#br0" timeOffset="2841.81">9878 17110 0,'17'70'94,"1"18"-78,35 124-1,-53-177 1,18 1-16,-1-36 16,-17 17-1,18-17 63,17-17 1,0-19-64,177-211 1,-71 89-1,212-230 1,35 17 0,141-52-1,-317 282 1,-159 88 0,0 0-1,-53 35 1</inkml:trace>
  <inkml:trace contextRef="#ctx0" brushRef="#br0" timeOffset="6619.09">8908 3598 0,'70'0'219,"1"0"-203,140 71-1,-158-71-15,-35 18 16,35-18 0,-18 17-1,0-17-15,18 18 16,0-18-1,18 17 1,-18 1 0,0-18-1,-18 0-15,-17 0 16,17 0 0,0 0 15,0 0-16,18 18 1,18-1 0,-36 1-1,-17-18-15,35 0 16,-18 0 0,-17 18-1,35-18 1,-36 0-1,1 0 1,35 0 0</inkml:trace>
  <inkml:trace contextRef="#ctx0" brushRef="#br0" timeOffset="10136.9">8996 4710 0,'17'0'156,"1"0"-140,53 0 0,123 0-1,-124 0-15,18 0 16,-52 0-16,34 0 16,1 0-1,-36 17 1,18 1 15,0-18-15,0 0-1,-18 0-15,0 0 16,-35 17-16,53-17 16,0 18-1,-17-18 1,34 0-1,18 18 1,-52-1-16,-19 1 16,18-18-16,18 18 15,0-1 1,0-17 0,0 18-1,0-18 16,18 0-15,-54 18-16,54-18 16,-18 17-1,0-17 1,-18 0 0,18 0-1,17 0 1,19 0-1,-37-17 1,1 17 0,0 0-1,18-18 1,-36 0 0,0 18-1,18-17 16,0-1-15,-17 18 0,-1 0 15,-18-18-15,1 18-1,0 0 1,-1 0-1</inkml:trace>
  <inkml:trace contextRef="#ctx0" brushRef="#br0" timeOffset="11886.84">9454 6932 0,'124'0'125,"17"0"-109,371 0-1,-407 0 1,-34 0 0,35 0-1,-18 18 1,-35-1 0,0 1-1,0-18 1</inkml:trace>
  <inkml:trace contextRef="#ctx0" brushRef="#br0" timeOffset="13769.94">9790 9913 0,'0'-18'125,"70"-17"-110,18 17-15,-17 1 16,141-1 0,-107 1-1,-16 17 1,-19 0 0,1-18-1,-18 18 1,17 0-1,-52 0 1,-1 0 0,1 0-1</inkml:trace>
  <inkml:trace contextRef="#ctx0" brushRef="#br0" timeOffset="19975.66">9578 13970 0,'35'-18'110,"18"18"-95,53-17 1,-53-1-16,-18 18 16,18-18-1,-18 1 1,1 17 0,-1 0-16,-17 0 15,-1 0-15,18 0 16,-17 0-1,0 0 1,-1 0 0,19 0-1,-1 0 17,-17 0-17,17 0 1,0 0-1,-17 0-15,-1 0 16,1 0 0,0 0-1</inkml:trace>
  <inkml:trace contextRef="#ctx0" brushRef="#br0" timeOffset="21093.3">9031 14464 0,'18'0'94,"35"0"-78,0 0-16,17-18 15,89 18 1,-141 0 0,70 0-1,-35 0 1,-18 0-1,0 0-15,-17 0 16,17 0-16,36 0 16,-18 0-1,17 0 1,-17-17 15,0-1-15,18-17-1,-54 35-15,1 0 16,-1 0-16,-17-18 47,36 18-31,17-18-16,0 18 15,-18-17-15,0 17 16,-17 0-16,-18-18 15</inkml:trace>
  <inkml:trace contextRef="#ctx0" brushRef="#br0" timeOffset="22491.96">10319 15046 0,'53'18'125,"0"17"-109,-18-35-16,18 18 16,0-18-1,35 17 1,-35-17-1,-18 0 1,-17 0 0,17 0-1,36 0 1,-36 0 0</inkml:trace>
  <inkml:trace contextRef="#ctx0" brushRef="#br0" timeOffset="23189.45">9543 15910 0,'53'18'78,"-36"-18"-78,54 0 16,-18 18-16,0-18 15,17 17 1,71 18-1,18 1 1,-53-19 0,-36-17-1,-34 0 1</inkml:trace>
  <inkml:trace contextRef="#ctx0" brushRef="#br0" timeOffset="23860.64">9507 16439 0,'18'0'94,"70"0"-79,18 0-15,0 0 16,0 0-16,-53 0 15,52 0 1,-34 0 0,-18 0-1,-35 0 1,-18-17 46</inkml:trace>
  <inkml:trace contextRef="#ctx0" brushRef="#br0" timeOffset="27665.6">6421 15011 0,'17'17'63,"-17"36"-48,0-35-15,18 17 16,17 124 0,53 88-1,-17-88 1,-36-124 0,-17-17-1,-1-18 16,1 0-15,70-124 0,124 18-1,0-35 1,-36 18 0,-105 34-1,-1 37 1,-52 34-1,17-35 1,-17 18 0,17 17-1,0-17 1,0 35 0,-17-18-1,0 0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9-29T02:54:37.5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10936 4198 0,'0'-18'93,"18"1"-61,-1 17-17,1 0 1,0 0-16,-1 0 16,19-18-1,-19 18 1,18 0-1,71 0 1,71 0 0,-19 0-1,-16 0 1,-90 0 0,-34 0-16,0 0 15,-1 0 1,19 0-1,-19 0 32,1 0-47</inkml:trace>
  <inkml:trace contextRef="#ctx0" brushRef="#br0" timeOffset="2227.39">9737 4586 0,'17'0'94,"1"0"-63,0 0-15,-1 0 0,1 0-1,-1 0-15,1 0 16,0 0 0,35 0 15,-36 0-16,36 0 1,-35 0-16,35 0 31,0 0-15,-18 0 0,-17 0-16,35 0 31,-18 0-16,0 0 1,-17 0-16,17 0 16,0 0 15,-17 0-15,0 0-1,-1 0 1,1 0-1,-1 0 1,1 0 0</inkml:trace>
  <inkml:trace contextRef="#ctx0" brushRef="#br0" timeOffset="8343.29">12788 3933 0,'0'18'31,"0"0"0,0-1-15,0 1 0,18-18 15,-18 18-15,0-1-1,17 1 1,1-18-1,0 35 1,-1-17 0,1-1-1,35 19 1,-35-19 0,17 19-1,-18-19-15,36-17 16,0 18 15,-17 0-15,17-1-1,-1 1 1,1 0 0,-17 17-1,-1-35-15,-17 0 16,52 35-1,-17-17 1,0-18 0,0 17 15,-53 1-31,35-18 16,0 18-16,-17-18 15,35 17 16,0-17-15,-35 0 0,34 0-1,-16 0 1,17 0 0,-36 0-16,36 0 15,18-17 1,-18 17-1,0-18 1,-1 0 0,19-17-1,-53 35 1,-1-35 0,19-36-1,-19 18 1,-17 0 15,0 0-31,0-17 16,-17-18-1,-1 17 1,-17 1 0,-1 34-1,1 1 1,17 17-1,-17 1 1,0-1 0,0 1-1,-18-1 1,0 0 0,-71 1 15,36 17-31,18 0 15,17 0 17,-53 0-17,53 0 1,18 0-16,-36 0 16,-35 0-1,71 0-15,-71 17 16,36 1-1,-19 0 1,1-1 0,53-17-16,-18 35 15,18-17 1,17-18-16,-17 0 16,17 18-16,1-1 15,-1-17 16,0 0-15,1 18 15,-1 0-15,0-18 0</inkml:trace>
  <inkml:trace contextRef="#ctx0" brushRef="#br0" timeOffset="10497.74">12224 4163 0,'17'0'63,"1"0"-48,0 0 1,-1 0 31,1 0-32,0 0 17,-1 0-17,1 0 1,-1 17-16,1-17 15,0 18 1,-1-18 0,1 0-16,0 18 15,17-1 1,-17 1 0,-1-18-1,1 18 1,0-18-1,-18 17 1,35 19-16,-18-19 31,1 18-15,0 18 0,17-35-1,-17 17 1,-18-17-16,0 17 15,17 18 1,1-35 0,-18-1-1,0 19 1,0-19 0,0 19-1,0-19-15,0 18 16,0-17-1,0 17 1,-18-17-16,18 17 0,-17 18 31,-1 53-15,-17-35 0,-18 52-1,18-52 1,-1-1-1,1-52-15,-18 70 16,18-35 0,-36 18-1,-35 70 1,-35-18 0,35 1-1,54-72 1,-54 54-1,17-53-15,37 35 16,-37-35 15,19 0-15,17 0 0,-35 0-1,52-35 1,1-1-1,0-17 1,35 18 0,-35 0-1,-1-1 1,19-17 0,-19 0-1,1 0 16,17 0-15,1 0 15</inkml:trace>
  <inkml:trace contextRef="#ctx0" brushRef="#br0" timeOffset="12363.21">11483 6103 0,'0'18'109,"0"-1"-77,0 1-17,0 0 1,-18-18 15,1 17-31,17 1 16,-18 35-1,18-36 1,-18 19 0,1-36-16,17 17 15,-18 19 1,0-1 0,18 0-1,-17-35 1,-1 0-16,18 18 15,-17 17-15,17-17 32,-18-18-32,0 17 15,18 1 1,0 0 0,0-1-1,-17 1 16,17 0 63,17-18 47,19 0-110,-19 0 0,1 17-31,17 1 32,0-1-32,54 19 15,-89-19 1,35 1-1,-18-18 1,1 0 0,0 0-16,52 18 31,36 35-15,18 17-1,-71-52 1,-36-18-1,1 0 1,-1 0 0</inkml:trace>
  <inkml:trace contextRef="#ctx0" brushRef="#br0" timeOffset="35091.83">12506 3634 0,'0'-18'47,"0"0"-31,0 1 15,18 17-15,-1-18-1,1 0-15,52-17 16,54-35 0,17-1-1,-53 18 1,18-35 0,0 0-1,-36 35 1,1-18-1,-36 36 1,-17 17 0,-18 1-1,-18 52 32,1-35-47,-19 53 16,-52 0-16,-18 35 15,-246 124 1,158-89-16,105-88 16,72-35 15,-1 0-15,36 0 30,-18-17-30,17 17 0,1 0-1,-18-18-15,18 18 32,-1 0-17</inkml:trace>
  <inkml:trace contextRef="#ctx0" brushRef="#br0" timeOffset="37096.86">12629 2663 0,'0'18'110,"0"0"-79,0-1 16,0 1 0,18-18 15,-18 35-46,0-17-1,18-18 17,-18 35-1,0-17 16,0-1-32,0 1 1,0 0 46,0-1-46</inkml:trace>
  <inkml:trace contextRef="#ctx0" brushRef="#br0" timeOffset="42935.7">10178 9578 0,'17'0'94,"1"0"-94,0 0 15,-1 0 1,36 0-16,35 0 16,406 88-1,-247-53 1,-159-35-16,-52 0 16,69 18-1,-34 0 1,0-1-1,34-17 1,-87 0 0,0 0-1,17 0-15,-17 0 16,17 0 0,0 0-1,18 0 16,0 0-15,0 0 0,-35 0-1,17 18 1,-18-18 0,1 18-1</inkml:trace>
  <inkml:trace contextRef="#ctx0" brushRef="#br0" timeOffset="46141.48">11712 10001 0,'18'0'78,"-1"0"-46,1 36-32,0 16 0,35 54 31,-36-70-31,19 69 16,-1-16-1,-17 16 1,-18-34-1,17-53 1,-17-1-16,0 19 16,0-1 15,0-18-15,0 19-1,-53 17 16,18 17-15,-89 36 0,107-71-16,-1 1 15,-70-1 1,17 53 0,19-53-1,-1 36 1,0-36-1,17-17 1,-16 17 0,52-17-16,-36-1 15,1 19 1,0-19 0,-18 36 15,17-35-16,36-1-15,-17-17 16,-1 0 0,1 18-1,17 0 1,-18-18 46,18 17-30</inkml:trace>
  <inkml:trace contextRef="#ctx0" brushRef="#br0" timeOffset="50979.64">13441 10336 0,'17'0'78,"1"0"-78,0 0 15,17 0-15,0 0 16,1 18-16,122 0 16,36 35-1,106 35 1,-159-18 0,36 19-1,-142-72 1,18 36 15,-18-35-15,-17 17-1,-1 0 1,1-17 15,-18 0-15,0-1-1,0 1 1,0-1 0,0 19-1,0-19 1,0 1-16,0 35 16,-18 53-1,-17 70 16,0-88-15,17 1 0,1-54-1,-1-18 1,18 1 0,-18-18-16,18 18 15,-17-1 1,-1 19-1,0-1 17,1-35-17,17 18 1,-18-18 0,18 17-1,0 1-15,-17 17 16,-1-17 15,18-1-15,0 1 15,0 0-15,0-1-1</inkml:trace>
  <inkml:trace contextRef="#ctx0" brushRef="#br0" timeOffset="53374.33">9807 12647 0,'18'0'47,"-1"0"-31,1 0-1,0 0 1,-1 0 0,19 0-1,-19 0 1,1 0-1,17 0-15,36 0 16,-1 0 0,19 0-1,-19 0 1,18 0 15,0 0-15,-52 0-1,17 0 1,0 35 0,-36-35-1,19 0-15,-1 0 16,0 18 0,-17-18-16,70 0 15,-18 0 1,-17 18-1,36-18 1,-72 0 15,18 0-15,-17 17-16,0-17 16,-1 0-1,1 0 1,0 0-1</inkml:trace>
  <inkml:trace contextRef="#ctx0" brushRef="#br0" timeOffset="54972.17">14429 12894 0,'17'0'47,"1"0"-47,0 0 15,70 0 1,70 0 0,-34 0-1,88 0 1,-159 0 0,-1 0-1,19 0 1,-36 0-1,18 0 1,53 0 0,-35 0-1,-1 0 17,18 18-17,-35-18 1,35 17-1,-70-17 1,17 0 0,18 18-1,-35-18 1,35 0 0,-18 0-1,0 0 1,1 0-1,-19 0 1,19 0 0,-19 0-1,18 0 32</inkml:trace>
  <inkml:trace contextRef="#ctx0" brushRef="#br0" timeOffset="65961.02">10336 16845 0,'0'18'125,"0"-1"-109,18 1-16,0 17 15,-1 1-15,1-1 16,-18 0 0,18-17-1,-18-1 1,0 1 15,17-18-15,1 0-1,-1 0 1,1 0 0,17 0-1,1-18 1,-19 1-16,89-54 15,-18 18 1,18 0 0,-35 0-1,-36 36 1,-35-1 0,18 1-1,-1-1 1,1 18 15</inkml:trace>
  <inkml:trace contextRef="#ctx0" brushRef="#br0" timeOffset="75471.84">4815 5309 0,'0'-17'47,"18"17"-16,17 53 0,1-18-31,17 71 16,17 52-16,265 601 31,-211-318-15,-54-124-1,-52-193-15,17 70 16,0-71-1,-17 54 1,0-89 0,-1-18-1,-17-17 1,0-17 0,0-19-1,0 1-15,0 0 31,0-1 1</inkml:trace>
  <inkml:trace contextRef="#ctx0" brushRef="#br0" timeOffset="77196.61">5045 5397 0,'0'-17'31,"0"-1"-15,0 1 15,17 17-16,1 0 1,17 0 0,142 0-1,-54 0-15,283 17 16,123-17 0,0 35-1,-335-35 1,-123 18-1,35 35 1,52 0 15,54 53-15,-18 17 0,-71 1-1,-34-71 1,-19 52-1,18 37 1,1-19 0,-36-17-1,-36-53-15,18 53 16,-17-1 0,0-52-1,-18 71 1,-18-36-1,-17 36 1,-71 70 0,18-71 15,53-70-31,-54 35 16,36 0-1,-88 18 1,-229 159-1,141-124 1,52-53 0,124-70-16,-17 17 15,-18-35 1,-71 53 0,35-35-1,-17-1 1,-53 1-1,106-18 1,17 0 0,-17 0-1,18 0 17,-36 0-17,71 0 1,-1 0-1,19 0 1,-1 0 0,0 0-1,1-18 1,17 1 62,0-1-31</inkml:trace>
  <inkml:trace contextRef="#ctx0" brushRef="#br0" timeOffset="81138.92">33655 6332 0,'0'0'16,"0"18"46,18 53-62,35 140 16,35 54-1,-53 52 1,-35-193-16,0 123 16,0 17-1,0 89 16,0-229-15,0-19 0,0 1-1,0-35 1,0-18 0,0-18-16,0 0 15,0 1 1,0-19-1,0 18 1,0-17 15,0 0-15,0-1 46,0 1-30,-18-18 93,1 0-110</inkml:trace>
  <inkml:trace contextRef="#ctx0" brushRef="#br0" timeOffset="82470.92">27834 5944 0,'18'0'79,"-1"53"-79,19 18 15,34 52-15,89 248 16,35 87-1,35-17 1,-140-229-16,122 247 16,-70-142-1,-17-88 1,35 124 0,-54-141 15,-87-142-16,17-17 1,-17-35 0,-18 0-1,18-18 1,-1 0 0,-17-18 15,18 0-16,17-123 1,283-635 0,176-318-16,317-916 15,-158 634 1,-477 970 0,18 36-16,-176 246 15,-18 54 16,0 52-31,0 0 16,-18 18 15,0 0-15,1 0 31,-1 0 62</inkml:trace>
  <inkml:trace contextRef="#ctx0" brushRef="#br0" timeOffset="99165.54">22313 9472 0,'0'-18'62,"18"18"-31,-1 0-15,1 0-16,17 0 16,54 0-1,122 36 1,-87-1 0,-54-17-16,54-1 15,-18 1 1,17 0-1,-35-1 1,18 1 15,-71-18-31,-17 0 16,0 0 0</inkml:trace>
  <inkml:trace contextRef="#ctx0" brushRef="#br0" timeOffset="103208.32">22013 11747 0,'0'-17'62,"0"-1"-15,18 18-16,17 0-31,53 0 16,18 0 0,229 18-1,-193-18 1,-19 0 0,-70 0-16,0 17 15,-18-17 1,106 0-1,0 18 1,-17 0 0,-36-18-1,-53 0-15,-17 0 16,0 0 0,17 0-1,-18 0 32</inkml:trace>
  <inkml:trace contextRef="#ctx0" brushRef="#br0" timeOffset="105032.32">21572 13935 0,'18'0'47,"0"0"-32,-18-18 1,17 18 0,1 0-1,0 0 16,-1 0-31,195 0 16,17 0 0,-35 0 15,-106 18-31,124-1 16,-124 1-1,-17 0 1,-36-18-16,0 0 15,1 0 1,-19 0 0,1 0 15,0 0-15,17 0-1,-18 0 1,1 0-1,17 0 17,-17 0-17,0 0 1,-1 0 78</inkml:trace>
  <inkml:trace contextRef="#ctx0" brushRef="#br0" timeOffset="106301.15">21272 16281 0,'0'-18'31,"18"18"-15,53-35 0,87-18-1,-87 35-15,70-17 16,0 35 0,18 0-1,53 18 1,-89-18-16,71 17 15,-88 1 1,0-18 0,53 17-1,-1 1 1,-87-18 0,-1 0-1,19 0 16,-19 0-15,-52 0-16,17 0 16,0 0-1,1 0 17,-19 0-17,1 0 32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1:5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5239 6138 0,'17'0'140,"36"18"-124,-17 0-16,-1-1 16,18-17-16,0 18 15,17-18 1,-17 0-1,0 0 1,0 0 0,18 0-1,-19 0 1,-16 0 0,-19 0-1,36 0 16,-17 0-15,-19 0-16,54 0 16,-36 0-1,-17 0 1,17 0 0,-17 0-16,17 0 31,0 0-16,-17 0-15,17 0 16,-17-18 0,35 1-1,-36 17 1,19-36 0,16 19 15,-16-1-31,-19 0 15,1 18 1</inkml:trace>
  <inkml:trace contextRef="#ctx0" brushRef="#br0" timeOffset="13635.13">3334 6950 0,'17'0'218,"1"0"-202,17 0-16,-17 0 16,17 0-16,0 0 15,18 0 1,-17 0-1,17 0 1,-18-18 0,35 18-1,-34 0 1,-19 0-16,1 0 16,17 0-1,1 0 1,-19 0-16,1 18 15,17-18-15,18 17 16,0 1 15,0-18-15,35 0 0,-35 18-1,-18-18-15,-17 0 16,0 0-16,34 17 15,1 1 1,0-18 0,-35 0-16,17 0 15,18 0 1,35 0 0,-35 0-1,18 0 1,-1 0-1,-17 0 1,-17 0 0,-1 18 15,35-18-15,1 0-1,-1 0 1,-17 0-1,0 0 1,18 0 0,-1 0-1,-17 0 1,36-36 0,-19 19-1,-17 17 1,53-18-1,-36 0 1,19 1 0,-37 17-1,-34 0 1,53 0 0,-18-18-1,0 18 1,17 0-1,18 0 1,-70 0-16,88 0 16,-36 0-1,-17 0 1,18 0 0,17 0-1,-17 0 1,-1 0-1,-17 0-15,0 0 16,0 0 0,0 0-1,-18 0 17,0 0-17,18 0 1,35 0-1,-17 0 1,-18 0 0,35 0-1,-35 0 1,-18 0 0,-17 0 15,0 0-16,34 0 1,1 0 0,-17 0-1,-1 0 1,-17 0 15,-1 0-15,1 0-1,35 0 1,-36 0 31,1 0-16</inkml:trace>
  <inkml:trace contextRef="#ctx0" brushRef="#br0" timeOffset="17251.34">5821 6368 0</inkml:trace>
  <inkml:trace contextRef="#ctx0" brushRef="#br0" timeOffset="22439.77">4621 11130 0,'18'-18'140,"53"1"-140,-1-18 16,1 17-16,52 0 15,1-17-15,123 0 32,-36 17-17,36 0 1,-70 18 0,52 0-1,-123 0 1,-53 0-1,35 18 1,-35-18 0,17 18-1,1-1 1,-54-17-16,36 0 16,0 0-1,-35 0 16,0 0-15,52 0 0,-52 0-16,17 0 15,-17 0-15,52 0 16,-17 0 0,-18 0-1,1 0 1,-1 0-1,0 0 1,1-17 0,34 17-1,-17-18 1,-35 18-16,-1 0 16,19 0 15,-1 0-16</inkml:trace>
  <inkml:trace contextRef="#ctx0" brushRef="#br0" timeOffset="24939.86">18556 6244 0,'18'0'156,"-1"0"-141,19 35 1,69 18 0,1-53-1,0 18 1,71 35 0,-36-35-1,35 17 1,0 0-1,-70 18 17,-18-18-17,-35-17 1,18-18 0,-18 0-1,0 18 1,53-18-1,-18-18 1,18 0 0,-89 18-16,19-17 15,-1 17-15,18 0 16,0-18 0,0 18-1,17-18 1,-52 18-1,-1 0 1</inkml:trace>
  <inkml:trace contextRef="#ctx0" brushRef="#br0" timeOffset="25997.81">17498 7250 0,'17'0'109,"19"-18"-109,17 18 16,17 0-16,18-18 15,159 18 1,-17 0 0,140 18-1,-194-18 1,-17 0-1,0 0 1,-53 18 0,0-18 15,-54 0-15,-34 0-16</inkml:trace>
  <inkml:trace contextRef="#ctx0" brushRef="#br0" timeOffset="30523.54">17480 7973 0,'35'0'125,"36"17"-109,-18 1-16,-18-18 16,18 0-1,-18 0 1,1 0-1,34 0 1,-35 0 0,-17 0-1,17 0 48,-17 0-48,17-18-15,1 18 16,-19 0-16,54-17 16,-18-1 15,17 18-15,54 0-1,52 0 1,-17 0-1,-53 0 1,-71 0 0,-17 0-1,-1 0 48,54 0-48,-36 0 1,-17 0-16,35 0 16,17 0 15,18 0-15,-17 0-1,-36 0 1,18 0-1,0 0 1,18 0 0,-54 0-1,54-18 1,-18 18 0,0-17-1,0-1 1,-18 18-1,-18-17 1,1 17 0,35 0 15,18-18-15,-36 18-1,0 0 1,-17 0-16,17-18 15,18 18 1,-18 0 0,1 0-1</inkml:trace>
  <inkml:trace contextRef="#ctx0" brushRef="#br0" timeOffset="35145.98">4710 15187 0,'0'-18'109,"35"18"-93,18-17-16,0 17 15,229 0 1,-70 35-1,-1-35 1,1 35 0,52 18-1,-17 0 1,-123-35 0,88 17-1,-18-17 1,-71-18-1,-17 0 1,-53 0 0,-36 0-16,54 0 15,-18 0 1,0 0 0,0 0-1,17-18 1,-17 0-1,71-17 1,-89 18-16,53-1 31,-35 0-15,-18 18-16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3:16.707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7391 4657 0,'0'17'31,"0"1"78,88-18-77,-70 0-32,34 0 0,19 18 15,194 70 1,-213-71 0,-16 1-16,17 17 31,-18-35-31,18 0 31,-18 0-31,0 0 16,-17 0-16,17 0 15,-17 0-15,53 0 16,-36 0 0,0 0-1,0 0 1,1 0-16,-1 0 15,-17 0-15,70-17 16,-35 17 0,0-18-1,88 18-15,-71-18 32,18 1-17,36-1 1,-54 0-1,19 18-15,52-35 16,-53 18-16,71-1 16,-36-17-1,1-1 1,17 19 0,18-19-1,-18 19 1,-88 17-1,35 0 1,-35 0-16,35 0 16,35 0-1,-34 0 1,-37 17 0,19-17-1,-53 0 1,17 18-16,0 0 15,0-1 1,1-17-16,87 0 16,36 36-1,-18-36 1,-70 17 0,17 19-1,-53-19-15,53 36 16,-35-35-1,35-1 1,-70-17 0,17 18-16,1-18 15,-19 0-15,71 0 16,54 0 15,-54 0-15,-35 0-1,0 0 1,-18 0-16,0 0 16,-17 0-16,17 0 15,18 0 1,0 0 0,-18 0-16,36-18 15,17 1 1,0-19-1,-17 19 1,35-1 0,-71 1-1,18 17 1,0-18-16,0 18 16,17 0-1,-17 0 1,0-18 15,0 1-15,35-19-1,53 1 1,0-35 0,-105 34-16,16 36 15,19-17 1,0-1-1,-1 18 1,-17 0 0,-18 0-16,18 0 15,-17 0 1,-1 0-16,0 18 16,0-18-1,-17 0-15,17 17 16,1-17-16,16 18 15,-16 0 1,17-18 0,17 17-1,-70 1 79,18-18-78,-18-18 31</inkml:trace>
  <inkml:trace contextRef="#ctx0" brushRef="#br0" timeOffset="5564.11">3898 5856 0,'35'0'125,"71"0"-125,71 0 15,34-18-15,1 18 16,-36-35-16,71 0 15,-70 35 17,-124 0-17,0 0-15,-18-18 16,18 18-16,17-17 16,-17 17-1,18 0 1,-54 0-16,89-18 15,53 0 1,-18-17 0,-70-18-1,-1 18 1,-17 0 0,18-36-1,-1 18 1,18-17-1,-70 34 1,53 19 0,-18-19-1,-53 19-15,17 17 32,1-18-17,52-52 1,-17 17-1,-17 17-15,-1 1 16,0 17-16,-17-17 16,17-53-1,-17 70 1,-18 1 0,0-1-1,0 0-15,17 1 31,-17-1-15,0-17-16,-17 35 16,-1-35-16,0-1 15,-17 1 1,-18 0 0,-17-18-1,34 18-15,19 17 16,-36 0-1,-18-17 1,54 35-16,-36 0 16,-35-18-1,-18 1 1,70 17 0,1 0-16,-18-18 31,18 18-31,-18 0 15,35 0 1,-70 0 0,53 0-1,-18 0 1,18 0 0,-1 0-1,-34 18 1,17-1-1,35-17-15,1 0 16,-19 18-16,-16 17 16,-19 1-1,18-1 1,0 0 0,-17-17-1,-1 35 1,-17-18-1,0-17 17,17-1-17,18-17 1,-17 0 0,34 0-1,19 0-15,-54 0 16,36 0-1,-18 0 1,18-17-16,-1-1 16,-17-17-1,1 17 1,-19 0 0,36 1-1,-1-1 1,36 0-16,-35 18 15,0-35 1,17 18 15,1 17-31,-19-18 16,36 0 15,-17 18-15,-1 0-16,0 0 15,-35 0 1,36 0-16,-18 0 16,-1 0-16,-17 0 15,0 36 1,-17-19 0,17 18-1,-18 18 1,-17 0 15,53-17-31,17-1 16,-52 18-1,17 17 1,-18 1 0,1-18-1,34 17 1,19-52-16,-1 17 15,1 1 1,-1-19 0,18 18-1,0-17 17,0 0-32,0-1 0,18 1 15,17 0 1,35 17 15,-17 35-15,71 1-1,52 0 1,-52-18 0,-71-36-1,-36-17 1,1 0-16,-1 18 15,1-18 1,17 0 0,-17 0-16,0 0 15,-1 0 1,1 17-16,0-17 31,-1 0-31,1 18 16,-1-18 31,36 0-32,-35 18 1,17-18-16,1 17 16,-19 1-16,36 0 15,-18-1 1,18 1-1,0 17 1,-35-35 15,-18 18-15,18-1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4:03.796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31150 4639 0,'0'35'78,"0"18"-62,0 35-16,0-52 15,0 17 1,0 35-16,0-18 16,-17-34-16,17 17 15,-18-1 1,18 19-1,0 17 1,0-17 0,0-36-1,0 18 1,0 18 0,0-19-1,-18 19 16,18-36-31,-17 18 16,17 0 0,0-18-1,0 18 17,-18 0-17,18-35 1,0 52-1,0-52 1,0 0 0</inkml:trace>
  <inkml:trace contextRef="#ctx0" brushRef="#br0" timeOffset="1245.5">30709 5944 0,'18'18'141,"17"35"-141,0-18 16,-17 18-16,53 53 15,35 88 1,-36-106-1,-52-70 1,-1-18 31,1-36-31,53-105-1,17 0 1,-18-18-1,-34 54 1,-1 34 0,-35 53-16,17-17 15</inkml:trace>
  <inkml:trace contextRef="#ctx0" brushRef="#br0" timeOffset="3124.91">27499 3881 0,'0'70'79,"-35"265"-64,-18-176 1,18 0-16,-54 141 15,1 17 1,18-158 0,52-89-1,18-34 1</inkml:trace>
  <inkml:trace contextRef="#ctx0" brushRef="#br0" timeOffset="3931.5">26705 4939 0,'18'70'78,"17"36"-78,18 18 15,-18-1-15,1 18 16,69 36 0,-52-142-1,-53-17 1,18-18-1,0 0 1,17 0 0,18-18-1,194-194 1,-53 18 15,-88 106-15,-53 35-1,-18 18 1,-35 17 0</inkml:trace>
  <inkml:trace contextRef="#ctx0" brushRef="#br0" timeOffset="5885.23">21678 4463 0,'18'0'78,"-1"53"-62,-17 17-16,18 18 16,-18 159-1,0-88 1,0-36-1,-35 107 1,35-160 0,-18 1-16,-17-1 15,17 1 1,18-36 0,0 1-1</inkml:trace>
  <inkml:trace contextRef="#ctx0" brushRef="#br0" timeOffset="6582.59">21308 5433 0,'0'88'62,"35"53"-62,71 71 32,-88-177-32,17 0 15,-18-17 1,1 17-1,0-17 1,-1 17 0,19-17-1,-19-18 1,19 17 15,-19-17-31,89-70 16,159-230-1,-54-53 1,19 0 0,-72 71-1,-122 212 1,-1 17-16,-35 35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5.81395" units="1/cm"/>
          <inkml:channelProperty channel="Y" name="resolution" value="55.95855" units="1/cm"/>
          <inkml:channelProperty channel="T" name="resolution" value="1" units="1/dev"/>
        </inkml:channelProperties>
      </inkml:inkSource>
      <inkml:timestamp xml:id="ts0" timeString="2024-01-21T05:24:26.324"/>
    </inkml:context>
    <inkml:brush xml:id="br0">
      <inkml:brushProperty name="width" value="0.05292" units="cm"/>
      <inkml:brushProperty name="height" value="0.05292" units="cm"/>
      <inkml:brushProperty name="color" value="#002060"/>
    </inkml:brush>
  </inkml:definitions>
  <inkml:trace contextRef="#ctx0" brushRef="#br0">3404 1940 0,'106'0'187,"18"18"-171,-1 0-16,-35-18 15,-17 0-15,-1 0 16,-17 17 0,-17-17 15,16 0-16,-16 0 1,-19 0-16,1 0 16,17 0-16,18 0 15,0 0 1,18 0 0,17-17-1,-35-1 1,0 18-1,-36 0-15,1 0 16,0-18 15,17 18-31,-17 0 16,17 0-16,53 0 16,-53 0-16,54-17 31,-72 17-31,18 0 15,-17-18 1,35 18 0,0 0-1,-35 0-15,17 0 16,0 0-16,-17 0 16,-1 0-1</inkml:trace>
  <inkml:trace contextRef="#ctx0" brushRef="#br0" timeOffset="4895.25">18909 12118 0,'-18'0'94,"36"0"46,0 0-124,17 0-16,-18 18 15,19-18 1,17 17 0,0-17-1,-1 0 1,-34 18 0,35-18-1,0 0 1,0 0-1,-18 0 1,0 0 0,1 0-1,-1 0 1,18 0 0,0 0-1,-18 0 1,-17 0 46,35 0-46,-18 0-16,35 0 31,-17 0-15,-17 0-1,-1 0 1,0 0 0,0 0-16,1 0 15,17 0 1,0 0 0,-36 0 15,1 0 0,17 0 0,0 0-15,1 0 0,-19-18-1,19 18 1,-1 0-1,-17 0 1,17 0-16,18 0 16,0 0-1,-36 0 1,1 0 0,0 0-1,-1 0-15,18 0 16,1-17-1,17 17 1,0 0 0,-18 0-1,0 0 1,18 0 0,-18 0-1,-17 0 1,17 0-1,18 0 1,18 0 0,-18 0-1,0 0 1,-1 17 0,1 1-1,-35-18 1,35 17-16,0-17 31,0 0-15,0 0-1,0 0 1,-36 0 0,1 0-1,0 0-15,34 0 16,1 18-1,18-18 1,-18 18 0,-18-18-1,-17 0 17,-1 0-17,19 0 1,-19 0-1,19 0-15,17 0 16,-1 0 0,-16 0-1,-19 0 1,19 0 0,-19 0-1,1 0-15,0 0 16,17 0-1,-18 0 1,19 0 0,-19 0-1,36-18 1,-17 18 0,-19 0-1,18 0 1,1-18-1,-19 18 1,36 0 0,-17 0-1,17-17 1,-36 17 15,1 0-15,-1 0-16,19-18 31,-1 18-15,-17 0-16,-1 0 15,19 0 1,-1 0 0,-18 0-1,1 0 1,0 0 15,-1 0 0</inkml:trace>
  <inkml:trace contextRef="#ctx0" brushRef="#br0" timeOffset="14338.41">8961 10583 0,'70'0'125,"54"0"-125,105 0 15,-106 0 1,124 0-1,-141 0 1,-35 0 0,-18-17-1,-36 17-15,54 0 16,-36 0 0,18-18-1,-18 0 1,53 1 15,1-19-15,-72 19-16,89 17 31,-35-18-15,-1 18-1,18 0 1,1 0-1,-54 0 1,-17 0-16,34 0 16,1 18-1,18-1 1,-18-17 0,-18 0-16,-17 0 15,35 0-15,-36 18 16,1-18-1,35 0 17,35 18-17,-35-1-15,18-17 16,-19 18 0,-34-18-1,0 0 16,-1 0-31,19 18 16,-19-1-16,54 1 16,-18 0-1,-36-18 1,1 0 0,17 0-1,-17 0 1,0 0-16,35 0 31,-1 0-15,-34 0-16,0 0 0,-1 0 93,1 0-77</inkml:trace>
  <inkml:trace contextRef="#ctx0" brushRef="#br0" timeOffset="17801.88">6791 12241 0,'71'0'110,"52"0"-110,-35 0 15,194 18 1,-193-18 0,16 18-1,-69-18-15,-1 17 16,18 1-1,53-18 1,-36 18 0,-34-18-16,16 0 15,-34 0 1,0 0 0,17 0-1,53 0 1,-17 0-1,-1 0 1,1 0 0,-36 0-1,53 0 17,1 0-17,-19 0 1,1 0-1,-36 0 1,-17 0 0,17 0-16,-17 0 15,52 0 1,-35 0-16,1 0 16,-19 0-16,54 0 15,-36 0 1,-17 0-1,17 0-15,0 0 16,18-18 0,18 18 15,-36 0-31,53 0 31,-70 0-31,0 0 16,17 0-1,0 0 1,18 0 0,-35 0-16,52 0 15,-35 0 1,1 0-16,-1 0 16,18 0-1,-35 0 1,17 0-1,18-18 1,0 18 0,0 0-1,-36 0 1,-17-17 156,18 17-157,0 0-15,-1 0 32,-17-18-32,18 18 15,-1 0 48,-17-18-48,18 18 1,0 0 0,-1 0-1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B6C1B0-8305-45D7-A2BA-328D4168B6CF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0C338-64D0-417A-BF4A-2E36B9736F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656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DA2D666-2B7D-21EC-0607-05381ED4E86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39E82748-AF93-650B-E49A-0F0D0E8F25C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F99162A-40B2-4B20-A4AC-BC2BC737AF18}" type="datetime4">
              <a:rPr lang="en-US" altLang="en-US" smtClean="0">
                <a:latin typeface="Times New Roman" panose="02020603050405020304" pitchFamily="18" charset="0"/>
              </a:rPr>
              <a:pPr/>
              <a:t>April 6,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14ECF47C-CF66-2C79-79A9-3480BEE5C0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1 — Computer Abstractions and Technology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9A75BF10-6D72-7004-11B7-38772C5132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40D623-0D95-46E2-A599-890C0CAC0FB4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3DA323F1-D40F-30E8-E2CA-77317BB89B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E95BB391-7FA9-95CD-BEF0-1C0DF0015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787FB068-D407-8750-5F91-6214681564F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AEC8E93-1E9D-C588-9390-576EE66071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B32960-8D7C-4F77-9C57-100CBF278637}" type="datetime4">
              <a:rPr lang="en-US" altLang="en-US" smtClean="0">
                <a:latin typeface="Times New Roman" panose="02020603050405020304" pitchFamily="18" charset="0"/>
              </a:rPr>
              <a:pPr/>
              <a:t>April 6,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2CBEEE78-BBA8-85D4-4CFD-60FA331CF4F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1 — Computer Abstractions and Technology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05613A73-D5A2-3A4A-4FD1-00B7549BC5C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F99169-E273-4263-B0BF-FE532DFB70F0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1A84D54A-B1A6-A555-D076-6D556E8EF5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19F5D09A-C880-C00F-1B7D-E04A60672E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B8D9F36-E619-869F-1B8D-DE317ADC8D1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081030B-5166-E414-63B8-146BF4110EE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06A89F2-0B8D-4239-860D-FBA2B595F274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2" name="Rectangle 6">
            <a:extLst>
              <a:ext uri="{FF2B5EF4-FFF2-40B4-BE49-F238E27FC236}">
                <a16:creationId xmlns:a16="http://schemas.microsoft.com/office/drawing/2014/main" id="{002DDA15-EC1F-B7AE-F5E5-FD576D8FA59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2293" name="Rectangle 7">
            <a:extLst>
              <a:ext uri="{FF2B5EF4-FFF2-40B4-BE49-F238E27FC236}">
                <a16:creationId xmlns:a16="http://schemas.microsoft.com/office/drawing/2014/main" id="{F6BEC7CB-1C5A-6831-80B0-F8C9C989F5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34488E1-5125-451F-8855-03EACEDDE688}" type="slidenum">
              <a:rPr lang="en-US" altLang="en-US">
                <a:latin typeface="Times New Roman" panose="02020603050405020304" pitchFamily="18" charset="0"/>
              </a:rPr>
              <a:pPr/>
              <a:t>29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2294" name="Rectangle 2">
            <a:extLst>
              <a:ext uri="{FF2B5EF4-FFF2-40B4-BE49-F238E27FC236}">
                <a16:creationId xmlns:a16="http://schemas.microsoft.com/office/drawing/2014/main" id="{6D23788B-B47F-34BF-78D9-43D7F1983A5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5" name="Rectangle 3">
            <a:extLst>
              <a:ext uri="{FF2B5EF4-FFF2-40B4-BE49-F238E27FC236}">
                <a16:creationId xmlns:a16="http://schemas.microsoft.com/office/drawing/2014/main" id="{25E87FB5-25DA-D66D-B01E-0A9769FED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48EE595F-894A-1D6D-39A4-68D708C692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8D01CEC8-C7AB-3D64-7B19-76FEA2A73C9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32E021-348F-46F3-8C43-B3D890F63510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0" name="Rectangle 6">
            <a:extLst>
              <a:ext uri="{FF2B5EF4-FFF2-40B4-BE49-F238E27FC236}">
                <a16:creationId xmlns:a16="http://schemas.microsoft.com/office/drawing/2014/main" id="{F83E1316-2FE8-6BDF-DF7F-78A5450523F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4341" name="Rectangle 7">
            <a:extLst>
              <a:ext uri="{FF2B5EF4-FFF2-40B4-BE49-F238E27FC236}">
                <a16:creationId xmlns:a16="http://schemas.microsoft.com/office/drawing/2014/main" id="{7EF0BF29-4E52-7860-1271-8208B6F964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5BE4BA-296B-4F5B-ADAD-D1F0327467FD}" type="slidenum">
              <a:rPr lang="en-US" altLang="en-US">
                <a:latin typeface="Times New Roman" panose="02020603050405020304" pitchFamily="18" charset="0"/>
              </a:rPr>
              <a:pPr/>
              <a:t>30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4342" name="Rectangle 2">
            <a:extLst>
              <a:ext uri="{FF2B5EF4-FFF2-40B4-BE49-F238E27FC236}">
                <a16:creationId xmlns:a16="http://schemas.microsoft.com/office/drawing/2014/main" id="{684F1BBE-6DEB-190C-2A98-044D569D4F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3" name="Rectangle 3">
            <a:extLst>
              <a:ext uri="{FF2B5EF4-FFF2-40B4-BE49-F238E27FC236}">
                <a16:creationId xmlns:a16="http://schemas.microsoft.com/office/drawing/2014/main" id="{9CB3C52E-9C21-26D7-3311-C73054A246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8CA5CCAA-5433-94B3-4ED7-690F01ACA69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886F72D1-C9DB-FD88-842B-A020490C23A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B1D9BE2-0D99-4088-AAB4-777357A0DA2A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A38216B6-D9D1-37C7-DA9A-3311F165BA1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6389" name="Rectangle 7">
            <a:extLst>
              <a:ext uri="{FF2B5EF4-FFF2-40B4-BE49-F238E27FC236}">
                <a16:creationId xmlns:a16="http://schemas.microsoft.com/office/drawing/2014/main" id="{9B649A2A-286F-3C60-E67C-6CF593BC026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424CC29-5DE6-481D-824F-854C44045E6C}" type="slidenum">
              <a:rPr lang="en-US" altLang="en-US">
                <a:latin typeface="Times New Roman" panose="02020603050405020304" pitchFamily="18" charset="0"/>
              </a:rPr>
              <a:pPr/>
              <a:t>31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6390" name="Rectangle 2">
            <a:extLst>
              <a:ext uri="{FF2B5EF4-FFF2-40B4-BE49-F238E27FC236}">
                <a16:creationId xmlns:a16="http://schemas.microsoft.com/office/drawing/2014/main" id="{3F608FD9-6624-A14D-51CE-971B9CC1896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91" name="Rectangle 3">
            <a:extLst>
              <a:ext uri="{FF2B5EF4-FFF2-40B4-BE49-F238E27FC236}">
                <a16:creationId xmlns:a16="http://schemas.microsoft.com/office/drawing/2014/main" id="{156FF74B-E764-EDEC-9A2F-26DB7E80B1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D661650-6414-1CE8-E28E-4DF922BCA3F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29D6F744-F7C5-C23D-2127-0165264AF1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D1609B-FB40-40C9-B330-68780929CD10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60" name="Rectangle 6">
            <a:extLst>
              <a:ext uri="{FF2B5EF4-FFF2-40B4-BE49-F238E27FC236}">
                <a16:creationId xmlns:a16="http://schemas.microsoft.com/office/drawing/2014/main" id="{B6453F25-327E-377A-306E-9AE2863357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9461" name="Rectangle 7">
            <a:extLst>
              <a:ext uri="{FF2B5EF4-FFF2-40B4-BE49-F238E27FC236}">
                <a16:creationId xmlns:a16="http://schemas.microsoft.com/office/drawing/2014/main" id="{E4C1D8C1-F1A2-AFE6-78CE-EEA80DB770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A6A37E-59B7-42F3-AD1A-721A996B0FF9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9462" name="Rectangle 2">
            <a:extLst>
              <a:ext uri="{FF2B5EF4-FFF2-40B4-BE49-F238E27FC236}">
                <a16:creationId xmlns:a16="http://schemas.microsoft.com/office/drawing/2014/main" id="{E51CF387-C4E9-8ABA-6AC9-68D803721DE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3" name="Rectangle 3">
            <a:extLst>
              <a:ext uri="{FF2B5EF4-FFF2-40B4-BE49-F238E27FC236}">
                <a16:creationId xmlns:a16="http://schemas.microsoft.com/office/drawing/2014/main" id="{E0D41699-157B-7154-6BDC-37FDEC3EEE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1C251C5B-E6CE-1D45-2A9E-71B6D285949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A1D0A966-D780-D69F-CC52-133485D1B12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5F41E39-D8FC-4E80-8315-7E12759F1712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08" name="Rectangle 6">
            <a:extLst>
              <a:ext uri="{FF2B5EF4-FFF2-40B4-BE49-F238E27FC236}">
                <a16:creationId xmlns:a16="http://schemas.microsoft.com/office/drawing/2014/main" id="{085114EE-A7FF-2EAA-0CEE-F4B601AF60B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1509" name="Rectangle 7">
            <a:extLst>
              <a:ext uri="{FF2B5EF4-FFF2-40B4-BE49-F238E27FC236}">
                <a16:creationId xmlns:a16="http://schemas.microsoft.com/office/drawing/2014/main" id="{3D847297-CC35-70F7-AEDE-B2BFA70EC52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44B0E5-CD90-4742-BF76-F8FE0521A443}" type="slidenum">
              <a:rPr lang="en-US" altLang="en-US">
                <a:latin typeface="Times New Roman" panose="02020603050405020304" pitchFamily="18" charset="0"/>
              </a:rPr>
              <a:pPr/>
              <a:t>36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1510" name="Rectangle 2">
            <a:extLst>
              <a:ext uri="{FF2B5EF4-FFF2-40B4-BE49-F238E27FC236}">
                <a16:creationId xmlns:a16="http://schemas.microsoft.com/office/drawing/2014/main" id="{4A908C7C-AC0C-B6B9-0FCC-16991E186F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1" name="Rectangle 3">
            <a:extLst>
              <a:ext uri="{FF2B5EF4-FFF2-40B4-BE49-F238E27FC236}">
                <a16:creationId xmlns:a16="http://schemas.microsoft.com/office/drawing/2014/main" id="{0C668FC9-1F08-4217-AE3C-EB1D86F34C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685782E-8DB0-6889-B5AD-EC883AD4A0C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8023E32A-A9E2-9E3B-AEE5-F8A842B4B605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029E087-4ED0-4CE8-90AA-187E353BF2F8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6" name="Rectangle 6">
            <a:extLst>
              <a:ext uri="{FF2B5EF4-FFF2-40B4-BE49-F238E27FC236}">
                <a16:creationId xmlns:a16="http://schemas.microsoft.com/office/drawing/2014/main" id="{3E2D6399-FAB5-4419-E78B-6C627C96B65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3557" name="Rectangle 7">
            <a:extLst>
              <a:ext uri="{FF2B5EF4-FFF2-40B4-BE49-F238E27FC236}">
                <a16:creationId xmlns:a16="http://schemas.microsoft.com/office/drawing/2014/main" id="{4518CA5D-682A-1F19-0824-C0DC366DCA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9BAD465-BE86-4562-BF7A-6FBFA9E1A38B}" type="slidenum">
              <a:rPr lang="en-US" altLang="en-US">
                <a:latin typeface="Times New Roman" panose="02020603050405020304" pitchFamily="18" charset="0"/>
              </a:rPr>
              <a:pPr/>
              <a:t>37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3558" name="Rectangle 2">
            <a:extLst>
              <a:ext uri="{FF2B5EF4-FFF2-40B4-BE49-F238E27FC236}">
                <a16:creationId xmlns:a16="http://schemas.microsoft.com/office/drawing/2014/main" id="{CA5E6D42-4815-ED4C-3D8F-79B624C757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9" name="Rectangle 3">
            <a:extLst>
              <a:ext uri="{FF2B5EF4-FFF2-40B4-BE49-F238E27FC236}">
                <a16:creationId xmlns:a16="http://schemas.microsoft.com/office/drawing/2014/main" id="{16A3B918-E42B-E903-E2B0-45A529D7D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8704327-FFA1-DEAA-650F-90E96A0B54E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4E1FFCC-E41F-53B0-94D8-7D8C228066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51C3C02-DF7B-4E9E-9AE4-FDC4703CAFD4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4" name="Rectangle 6">
            <a:extLst>
              <a:ext uri="{FF2B5EF4-FFF2-40B4-BE49-F238E27FC236}">
                <a16:creationId xmlns:a16="http://schemas.microsoft.com/office/drawing/2014/main" id="{C0E194DE-8FBE-D500-95B1-5942101C54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5605" name="Rectangle 7">
            <a:extLst>
              <a:ext uri="{FF2B5EF4-FFF2-40B4-BE49-F238E27FC236}">
                <a16:creationId xmlns:a16="http://schemas.microsoft.com/office/drawing/2014/main" id="{15A47032-08CC-9788-A6CE-EAC4BB56808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A344E9-64E4-4591-828D-8BC4A459AAAF}" type="slidenum">
              <a:rPr lang="en-US" altLang="en-US">
                <a:latin typeface="Times New Roman" panose="02020603050405020304" pitchFamily="18" charset="0"/>
              </a:rPr>
              <a:pPr/>
              <a:t>38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5606" name="Rectangle 2">
            <a:extLst>
              <a:ext uri="{FF2B5EF4-FFF2-40B4-BE49-F238E27FC236}">
                <a16:creationId xmlns:a16="http://schemas.microsoft.com/office/drawing/2014/main" id="{B25B0849-64A3-63D3-A0D1-A1C7F00973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7" name="Rectangle 3">
            <a:extLst>
              <a:ext uri="{FF2B5EF4-FFF2-40B4-BE49-F238E27FC236}">
                <a16:creationId xmlns:a16="http://schemas.microsoft.com/office/drawing/2014/main" id="{595E7A63-E9F5-3B2D-9A81-E5D54F67F1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289FC2EB-D4D0-154F-FA1C-AD8CC677921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61128E05-656C-8DDB-9F93-4336EE69D47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A39344-2623-4CA7-895E-C5E878C99F76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2" name="Rectangle 6">
            <a:extLst>
              <a:ext uri="{FF2B5EF4-FFF2-40B4-BE49-F238E27FC236}">
                <a16:creationId xmlns:a16="http://schemas.microsoft.com/office/drawing/2014/main" id="{5CC10E34-6D59-275C-B442-F147B87689B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8D9ADCE4-B6E6-3519-9199-A056471B5F9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A5D7572-7B2D-4B5D-99A6-EB5FAE8DCCF9}" type="slidenum">
              <a:rPr lang="en-US" altLang="en-US">
                <a:latin typeface="Times New Roman" panose="02020603050405020304" pitchFamily="18" charset="0"/>
              </a:rPr>
              <a:pPr/>
              <a:t>40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27654" name="Rectangle 2">
            <a:extLst>
              <a:ext uri="{FF2B5EF4-FFF2-40B4-BE49-F238E27FC236}">
                <a16:creationId xmlns:a16="http://schemas.microsoft.com/office/drawing/2014/main" id="{1C63F05D-647E-BD3B-D8BC-D401A6016A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5" name="Rectangle 3">
            <a:extLst>
              <a:ext uri="{FF2B5EF4-FFF2-40B4-BE49-F238E27FC236}">
                <a16:creationId xmlns:a16="http://schemas.microsoft.com/office/drawing/2014/main" id="{B0B0F379-6698-62F8-66E6-CF351A2A33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913CE11D-3EDD-4EAD-717F-82A14477ABD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90CF14F9-6309-0DF4-FB9E-FB72C680507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4E9D404-A866-417F-931E-ED23B7BE75CB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3FC9D294-1F2A-36C1-7DDB-20B980FBF60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2A53AD2B-E0A9-0C24-D0DF-F4320C588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CD4B31-66BD-4A67-B231-907C8DBFE051}" type="slidenum">
              <a:rPr lang="en-US" altLang="en-US">
                <a:latin typeface="Times New Roman" panose="02020603050405020304" pitchFamily="18" charset="0"/>
              </a:rPr>
              <a:pPr/>
              <a:t>43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70B61B90-C404-8819-2D2D-2AA8ED8A647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11E82064-8180-7BDB-3F5D-8D6CE4DFBC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38C388AD-D374-CB7B-DF70-2BBEA66B5B1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605A0D25-2DA2-EA91-6867-9ED849340C8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7F063D-4CBA-4419-B225-9CA8F089BB1D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719865BB-35DE-C379-C373-84E208D6C0C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6D42B0DD-ACB5-B556-D067-A39C9EF1BE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C2A75A7-8815-4670-8C2C-967314CC1FEB}" type="slidenum">
              <a:rPr lang="en-US" altLang="en-US">
                <a:latin typeface="Times New Roman" panose="02020603050405020304" pitchFamily="18" charset="0"/>
              </a:rPr>
              <a:pPr/>
              <a:t>44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24FC19B0-5D6F-B3E9-C27F-A21BC9DD929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924BAF99-1D22-2789-D54B-6F6FCFCEA3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04AA603A-4189-EAB1-9B22-A8EEB596AE2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ED5D970-B35B-EDEC-26C8-A1FE5F72818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787B7F6-4AB7-4D16-9717-F9F82E07020E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2" name="Rectangle 6">
            <a:extLst>
              <a:ext uri="{FF2B5EF4-FFF2-40B4-BE49-F238E27FC236}">
                <a16:creationId xmlns:a16="http://schemas.microsoft.com/office/drawing/2014/main" id="{9C016299-9CE7-3DB7-131D-989CBD5306C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48133" name="Rectangle 7">
            <a:extLst>
              <a:ext uri="{FF2B5EF4-FFF2-40B4-BE49-F238E27FC236}">
                <a16:creationId xmlns:a16="http://schemas.microsoft.com/office/drawing/2014/main" id="{559C12B4-32C8-A834-21CB-D15AB53E2B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F14218A-7D9D-4F65-B8D6-6447534AF8D0}" type="slidenum">
              <a:rPr lang="en-US" altLang="en-US">
                <a:latin typeface="Times New Roman" panose="02020603050405020304" pitchFamily="18" charset="0"/>
              </a:rPr>
              <a:pPr/>
              <a:t>45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48134" name="Rectangle 2">
            <a:extLst>
              <a:ext uri="{FF2B5EF4-FFF2-40B4-BE49-F238E27FC236}">
                <a16:creationId xmlns:a16="http://schemas.microsoft.com/office/drawing/2014/main" id="{36FABC61-231D-FD97-9A8F-89E3A8CE2B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5" name="Rectangle 3">
            <a:extLst>
              <a:ext uri="{FF2B5EF4-FFF2-40B4-BE49-F238E27FC236}">
                <a16:creationId xmlns:a16="http://schemas.microsoft.com/office/drawing/2014/main" id="{BFC8CD14-11F8-5B99-45B5-D9383AD1BF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9F6864C-8911-F265-1F25-E53DA7AB371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CF71D0B2-2362-BEB3-4FCF-9314DFC0725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A469444-6158-4A9E-AB60-3B572E117A2C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0" name="Rectangle 6">
            <a:extLst>
              <a:ext uri="{FF2B5EF4-FFF2-40B4-BE49-F238E27FC236}">
                <a16:creationId xmlns:a16="http://schemas.microsoft.com/office/drawing/2014/main" id="{0EEFF74C-DE15-9693-CC92-FF7A50A1D1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0181" name="Rectangle 7">
            <a:extLst>
              <a:ext uri="{FF2B5EF4-FFF2-40B4-BE49-F238E27FC236}">
                <a16:creationId xmlns:a16="http://schemas.microsoft.com/office/drawing/2014/main" id="{3C23B894-9F00-39ED-76DB-39433A51B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CB369F0-CCB6-44B6-9357-8DB678FE4D97}" type="slidenum">
              <a:rPr lang="en-US" altLang="en-US">
                <a:latin typeface="Times New Roman" panose="02020603050405020304" pitchFamily="18" charset="0"/>
              </a:rPr>
              <a:pPr/>
              <a:t>46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0182" name="Rectangle 2">
            <a:extLst>
              <a:ext uri="{FF2B5EF4-FFF2-40B4-BE49-F238E27FC236}">
                <a16:creationId xmlns:a16="http://schemas.microsoft.com/office/drawing/2014/main" id="{EA385FCC-B0E1-D76B-E38C-8D2EC9A60FF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3" name="Rectangle 3">
            <a:extLst>
              <a:ext uri="{FF2B5EF4-FFF2-40B4-BE49-F238E27FC236}">
                <a16:creationId xmlns:a16="http://schemas.microsoft.com/office/drawing/2014/main" id="{E4E1FB47-E495-D62F-8722-E64532851D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254FE88-03BC-03EE-7B51-63A59FBE4EC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A41EE5F0-F383-1AB6-2004-7D6A9320747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BACEB1-055D-49DC-AA10-72C1208266BB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6" name="Rectangle 6">
            <a:extLst>
              <a:ext uri="{FF2B5EF4-FFF2-40B4-BE49-F238E27FC236}">
                <a16:creationId xmlns:a16="http://schemas.microsoft.com/office/drawing/2014/main" id="{C81615F0-EFE6-F4A2-2CBA-60249132FC5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4277" name="Rectangle 7">
            <a:extLst>
              <a:ext uri="{FF2B5EF4-FFF2-40B4-BE49-F238E27FC236}">
                <a16:creationId xmlns:a16="http://schemas.microsoft.com/office/drawing/2014/main" id="{8CF06D5B-A29D-E66A-CEB4-76B9DDC02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6ADA30A-1D43-4BE5-A34B-3AAB61F72FD0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4278" name="Rectangle 2">
            <a:extLst>
              <a:ext uri="{FF2B5EF4-FFF2-40B4-BE49-F238E27FC236}">
                <a16:creationId xmlns:a16="http://schemas.microsoft.com/office/drawing/2014/main" id="{8E3A3993-AD5A-3258-8AF5-1F5CDC939C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9" name="Rectangle 3">
            <a:extLst>
              <a:ext uri="{FF2B5EF4-FFF2-40B4-BE49-F238E27FC236}">
                <a16:creationId xmlns:a16="http://schemas.microsoft.com/office/drawing/2014/main" id="{4FD56142-1F70-2E23-0BC4-0DA41F9D9E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440780E9-575C-83F8-7921-0DD9602F1D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28C3B4AA-BA79-D13B-C92D-C98A98BE8DB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87B03E3-5DC6-4C8F-8AF1-5030CEF7E9A5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4" name="Rectangle 6">
            <a:extLst>
              <a:ext uri="{FF2B5EF4-FFF2-40B4-BE49-F238E27FC236}">
                <a16:creationId xmlns:a16="http://schemas.microsoft.com/office/drawing/2014/main" id="{DFD6A695-398B-40CA-A57D-259BF35A2A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56325" name="Rectangle 7">
            <a:extLst>
              <a:ext uri="{FF2B5EF4-FFF2-40B4-BE49-F238E27FC236}">
                <a16:creationId xmlns:a16="http://schemas.microsoft.com/office/drawing/2014/main" id="{D528C6B0-9AB8-B92D-16C0-35420AA7E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062FCD6-98DA-4BE4-8977-DEADC8BA87EC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56326" name="Rectangle 2">
            <a:extLst>
              <a:ext uri="{FF2B5EF4-FFF2-40B4-BE49-F238E27FC236}">
                <a16:creationId xmlns:a16="http://schemas.microsoft.com/office/drawing/2014/main" id="{CDA8BB35-DCFE-1893-C23F-B5D3A302CC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7" name="Rectangle 3">
            <a:extLst>
              <a:ext uri="{FF2B5EF4-FFF2-40B4-BE49-F238E27FC236}">
                <a16:creationId xmlns:a16="http://schemas.microsoft.com/office/drawing/2014/main" id="{3A1B22B6-625A-59BE-C3E3-0BD77A403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876EB57-2C45-C111-380B-F3CD2401037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4515" name="Rectangle 3">
            <a:extLst>
              <a:ext uri="{FF2B5EF4-FFF2-40B4-BE49-F238E27FC236}">
                <a16:creationId xmlns:a16="http://schemas.microsoft.com/office/drawing/2014/main" id="{3553B59F-ADA5-908B-2AA1-A2C6B45EDD9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906F69-212F-4EAE-9A61-2FAF75BC1890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6" name="Rectangle 6">
            <a:extLst>
              <a:ext uri="{FF2B5EF4-FFF2-40B4-BE49-F238E27FC236}">
                <a16:creationId xmlns:a16="http://schemas.microsoft.com/office/drawing/2014/main" id="{F55C7426-1E28-B65F-81A0-BF977920234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4517" name="Rectangle 7">
            <a:extLst>
              <a:ext uri="{FF2B5EF4-FFF2-40B4-BE49-F238E27FC236}">
                <a16:creationId xmlns:a16="http://schemas.microsoft.com/office/drawing/2014/main" id="{5ADB6C8D-8BFD-974F-1FB8-B31F384F56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D162FEF-4553-41B6-AFEA-06D59ADE3E3B}" type="slidenum">
              <a:rPr lang="en-US" altLang="en-US">
                <a:latin typeface="Times New Roman" panose="02020603050405020304" pitchFamily="18" charset="0"/>
              </a:rPr>
              <a:pPr/>
              <a:t>50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8" name="Rectangle 2">
            <a:extLst>
              <a:ext uri="{FF2B5EF4-FFF2-40B4-BE49-F238E27FC236}">
                <a16:creationId xmlns:a16="http://schemas.microsoft.com/office/drawing/2014/main" id="{97936353-AC3F-5AE5-92D4-C3738F2F4C7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9" name="Rectangle 3">
            <a:extLst>
              <a:ext uri="{FF2B5EF4-FFF2-40B4-BE49-F238E27FC236}">
                <a16:creationId xmlns:a16="http://schemas.microsoft.com/office/drawing/2014/main" id="{B25E9E0D-FA73-41E0-43F3-F45A3873CC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5842E10-29F1-E0EF-BA10-67594115C6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EC04C170-792F-42BF-95F1-08043115CAB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FA546A4-D621-429C-ABE0-6716718F0980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4" name="Rectangle 6">
            <a:extLst>
              <a:ext uri="{FF2B5EF4-FFF2-40B4-BE49-F238E27FC236}">
                <a16:creationId xmlns:a16="http://schemas.microsoft.com/office/drawing/2014/main" id="{2B2A3F85-BF41-2CA5-1BFA-D9A0E63498A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6565" name="Rectangle 7">
            <a:extLst>
              <a:ext uri="{FF2B5EF4-FFF2-40B4-BE49-F238E27FC236}">
                <a16:creationId xmlns:a16="http://schemas.microsoft.com/office/drawing/2014/main" id="{050F80A7-FFEC-EE7D-3336-C15E4D33C0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30A13E-6532-427D-8590-371923F962E3}" type="slidenum">
              <a:rPr lang="en-US" altLang="en-US">
                <a:latin typeface="Times New Roman" panose="02020603050405020304" pitchFamily="18" charset="0"/>
              </a:rPr>
              <a:pPr/>
              <a:t>51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6566" name="Rectangle 2">
            <a:extLst>
              <a:ext uri="{FF2B5EF4-FFF2-40B4-BE49-F238E27FC236}">
                <a16:creationId xmlns:a16="http://schemas.microsoft.com/office/drawing/2014/main" id="{5D5A3DD7-98DB-C933-9D2C-A116CF7153B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7" name="Rectangle 3">
            <a:extLst>
              <a:ext uri="{FF2B5EF4-FFF2-40B4-BE49-F238E27FC236}">
                <a16:creationId xmlns:a16="http://schemas.microsoft.com/office/drawing/2014/main" id="{D93C6630-4958-EA8A-3575-48ED22CFF4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81256DB9-49B8-A524-C478-768EB271F44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29EBDBE0-B331-9BA4-8245-60E179217A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8FECF9A-E4BE-4E72-8E6C-49377245DB1F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2" name="Rectangle 6">
            <a:extLst>
              <a:ext uri="{FF2B5EF4-FFF2-40B4-BE49-F238E27FC236}">
                <a16:creationId xmlns:a16="http://schemas.microsoft.com/office/drawing/2014/main" id="{0466704B-6023-34FF-BDE9-B0546189A84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68613" name="Rectangle 7">
            <a:extLst>
              <a:ext uri="{FF2B5EF4-FFF2-40B4-BE49-F238E27FC236}">
                <a16:creationId xmlns:a16="http://schemas.microsoft.com/office/drawing/2014/main" id="{583146A1-1C1F-B447-2FC0-4DB62E9978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7466AD-134A-4EEB-BDDC-0123AA9568AE}" type="slidenum">
              <a:rPr lang="en-US" altLang="en-US">
                <a:latin typeface="Times New Roman" panose="02020603050405020304" pitchFamily="18" charset="0"/>
              </a:rPr>
              <a:pPr/>
              <a:t>52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8614" name="Rectangle 2">
            <a:extLst>
              <a:ext uri="{FF2B5EF4-FFF2-40B4-BE49-F238E27FC236}">
                <a16:creationId xmlns:a16="http://schemas.microsoft.com/office/drawing/2014/main" id="{387DD389-A7BF-58E3-85E5-32CB137C42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5" name="Rectangle 3">
            <a:extLst>
              <a:ext uri="{FF2B5EF4-FFF2-40B4-BE49-F238E27FC236}">
                <a16:creationId xmlns:a16="http://schemas.microsoft.com/office/drawing/2014/main" id="{648C7F2A-FBF3-6D9D-8DD8-60623D6F28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DF172434-5379-8330-B47A-1AC96093C45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9E0BB192-C318-F4FD-5E31-B5A864B1E3D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FE09C17-482E-478A-9979-36C22F7F66AC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08" name="Rectangle 6">
            <a:extLst>
              <a:ext uri="{FF2B5EF4-FFF2-40B4-BE49-F238E27FC236}">
                <a16:creationId xmlns:a16="http://schemas.microsoft.com/office/drawing/2014/main" id="{1153F046-ABCA-5E42-427A-6DB4C69AF0B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2709" name="Rectangle 7">
            <a:extLst>
              <a:ext uri="{FF2B5EF4-FFF2-40B4-BE49-F238E27FC236}">
                <a16:creationId xmlns:a16="http://schemas.microsoft.com/office/drawing/2014/main" id="{5BA231A5-72FE-2B49-2361-2F1B83279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3A6932-7E41-4E54-BFE0-C325EC10CEAA}" type="slidenum">
              <a:rPr lang="en-US" altLang="en-US">
                <a:latin typeface="Times New Roman" panose="02020603050405020304" pitchFamily="18" charset="0"/>
              </a:rPr>
              <a:pPr/>
              <a:t>53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2710" name="Rectangle 2">
            <a:extLst>
              <a:ext uri="{FF2B5EF4-FFF2-40B4-BE49-F238E27FC236}">
                <a16:creationId xmlns:a16="http://schemas.microsoft.com/office/drawing/2014/main" id="{2755FB93-C51B-473E-E801-5EEE2E35D6C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>
            <a:extLst>
              <a:ext uri="{FF2B5EF4-FFF2-40B4-BE49-F238E27FC236}">
                <a16:creationId xmlns:a16="http://schemas.microsoft.com/office/drawing/2014/main" id="{60880EBC-6018-98B9-E1A7-97B8C914A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78D5BECE-FEDD-DEFE-71CA-9476962E274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3B58D700-10A1-D7FC-2C5D-97E54E377FB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E66068F-680C-4438-9805-435BB4A60CF6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4" name="Rectangle 6">
            <a:extLst>
              <a:ext uri="{FF2B5EF4-FFF2-40B4-BE49-F238E27FC236}">
                <a16:creationId xmlns:a16="http://schemas.microsoft.com/office/drawing/2014/main" id="{D1C754DA-FD0D-5BA8-7064-11830965DE4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6805" name="Rectangle 7">
            <a:extLst>
              <a:ext uri="{FF2B5EF4-FFF2-40B4-BE49-F238E27FC236}">
                <a16:creationId xmlns:a16="http://schemas.microsoft.com/office/drawing/2014/main" id="{A8AA0FA0-F52E-327F-FEC7-43080B189F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E4CFBFD-B440-4979-B424-FD785EBBAECD}" type="slidenum">
              <a:rPr lang="en-US" altLang="en-US">
                <a:latin typeface="Times New Roman" panose="02020603050405020304" pitchFamily="18" charset="0"/>
              </a:rPr>
              <a:pPr/>
              <a:t>60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6806" name="Rectangle 2">
            <a:extLst>
              <a:ext uri="{FF2B5EF4-FFF2-40B4-BE49-F238E27FC236}">
                <a16:creationId xmlns:a16="http://schemas.microsoft.com/office/drawing/2014/main" id="{D30CFC69-32DB-982F-53C9-881C883B5B8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7" name="Rectangle 3">
            <a:extLst>
              <a:ext uri="{FF2B5EF4-FFF2-40B4-BE49-F238E27FC236}">
                <a16:creationId xmlns:a16="http://schemas.microsoft.com/office/drawing/2014/main" id="{49EC8C20-3F14-7779-8E83-4A05AFCB41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210E719A-4981-60DC-F3F7-22D3D0FD7D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42510590-300F-33F3-F767-BADE22E0E7F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8A0C145-2B9C-4778-8828-2361008EAF9C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2" name="Rectangle 6">
            <a:extLst>
              <a:ext uri="{FF2B5EF4-FFF2-40B4-BE49-F238E27FC236}">
                <a16:creationId xmlns:a16="http://schemas.microsoft.com/office/drawing/2014/main" id="{E1359364-B787-8818-F89A-A58E3E80EA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78853" name="Rectangle 7">
            <a:extLst>
              <a:ext uri="{FF2B5EF4-FFF2-40B4-BE49-F238E27FC236}">
                <a16:creationId xmlns:a16="http://schemas.microsoft.com/office/drawing/2014/main" id="{331A876A-C61B-69D5-C892-24A2202C6E2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AFE1D6C-835A-4B50-953C-26927FF5F52B}" type="slidenum">
              <a:rPr lang="en-US" altLang="en-US">
                <a:latin typeface="Times New Roman" panose="02020603050405020304" pitchFamily="18" charset="0"/>
              </a:rPr>
              <a:pPr/>
              <a:t>61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8854" name="Rectangle 2">
            <a:extLst>
              <a:ext uri="{FF2B5EF4-FFF2-40B4-BE49-F238E27FC236}">
                <a16:creationId xmlns:a16="http://schemas.microsoft.com/office/drawing/2014/main" id="{C215CA36-6F8C-BCE6-461C-D0AB276AEB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5" name="Rectangle 3">
            <a:extLst>
              <a:ext uri="{FF2B5EF4-FFF2-40B4-BE49-F238E27FC236}">
                <a16:creationId xmlns:a16="http://schemas.microsoft.com/office/drawing/2014/main" id="{5ECF31E7-18EF-D569-6D47-560F14BB96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DDE04913-11AB-AB5D-E8DE-C3BBB016EAB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0899" name="Rectangle 3">
            <a:extLst>
              <a:ext uri="{FF2B5EF4-FFF2-40B4-BE49-F238E27FC236}">
                <a16:creationId xmlns:a16="http://schemas.microsoft.com/office/drawing/2014/main" id="{8124CFDB-B0DC-8F64-5E48-709E6BA707B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CAA7F6E-BA6A-4863-8284-7515118EFB9B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0" name="Rectangle 6">
            <a:extLst>
              <a:ext uri="{FF2B5EF4-FFF2-40B4-BE49-F238E27FC236}">
                <a16:creationId xmlns:a16="http://schemas.microsoft.com/office/drawing/2014/main" id="{E90FC669-6CE7-B17A-94D8-834AAD89B01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0901" name="Rectangle 7">
            <a:extLst>
              <a:ext uri="{FF2B5EF4-FFF2-40B4-BE49-F238E27FC236}">
                <a16:creationId xmlns:a16="http://schemas.microsoft.com/office/drawing/2014/main" id="{9BC7A3E4-8830-3CD1-AD0E-DEEF0205706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F04F14F-3859-41D1-929C-2D369D6FDC91}" type="slidenum">
              <a:rPr lang="en-US" altLang="en-US">
                <a:latin typeface="Times New Roman" panose="02020603050405020304" pitchFamily="18" charset="0"/>
              </a:rPr>
              <a:pPr/>
              <a:t>77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0902" name="Rectangle 2">
            <a:extLst>
              <a:ext uri="{FF2B5EF4-FFF2-40B4-BE49-F238E27FC236}">
                <a16:creationId xmlns:a16="http://schemas.microsoft.com/office/drawing/2014/main" id="{15B95C3B-92F0-A7F7-5AC6-B5C292E79D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3" name="Rectangle 3">
            <a:extLst>
              <a:ext uri="{FF2B5EF4-FFF2-40B4-BE49-F238E27FC236}">
                <a16:creationId xmlns:a16="http://schemas.microsoft.com/office/drawing/2014/main" id="{C6F074B1-326C-E2E0-0937-C2BE19F57E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9D5683F5-7C6B-D901-972F-CA52244154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82947" name="Rectangle 3">
            <a:extLst>
              <a:ext uri="{FF2B5EF4-FFF2-40B4-BE49-F238E27FC236}">
                <a16:creationId xmlns:a16="http://schemas.microsoft.com/office/drawing/2014/main" id="{E0041D13-CFB4-00D1-52AE-52B3E810678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B4C378C-6240-41F0-BF30-85814D8EA86F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48" name="Rectangle 6">
            <a:extLst>
              <a:ext uri="{FF2B5EF4-FFF2-40B4-BE49-F238E27FC236}">
                <a16:creationId xmlns:a16="http://schemas.microsoft.com/office/drawing/2014/main" id="{82B17BBE-32A3-8808-270E-C2FCCDF98A7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82949" name="Rectangle 7">
            <a:extLst>
              <a:ext uri="{FF2B5EF4-FFF2-40B4-BE49-F238E27FC236}">
                <a16:creationId xmlns:a16="http://schemas.microsoft.com/office/drawing/2014/main" id="{63C90CA4-3594-37E1-D1FA-4CF8B128C2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9DCFE3A-01C1-43B6-A928-7AFBA8A4B133}" type="slidenum">
              <a:rPr lang="en-US" altLang="en-US">
                <a:latin typeface="Times New Roman" panose="02020603050405020304" pitchFamily="18" charset="0"/>
              </a:rPr>
              <a:pPr/>
              <a:t>78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82950" name="Rectangle 2">
            <a:extLst>
              <a:ext uri="{FF2B5EF4-FFF2-40B4-BE49-F238E27FC236}">
                <a16:creationId xmlns:a16="http://schemas.microsoft.com/office/drawing/2014/main" id="{869377BE-4E69-849A-D295-E867C56FF9B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51" name="Rectangle 3">
            <a:extLst>
              <a:ext uri="{FF2B5EF4-FFF2-40B4-BE49-F238E27FC236}">
                <a16:creationId xmlns:a16="http://schemas.microsoft.com/office/drawing/2014/main" id="{0DA4BF0C-25FA-790B-ECB0-CDF6EA1CD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2B365F84-AA50-2C33-DBA3-1D26DD3BE8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C918DC20-99CB-121D-8D23-00CCF8DC7C6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71BC665-0122-4D9F-ACD8-CA0B21C03B62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2" name="Rectangle 6">
            <a:extLst>
              <a:ext uri="{FF2B5EF4-FFF2-40B4-BE49-F238E27FC236}">
                <a16:creationId xmlns:a16="http://schemas.microsoft.com/office/drawing/2014/main" id="{ADF699B3-C303-9BE6-48E0-650A24BADFC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99333" name="Rectangle 7">
            <a:extLst>
              <a:ext uri="{FF2B5EF4-FFF2-40B4-BE49-F238E27FC236}">
                <a16:creationId xmlns:a16="http://schemas.microsoft.com/office/drawing/2014/main" id="{E614E169-AF0A-2C98-A2E4-B8E7D1687B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4FCC20B-645B-4376-9F67-5022B16CAFBD}" type="slidenum">
              <a:rPr lang="en-US" altLang="en-US">
                <a:latin typeface="Times New Roman" panose="02020603050405020304" pitchFamily="18" charset="0"/>
              </a:rPr>
              <a:pPr/>
              <a:t>80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4" name="Rectangle 2">
            <a:extLst>
              <a:ext uri="{FF2B5EF4-FFF2-40B4-BE49-F238E27FC236}">
                <a16:creationId xmlns:a16="http://schemas.microsoft.com/office/drawing/2014/main" id="{2C72050E-88C2-68CF-43E4-7F4605CF4F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5" name="Rectangle 3">
            <a:extLst>
              <a:ext uri="{FF2B5EF4-FFF2-40B4-BE49-F238E27FC236}">
                <a16:creationId xmlns:a16="http://schemas.microsoft.com/office/drawing/2014/main" id="{89AF9D71-9CD2-C4ED-5B45-402B8340B5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05360C3-B40C-C805-0E25-1FB269CC3D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EC419FCD-E11A-A465-D7B9-9932CC9989D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1E992D0-4B27-4BAC-A131-633BE998B388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4" name="Rectangle 6">
            <a:extLst>
              <a:ext uri="{FF2B5EF4-FFF2-40B4-BE49-F238E27FC236}">
                <a16:creationId xmlns:a16="http://schemas.microsoft.com/office/drawing/2014/main" id="{F7C9ED4E-3D5B-19DF-9C62-337C0A806FD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7525" name="Rectangle 7">
            <a:extLst>
              <a:ext uri="{FF2B5EF4-FFF2-40B4-BE49-F238E27FC236}">
                <a16:creationId xmlns:a16="http://schemas.microsoft.com/office/drawing/2014/main" id="{3B25EBC0-8A7D-4DC1-D4C3-3CEB2148BB2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39EA3F7-BC91-4234-A3CF-8243854EFA0F}" type="slidenum">
              <a:rPr lang="en-US" altLang="en-US">
                <a:latin typeface="Times New Roman" panose="02020603050405020304" pitchFamily="18" charset="0"/>
              </a:rPr>
              <a:pPr/>
              <a:t>81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6" name="Rectangle 2">
            <a:extLst>
              <a:ext uri="{FF2B5EF4-FFF2-40B4-BE49-F238E27FC236}">
                <a16:creationId xmlns:a16="http://schemas.microsoft.com/office/drawing/2014/main" id="{A66298B1-58AA-FFB8-6850-E7851DE345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7" name="Rectangle 3">
            <a:extLst>
              <a:ext uri="{FF2B5EF4-FFF2-40B4-BE49-F238E27FC236}">
                <a16:creationId xmlns:a16="http://schemas.microsoft.com/office/drawing/2014/main" id="{EB9693B2-E47F-363F-47FD-EFE4362B5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107E51D7-DA50-3CF3-B588-7E2E454990D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The University of Adelaide, School of Computer Science</a:t>
            </a:r>
          </a:p>
        </p:txBody>
      </p:sp>
      <p:sp>
        <p:nvSpPr>
          <p:cNvPr id="109571" name="Rectangle 3">
            <a:extLst>
              <a:ext uri="{FF2B5EF4-FFF2-40B4-BE49-F238E27FC236}">
                <a16:creationId xmlns:a16="http://schemas.microsoft.com/office/drawing/2014/main" id="{A700B96D-987D-E48F-0BAE-886B3874297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CEC7EA6-3171-41EF-A793-FB0049D87224}" type="datetime3">
              <a:rPr lang="en-US" altLang="en-US" smtClean="0">
                <a:latin typeface="Times New Roman" panose="02020603050405020304" pitchFamily="18" charset="0"/>
              </a:rPr>
              <a:pPr/>
              <a:t>6 April 2026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2" name="Rectangle 6">
            <a:extLst>
              <a:ext uri="{FF2B5EF4-FFF2-40B4-BE49-F238E27FC236}">
                <a16:creationId xmlns:a16="http://schemas.microsoft.com/office/drawing/2014/main" id="{E9B17C5F-7412-A324-8303-D47DE48D485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>
                <a:latin typeface="Times New Roman" panose="02020603050405020304" pitchFamily="18" charset="0"/>
              </a:rPr>
              <a:t>Chapter 2 — Instructions: Language of the Computer</a:t>
            </a:r>
          </a:p>
        </p:txBody>
      </p:sp>
      <p:sp>
        <p:nvSpPr>
          <p:cNvPr id="109573" name="Rectangle 7">
            <a:extLst>
              <a:ext uri="{FF2B5EF4-FFF2-40B4-BE49-F238E27FC236}">
                <a16:creationId xmlns:a16="http://schemas.microsoft.com/office/drawing/2014/main" id="{5D89EE4F-1354-4D49-3A56-6AB98D686D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C55018-627E-45A5-A6E2-DDB656EDC134}" type="slidenum">
              <a:rPr lang="en-US" altLang="en-US">
                <a:latin typeface="Times New Roman" panose="02020603050405020304" pitchFamily="18" charset="0"/>
              </a:rPr>
              <a:pPr/>
              <a:t>82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4" name="Rectangle 2">
            <a:extLst>
              <a:ext uri="{FF2B5EF4-FFF2-40B4-BE49-F238E27FC236}">
                <a16:creationId xmlns:a16="http://schemas.microsoft.com/office/drawing/2014/main" id="{1C39EA47-D6CC-DED0-849B-E185243796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5" name="Rectangle 3">
            <a:extLst>
              <a:ext uri="{FF2B5EF4-FFF2-40B4-BE49-F238E27FC236}">
                <a16:creationId xmlns:a16="http://schemas.microsoft.com/office/drawing/2014/main" id="{5A0DE90B-0E19-8CCC-F195-B9EADF3096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AU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126D4C9A-861F-BD13-4283-66A5D387A7D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AA93AA95-80A8-F7FE-B781-3E12E3178D2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370D034-26C7-4DC1-A5B0-DE78787D3033}" type="datetime3">
              <a:rPr lang="en-AU" altLang="en-US" smtClean="0">
                <a:latin typeface="Times New Roman" panose="02020603050405020304" pitchFamily="18" charset="0"/>
              </a:rPr>
              <a:pPr/>
              <a:t>6 April, 2026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80" name="Rectangle 6">
            <a:extLst>
              <a:ext uri="{FF2B5EF4-FFF2-40B4-BE49-F238E27FC236}">
                <a16:creationId xmlns:a16="http://schemas.microsoft.com/office/drawing/2014/main" id="{A3CCED5E-2EF3-A6DD-BB40-DFA60BDF7CA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24581" name="Rectangle 7">
            <a:extLst>
              <a:ext uri="{FF2B5EF4-FFF2-40B4-BE49-F238E27FC236}">
                <a16:creationId xmlns:a16="http://schemas.microsoft.com/office/drawing/2014/main" id="{A607C5A8-063A-2A19-7EE0-2F9B1190F1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76EDABE-60EC-45C8-BEC4-AEC1BA19F0B6}" type="slidenum">
              <a:rPr lang="en-AU" altLang="en-US">
                <a:latin typeface="Times New Roman" panose="02020603050405020304" pitchFamily="18" charset="0"/>
              </a:rPr>
              <a:pPr/>
              <a:t>85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24582" name="Rectangle 2">
            <a:extLst>
              <a:ext uri="{FF2B5EF4-FFF2-40B4-BE49-F238E27FC236}">
                <a16:creationId xmlns:a16="http://schemas.microsoft.com/office/drawing/2014/main" id="{C3B8D97D-E934-07C8-2058-6FA67E1278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3" name="Rectangle 3">
            <a:extLst>
              <a:ext uri="{FF2B5EF4-FFF2-40B4-BE49-F238E27FC236}">
                <a16:creationId xmlns:a16="http://schemas.microsoft.com/office/drawing/2014/main" id="{B5A415E1-F625-785A-11C8-719712C324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D601AF25-AFD2-F06C-12F7-90B2DF1DD78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Morgan Kaufmann Publishers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0C70AD0A-B2B3-1222-FA8E-57BE3B3594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767D72-B0F5-41B5-88F1-25C250E4FCF1}" type="datetime3">
              <a:rPr lang="en-AU" altLang="en-US" smtClean="0">
                <a:latin typeface="Times New Roman" panose="02020603050405020304" pitchFamily="18" charset="0"/>
              </a:rPr>
              <a:pPr/>
              <a:t>6 April, 2026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4820" name="Rectangle 6">
            <a:extLst>
              <a:ext uri="{FF2B5EF4-FFF2-40B4-BE49-F238E27FC236}">
                <a16:creationId xmlns:a16="http://schemas.microsoft.com/office/drawing/2014/main" id="{5386F938-79F3-BE23-AC32-1D7EA87389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AU" altLang="en-US">
                <a:latin typeface="Times New Roman" panose="02020603050405020304" pitchFamily="18" charset="0"/>
              </a:rPr>
              <a:t>Chapter 3 — Arithmetic for Computers</a:t>
            </a:r>
          </a:p>
        </p:txBody>
      </p:sp>
      <p:sp>
        <p:nvSpPr>
          <p:cNvPr id="34821" name="Rectangle 7">
            <a:extLst>
              <a:ext uri="{FF2B5EF4-FFF2-40B4-BE49-F238E27FC236}">
                <a16:creationId xmlns:a16="http://schemas.microsoft.com/office/drawing/2014/main" id="{6D911EF1-6219-4670-3B67-1729E3E0C5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17F8442-9B4F-4D13-84AF-1C6C77916744}" type="slidenum">
              <a:rPr lang="en-AU" altLang="en-US">
                <a:latin typeface="Times New Roman" panose="02020603050405020304" pitchFamily="18" charset="0"/>
              </a:rPr>
              <a:pPr/>
              <a:t>86</a:t>
            </a:fld>
            <a:endParaRPr lang="en-AU" altLang="en-US">
              <a:latin typeface="Times New Roman" panose="02020603050405020304" pitchFamily="18" charset="0"/>
            </a:endParaRPr>
          </a:p>
        </p:txBody>
      </p:sp>
      <p:sp>
        <p:nvSpPr>
          <p:cNvPr id="34822" name="Rectangle 2">
            <a:extLst>
              <a:ext uri="{FF2B5EF4-FFF2-40B4-BE49-F238E27FC236}">
                <a16:creationId xmlns:a16="http://schemas.microsoft.com/office/drawing/2014/main" id="{C42207FD-5589-7FA2-A316-7848C4FE72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3" name="Rectangle 3">
            <a:extLst>
              <a:ext uri="{FF2B5EF4-FFF2-40B4-BE49-F238E27FC236}">
                <a16:creationId xmlns:a16="http://schemas.microsoft.com/office/drawing/2014/main" id="{5F499405-FBB6-B087-15D8-4EB198F71F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5458-EEEA-4E6A-C7E4-BC6B42788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608C0-64AF-1362-B8BA-743C2E305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E77481-9C42-992C-B9DF-D1BF07413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CC710-2608-91A5-67D0-B4AC99730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548C8-D88C-8D8D-46A5-39FE2BACD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57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D68DB-A170-652C-61E9-D22F61078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E418F5-6268-C78A-7E24-B1AA5A867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76EBF-8566-1F02-0EBA-3E8FEB3DA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6FFFBC-9B0E-BE61-D4EA-2610983D5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6ACB3-9919-7095-9FE5-B9CF56A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538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D8E34-2724-C7AD-C84C-1EF1DF86C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80D7C5-5CC2-B458-CA63-F1768CC6E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2E091D-9501-0B96-1022-EF57EE94C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B746F-3EAD-227C-7F6D-5C17D110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57F98-BEA9-08CA-D368-2D09D8A84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761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648A0-2BD8-C31C-F63C-4F9FB552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148AA-E0E5-BBF6-E8FD-DD6F929215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22017-226A-1EEA-C691-A08E6794F6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D9198-4C94-34CE-8A0E-3FE58AEFA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F0633-CC9F-CE3C-12A4-66D7014C6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676769-D91A-CE4D-8543-7DD6A15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368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01AB8-9CCB-F1E0-352D-CBE2925E5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0FF58-DFD5-C1E1-60DA-C7BB444F8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B488E2-A090-3501-BC45-462A574303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0A48CE-6292-1F20-D698-B6AE3B52D9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F64095-4907-6634-80EA-E1C6669CD1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59BCC-198F-3932-B9EF-C725FA4DC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3D34F-EF17-F033-A4B2-253589C16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37EF67-95C3-EDE1-5DFD-4208EB74B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6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BB17A-EF64-FB37-A475-7D6341F0A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B8F4C-F5B5-F4D4-19F3-14096561F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61C3DD-85C2-DF52-E9E3-A0C1C486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CE7814-DDBA-ED89-B570-1BDD26AE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8956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EF2C45-8047-BA69-FB3F-21CE48549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83FB7-30AB-A73C-83A3-0B5ABC868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8C645-A8CD-C564-8B0D-DEC5BB048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700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E93DD-D5F5-AE80-BD7F-40D950FF8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3FF9B-10DA-2F14-044C-D955543B3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663A74-7574-0FBA-0F58-1EB7A287A5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1D4B-4939-B34E-214C-15583379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9F8E62-AB38-F964-0186-1B8D117E0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9AB26-D611-4E94-631F-7074E1147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7714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D824C-4303-06B4-4EF5-186032CC6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994A87-03AC-ACD2-5F4B-AABCF30427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4E001-CFDE-A61A-DD87-31CC05D2F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1734E8-73D7-FBC9-92A1-07AD711FC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875DE2-7C27-1DCE-F1CD-32B3C66E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9F0ED-941E-391E-ACAB-DF1815FF7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28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8B93-96A3-C4E7-70A3-B80635542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9EE6CC-C498-A662-262E-E9F6EC8053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7CF59-6B61-D0F1-733A-249BDE3AF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61D6-A066-26C1-82FF-5B1298CD3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6679C-20BE-6837-628C-68C652354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15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DEA566-A20A-13C6-B797-5447B3FBF7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21714-F4EC-9329-5A1C-2A6CC1B2F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5D974-1B81-6A12-3BB4-08D2022DB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7221BF-497A-1BBC-93FF-636D95140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057D7-46D7-D194-3B6F-B4A6E9D3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4806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284" y="146050"/>
            <a:ext cx="11013016" cy="762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285" y="1125538"/>
            <a:ext cx="5412316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27800" y="1125538"/>
            <a:ext cx="5412317" cy="5111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F9164A6-B6E4-2B08-6962-2432EB0CC20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AU" altLang="en-US"/>
              <a:t>Chapter 1 — Computer Abstractions and Technology — </a:t>
            </a:r>
            <a:fld id="{B6660C6A-F8ED-4A72-8021-A8DA7C5230E0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5126213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4B555E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A9A9A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43544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6EC260-C8E3-9156-4803-EBE7C35BC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42E053-9811-A6EF-633B-204397E37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35960-9448-DA47-F960-2EC77805B9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E15DBC-A290-4466-97AD-5E9D3B2363ED}" type="datetimeFigureOut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A1E1FF-8992-925C-601D-A3598C98EC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569F0-A5E5-AC3C-69CF-8840DBAB9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E736C9-9B29-409A-8661-AEB39DCD50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079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hyperlink" Target="https://youtu.be/GTHHDZeIzcA?si=HIEgUO5TFjhPbfBD" TargetMode="External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GTHHDZeIzcA?si=VG-ZE09BMDB89EU8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hyperlink" Target="https://five-embeddev.com/quickref/interrupts.html" TargetMode="External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customXml" Target="../ink/ink4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customXml" Target="../ink/ink6.xml"/><Relationship Id="rId4" Type="http://schemas.openxmlformats.org/officeDocument/2006/relationships/image" Target="../media/image370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0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8905-BF53-7AB1-38E1-CFA360975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4318" y="2027336"/>
            <a:ext cx="9144000" cy="2387600"/>
          </a:xfrm>
        </p:spPr>
        <p:txBody>
          <a:bodyPr>
            <a:normAutofit/>
          </a:bodyPr>
          <a:lstStyle/>
          <a:p>
            <a:r>
              <a:rPr lang="en-US" sz="16600"/>
              <a:t>RISC-V</a:t>
            </a:r>
            <a:endParaRPr lang="en-US" sz="16600" dirty="0"/>
          </a:p>
        </p:txBody>
      </p:sp>
    </p:spTree>
    <p:extLst>
      <p:ext uri="{BB962C8B-B14F-4D97-AF65-F5344CB8AC3E}">
        <p14:creationId xmlns:p14="http://schemas.microsoft.com/office/powerpoint/2010/main" val="1829186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B8D16630-D0CA-061D-80A3-821F71326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10515600" cy="1325563"/>
          </a:xfrm>
        </p:spPr>
        <p:txBody>
          <a:bodyPr/>
          <a:lstStyle/>
          <a:p>
            <a:r>
              <a:rPr lang="en-US" altLang="en-US" dirty="0"/>
              <a:t>Eight Great Ideas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2B755F63-1B15-AAB9-6D21-158DCFA56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en-US" sz="2400" dirty="0"/>
              <a:t>Design for </a:t>
            </a:r>
            <a:r>
              <a:rPr lang="en-US" altLang="en-US" sz="2400" b="1" i="1" dirty="0"/>
              <a:t>Moore’s Law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Use </a:t>
            </a:r>
            <a:r>
              <a:rPr lang="en-US" altLang="en-US" sz="2400" b="1" i="1" dirty="0"/>
              <a:t>abstraction</a:t>
            </a:r>
            <a:r>
              <a:rPr lang="en-US" altLang="en-US" sz="2400" dirty="0"/>
              <a:t> to simplify design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Make the </a:t>
            </a:r>
            <a:r>
              <a:rPr lang="en-US" altLang="en-US" sz="2400" b="1" i="1" dirty="0"/>
              <a:t>common case fast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Performance </a:t>
            </a:r>
            <a:r>
              <a:rPr lang="en-US" altLang="en-US" sz="2400" i="1" dirty="0"/>
              <a:t>via</a:t>
            </a:r>
            <a:r>
              <a:rPr lang="en-US" altLang="en-US" sz="2400" dirty="0"/>
              <a:t> </a:t>
            </a:r>
            <a:r>
              <a:rPr lang="en-US" altLang="en-US" sz="2400" b="1" i="1" dirty="0"/>
              <a:t>parallelism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Performance </a:t>
            </a:r>
            <a:r>
              <a:rPr lang="en-US" altLang="en-US" sz="2400" i="1" dirty="0"/>
              <a:t>via</a:t>
            </a:r>
            <a:r>
              <a:rPr lang="en-US" altLang="en-US" sz="2400" dirty="0"/>
              <a:t> </a:t>
            </a:r>
            <a:r>
              <a:rPr lang="en-US" altLang="en-US" sz="2400" b="1" i="1" dirty="0"/>
              <a:t>pipelining</a:t>
            </a:r>
          </a:p>
          <a:p>
            <a:pPr>
              <a:lnSpc>
                <a:spcPct val="150000"/>
              </a:lnSpc>
            </a:pPr>
            <a:r>
              <a:rPr lang="en-US" altLang="en-US" sz="2400" dirty="0"/>
              <a:t>Performance </a:t>
            </a:r>
            <a:r>
              <a:rPr lang="en-US" altLang="en-US" sz="2400" i="1" dirty="0"/>
              <a:t>via</a:t>
            </a:r>
            <a:r>
              <a:rPr lang="en-US" altLang="en-US" sz="2400" dirty="0"/>
              <a:t> </a:t>
            </a:r>
            <a:r>
              <a:rPr lang="en-US" altLang="en-US" sz="2400" b="1" i="1" dirty="0"/>
              <a:t>prediction</a:t>
            </a:r>
          </a:p>
          <a:p>
            <a:pPr>
              <a:lnSpc>
                <a:spcPct val="150000"/>
              </a:lnSpc>
            </a:pPr>
            <a:r>
              <a:rPr lang="en-US" altLang="en-US" sz="2400" b="1" i="1" dirty="0"/>
              <a:t>Hierarchy</a:t>
            </a:r>
            <a:r>
              <a:rPr lang="en-US" altLang="en-US" sz="2400" dirty="0"/>
              <a:t> of memories</a:t>
            </a:r>
          </a:p>
          <a:p>
            <a:pPr>
              <a:lnSpc>
                <a:spcPct val="150000"/>
              </a:lnSpc>
            </a:pPr>
            <a:r>
              <a:rPr lang="en-US" altLang="en-US" sz="2400" b="1" i="1" dirty="0"/>
              <a:t>Dependability</a:t>
            </a:r>
            <a:r>
              <a:rPr lang="en-US" altLang="en-US" sz="2400" dirty="0"/>
              <a:t> </a:t>
            </a:r>
            <a:r>
              <a:rPr lang="en-US" altLang="en-US" sz="2400" i="1" dirty="0"/>
              <a:t>via</a:t>
            </a:r>
            <a:r>
              <a:rPr lang="en-US" altLang="en-US" sz="2400" dirty="0"/>
              <a:t> redundancy</a:t>
            </a:r>
          </a:p>
        </p:txBody>
      </p:sp>
      <p:pic>
        <p:nvPicPr>
          <p:cNvPr id="19462" name="Picture 6">
            <a:extLst>
              <a:ext uri="{FF2B5EF4-FFF2-40B4-BE49-F238E27FC236}">
                <a16:creationId xmlns:a16="http://schemas.microsoft.com/office/drawing/2014/main" id="{EC9E5C81-98DB-BC74-91BA-0917E084E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8888" y="1112838"/>
            <a:ext cx="64770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>
            <a:extLst>
              <a:ext uri="{FF2B5EF4-FFF2-40B4-BE49-F238E27FC236}">
                <a16:creationId xmlns:a16="http://schemas.microsoft.com/office/drawing/2014/main" id="{639B8DF0-4FEF-4868-15C0-31ACC953EB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0438" y="1760538"/>
            <a:ext cx="576262" cy="78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8">
            <a:extLst>
              <a:ext uri="{FF2B5EF4-FFF2-40B4-BE49-F238E27FC236}">
                <a16:creationId xmlns:a16="http://schemas.microsoft.com/office/drawing/2014/main" id="{7C195FC9-D46E-DCBB-B8FD-768483A2B7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9350" y="2389188"/>
            <a:ext cx="858838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9">
            <a:extLst>
              <a:ext uri="{FF2B5EF4-FFF2-40B4-BE49-F238E27FC236}">
                <a16:creationId xmlns:a16="http://schemas.microsoft.com/office/drawing/2014/main" id="{FF455D1F-F946-F965-BDF5-1435CFFF6B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9000" y="2997200"/>
            <a:ext cx="719138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10">
            <a:extLst>
              <a:ext uri="{FF2B5EF4-FFF2-40B4-BE49-F238E27FC236}">
                <a16:creationId xmlns:a16="http://schemas.microsoft.com/office/drawing/2014/main" id="{388B1165-66F8-1E64-4079-459D269C27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1900" y="3597276"/>
            <a:ext cx="698500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11">
            <a:extLst>
              <a:ext uri="{FF2B5EF4-FFF2-40B4-BE49-F238E27FC236}">
                <a16:creationId xmlns:a16="http://schemas.microsoft.com/office/drawing/2014/main" id="{9CD2FBEB-AD95-192A-D91C-F82234076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0113" y="4197350"/>
            <a:ext cx="690562" cy="90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12">
            <a:extLst>
              <a:ext uri="{FF2B5EF4-FFF2-40B4-BE49-F238E27FC236}">
                <a16:creationId xmlns:a16="http://schemas.microsoft.com/office/drawing/2014/main" id="{E39604EB-807E-3980-5DAF-DD8D57D57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5863" y="4808538"/>
            <a:ext cx="787400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9" name="Picture 13">
            <a:extLst>
              <a:ext uri="{FF2B5EF4-FFF2-40B4-BE49-F238E27FC236}">
                <a16:creationId xmlns:a16="http://schemas.microsoft.com/office/drawing/2014/main" id="{B0973A5E-A170-8341-D6B2-5CB3C1CB1C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9464" y="5586413"/>
            <a:ext cx="922337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B4ECCF-F675-662C-8446-F2B091727AE6}"/>
              </a:ext>
            </a:extLst>
          </p:cNvPr>
          <p:cNvSpPr txBox="1"/>
          <p:nvPr/>
        </p:nvSpPr>
        <p:spPr>
          <a:xfrm>
            <a:off x="10835847" y="365760"/>
            <a:ext cx="896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hlinkClick r:id="rId10"/>
              </a:rPr>
              <a:t>Link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CE5876D7-7FF1-6688-8A97-6B7EC731C8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1248" y="365760"/>
            <a:ext cx="10515600" cy="1325880"/>
          </a:xfrm>
        </p:spPr>
        <p:txBody>
          <a:bodyPr/>
          <a:lstStyle/>
          <a:p>
            <a:pPr eaLnBrk="1" hangingPunct="1"/>
            <a:r>
              <a:rPr lang="en-US" altLang="en-US" dirty="0"/>
              <a:t>Below Your Program</a:t>
            </a:r>
            <a:endParaRPr lang="en-AU" altLang="en-US" dirty="0"/>
          </a:p>
        </p:txBody>
      </p:sp>
      <p:sp>
        <p:nvSpPr>
          <p:cNvPr id="20484" name="Rectangle 6">
            <a:extLst>
              <a:ext uri="{FF2B5EF4-FFF2-40B4-BE49-F238E27FC236}">
                <a16:creationId xmlns:a16="http://schemas.microsoft.com/office/drawing/2014/main" id="{2D59BBF9-C1AE-A07D-55AA-1EA0DF9FCA92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4656138" y="1125538"/>
            <a:ext cx="5822950" cy="5111750"/>
          </a:xfrm>
        </p:spPr>
        <p:txBody>
          <a:bodyPr/>
          <a:lstStyle/>
          <a:p>
            <a:pPr eaLnBrk="1" hangingPunct="1"/>
            <a:r>
              <a:rPr lang="en-US" altLang="en-US"/>
              <a:t>Application software</a:t>
            </a:r>
          </a:p>
          <a:p>
            <a:pPr lvl="1" eaLnBrk="1" hangingPunct="1"/>
            <a:r>
              <a:rPr lang="en-US" altLang="en-US"/>
              <a:t>Written in high-level language</a:t>
            </a:r>
          </a:p>
          <a:p>
            <a:pPr eaLnBrk="1" hangingPunct="1"/>
            <a:r>
              <a:rPr lang="en-US" altLang="en-US"/>
              <a:t>System software</a:t>
            </a:r>
          </a:p>
          <a:p>
            <a:pPr lvl="1" eaLnBrk="1" hangingPunct="1"/>
            <a:r>
              <a:rPr lang="en-US" altLang="en-US"/>
              <a:t>Compiler: translates HLL code to machine code</a:t>
            </a:r>
          </a:p>
          <a:p>
            <a:pPr lvl="1" eaLnBrk="1" hangingPunct="1"/>
            <a:r>
              <a:rPr lang="en-US" altLang="en-US"/>
              <a:t>Operating System: service code</a:t>
            </a:r>
          </a:p>
          <a:p>
            <a:pPr lvl="2" eaLnBrk="1" hangingPunct="1"/>
            <a:r>
              <a:rPr lang="en-US" altLang="en-US"/>
              <a:t>Handling input/output</a:t>
            </a:r>
          </a:p>
          <a:p>
            <a:pPr lvl="2" eaLnBrk="1" hangingPunct="1"/>
            <a:r>
              <a:rPr lang="en-US" altLang="en-US"/>
              <a:t>Managing memory and storage</a:t>
            </a:r>
          </a:p>
          <a:p>
            <a:pPr lvl="2" eaLnBrk="1" hangingPunct="1"/>
            <a:r>
              <a:rPr lang="en-US" altLang="en-US"/>
              <a:t>Scheduling tasks &amp; sharing resources</a:t>
            </a:r>
          </a:p>
          <a:p>
            <a:pPr eaLnBrk="1" hangingPunct="1"/>
            <a:r>
              <a:rPr lang="en-US" altLang="en-US"/>
              <a:t>Hardware</a:t>
            </a:r>
          </a:p>
          <a:p>
            <a:pPr lvl="1" eaLnBrk="1" hangingPunct="1"/>
            <a:r>
              <a:rPr lang="en-US" altLang="en-US"/>
              <a:t>Processor, memory, I/O controllers</a:t>
            </a:r>
            <a:endParaRPr lang="en-AU" altLang="en-US"/>
          </a:p>
        </p:txBody>
      </p:sp>
      <p:pic>
        <p:nvPicPr>
          <p:cNvPr id="20486" name="Picture 11" descr="f01-02-P374493">
            <a:extLst>
              <a:ext uri="{FF2B5EF4-FFF2-40B4-BE49-F238E27FC236}">
                <a16:creationId xmlns:a16="http://schemas.microsoft.com/office/drawing/2014/main" id="{7B83CFBD-AC65-82F0-D1B9-C10A20CEA5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2781300"/>
            <a:ext cx="24003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8">
            <a:extLst>
              <a:ext uri="{FF2B5EF4-FFF2-40B4-BE49-F238E27FC236}">
                <a16:creationId xmlns:a16="http://schemas.microsoft.com/office/drawing/2014/main" id="{638B967D-042B-23BD-189E-065284E7D5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7432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Levels of Program Code</a:t>
            </a:r>
            <a:endParaRPr lang="en-AU" altLang="en-US" dirty="0"/>
          </a:p>
        </p:txBody>
      </p:sp>
      <p:sp>
        <p:nvSpPr>
          <p:cNvPr id="22532" name="Rectangle 9">
            <a:extLst>
              <a:ext uri="{FF2B5EF4-FFF2-40B4-BE49-F238E27FC236}">
                <a16:creationId xmlns:a16="http://schemas.microsoft.com/office/drawing/2014/main" id="{DD685D0C-33A8-7E69-1EA9-297860060A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8"/>
            <a:ext cx="47513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High-level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Level of abstraction closer to problem domain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Provides for productivity and portability </a:t>
            </a:r>
            <a:endParaRPr lang="en-AU" altLang="en-US" dirty="0"/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Assembly language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Textual representation of instructions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Hardware representation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Binary digits (bits)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Encoded instructions and data</a:t>
            </a:r>
          </a:p>
        </p:txBody>
      </p:sp>
      <p:pic>
        <p:nvPicPr>
          <p:cNvPr id="22533" name="Picture 1">
            <a:extLst>
              <a:ext uri="{FF2B5EF4-FFF2-40B4-BE49-F238E27FC236}">
                <a16:creationId xmlns:a16="http://schemas.microsoft.com/office/drawing/2014/main" id="{58FCCBAB-0E26-E743-845F-18B220141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2600" y="1125538"/>
            <a:ext cx="3367088" cy="5268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5CDA5-B622-5DED-5158-6819779B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RISC V?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2BE356-D712-3675-D95D-F3489AB01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Silicon vendors look for ways to innovate, </a:t>
            </a:r>
            <a:r>
              <a:rPr lang="en-US" dirty="0">
                <a:solidFill>
                  <a:schemeClr val="accent1"/>
                </a:solidFill>
              </a:rPr>
              <a:t>reduce costs </a:t>
            </a:r>
            <a:r>
              <a:rPr lang="en-US" dirty="0"/>
              <a:t>and stay ahead of the competition, many are now turning to RISC-V, the </a:t>
            </a:r>
            <a:r>
              <a:rPr lang="en-US" dirty="0">
                <a:solidFill>
                  <a:schemeClr val="accent1"/>
                </a:solidFill>
              </a:rPr>
              <a:t>open standard instruction set architecture </a:t>
            </a:r>
            <a:r>
              <a:rPr lang="en-US" dirty="0"/>
              <a:t>(ISA).</a:t>
            </a:r>
          </a:p>
          <a:p>
            <a:r>
              <a:rPr lang="en-US" dirty="0">
                <a:solidFill>
                  <a:schemeClr val="accent1"/>
                </a:solidFill>
              </a:rPr>
              <a:t>RISC-V is enabling a new, collaborative era of processor innovation.</a:t>
            </a:r>
          </a:p>
          <a:p>
            <a:r>
              <a:rPr lang="en-US" dirty="0"/>
              <a:t>Because it’s open standard, architects, designers and developers can </a:t>
            </a:r>
            <a:r>
              <a:rPr lang="en-US" dirty="0">
                <a:solidFill>
                  <a:schemeClr val="accent1"/>
                </a:solidFill>
              </a:rPr>
              <a:t>modify and improve upon the existing ISA </a:t>
            </a:r>
            <a:r>
              <a:rPr lang="en-US" dirty="0"/>
              <a:t>codebase as needed.</a:t>
            </a:r>
          </a:p>
          <a:p>
            <a:r>
              <a:rPr lang="en-US" dirty="0"/>
              <a:t>This flexibility has allowed teams to </a:t>
            </a:r>
            <a:r>
              <a:rPr lang="en-US" dirty="0">
                <a:solidFill>
                  <a:schemeClr val="accent1"/>
                </a:solidFill>
              </a:rPr>
              <a:t>experiment with architectures and chip designs within the same ISA</a:t>
            </a:r>
            <a:r>
              <a:rPr lang="en-US" dirty="0"/>
              <a:t> and has enabled a collaborative environment</a:t>
            </a:r>
          </a:p>
        </p:txBody>
      </p:sp>
    </p:spTree>
    <p:extLst>
      <p:ext uri="{BB962C8B-B14F-4D97-AF65-F5344CB8AC3E}">
        <p14:creationId xmlns:p14="http://schemas.microsoft.com/office/powerpoint/2010/main" val="31897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1336F-2BFF-FC03-066A-42D6F0CA2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RISC-V.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9F7D3C-D756-9A7B-991E-AFF1EF0DB3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development of the RISC-V standard began in </a:t>
            </a:r>
            <a:r>
              <a:rPr lang="en-US" dirty="0">
                <a:solidFill>
                  <a:schemeClr val="accent1"/>
                </a:solidFill>
              </a:rPr>
              <a:t>2010</a:t>
            </a:r>
            <a:r>
              <a:rPr lang="en-US" dirty="0"/>
              <a:t> when researchers at </a:t>
            </a:r>
            <a:r>
              <a:rPr lang="en-US" dirty="0">
                <a:solidFill>
                  <a:schemeClr val="accent1"/>
                </a:solidFill>
              </a:rPr>
              <a:t>the University of California</a:t>
            </a:r>
            <a:r>
              <a:rPr lang="en-US" dirty="0"/>
              <a:t>, Berkeley created a simple, yet powerful ISA that could be used by anyone with minimal restrictions. </a:t>
            </a:r>
          </a:p>
          <a:p>
            <a:r>
              <a:rPr lang="en-US" dirty="0"/>
              <a:t>It was </a:t>
            </a:r>
            <a:r>
              <a:rPr lang="en-US" dirty="0">
                <a:solidFill>
                  <a:schemeClr val="accent1"/>
                </a:solidFill>
              </a:rPr>
              <a:t>released</a:t>
            </a:r>
            <a:r>
              <a:rPr lang="en-US" dirty="0"/>
              <a:t> in </a:t>
            </a:r>
            <a:r>
              <a:rPr lang="en-US" dirty="0">
                <a:solidFill>
                  <a:schemeClr val="accent1"/>
                </a:solidFill>
              </a:rPr>
              <a:t>2015</a:t>
            </a:r>
            <a:r>
              <a:rPr lang="en-US" dirty="0"/>
              <a:t> as a </a:t>
            </a:r>
            <a:r>
              <a:rPr lang="en-US" dirty="0">
                <a:solidFill>
                  <a:schemeClr val="accent1"/>
                </a:solidFill>
              </a:rPr>
              <a:t>free and open-standard ISA </a:t>
            </a:r>
            <a:r>
              <a:rPr lang="en-US" dirty="0"/>
              <a:t>that allows anyone to design, manufacture and sell processors based on the RISC-V specification — </a:t>
            </a:r>
            <a:r>
              <a:rPr lang="en-US" b="1" dirty="0">
                <a:solidFill>
                  <a:schemeClr val="accent1"/>
                </a:solidFill>
              </a:rPr>
              <a:t>without royalties or license fees</a:t>
            </a:r>
            <a:r>
              <a:rPr lang="en-US" dirty="0"/>
              <a:t>.</a:t>
            </a:r>
          </a:p>
          <a:p>
            <a:r>
              <a:rPr lang="en-US" altLang="en-US" dirty="0"/>
              <a:t>Now managed by the RISC-V Foundation (</a:t>
            </a:r>
            <a:r>
              <a:rPr lang="en-US" altLang="en-US" u="sng" dirty="0">
                <a:solidFill>
                  <a:schemeClr val="accent1"/>
                </a:solidFill>
              </a:rPr>
              <a:t>riscv.org</a:t>
            </a:r>
            <a:r>
              <a:rPr lang="en-US" altLang="en-US" dirty="0"/>
              <a:t>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683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04883-6559-E9BC-EB8E-D8079CA61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Industry Opinion about RISC V &amp;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DCBCDF-A40B-5E5C-84F0-0BFDA9E156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87" y="1432874"/>
            <a:ext cx="11481847" cy="5307291"/>
          </a:xfrm>
        </p:spPr>
        <p:txBody>
          <a:bodyPr>
            <a:normAutofit/>
          </a:bodyPr>
          <a:lstStyle/>
          <a:p>
            <a:r>
              <a:rPr lang="en-US" dirty="0"/>
              <a:t>RISC-V has grown rapidly due to its </a:t>
            </a:r>
            <a:r>
              <a:rPr lang="en-US" dirty="0">
                <a:solidFill>
                  <a:schemeClr val="accent1"/>
                </a:solidFill>
              </a:rPr>
              <a:t>flexibility and cost-saving benefits </a:t>
            </a:r>
            <a:r>
              <a:rPr lang="en-US" dirty="0"/>
              <a:t>because it can be an ideal way to </a:t>
            </a:r>
            <a:r>
              <a:rPr lang="en-US" dirty="0">
                <a:solidFill>
                  <a:schemeClr val="accent1"/>
                </a:solidFill>
              </a:rPr>
              <a:t>customize computing environments </a:t>
            </a:r>
            <a:r>
              <a:rPr lang="en-US" dirty="0"/>
              <a:t>without the high costs of proprietary ISA’s.</a:t>
            </a:r>
          </a:p>
          <a:p>
            <a:r>
              <a:rPr lang="en-US" dirty="0"/>
              <a:t>These advantages are quickly being recognized across industries, and businesses have been taking advantage of RISC-V cores for all kinds of applications including								   </a:t>
            </a:r>
            <a:r>
              <a:rPr lang="en-US" dirty="0">
                <a:hlinkClick r:id="rId2"/>
              </a:rPr>
              <a:t>LINK</a:t>
            </a:r>
            <a:endParaRPr lang="en-US" dirty="0"/>
          </a:p>
          <a:p>
            <a:pPr lvl="1"/>
            <a:r>
              <a:rPr lang="en-US" dirty="0"/>
              <a:t>Artificial intelligence (</a:t>
            </a:r>
            <a:r>
              <a:rPr lang="en-US" dirty="0">
                <a:solidFill>
                  <a:schemeClr val="accent1"/>
                </a:solidFill>
              </a:rPr>
              <a:t>AI</a:t>
            </a:r>
            <a:r>
              <a:rPr lang="en-US" dirty="0"/>
              <a:t>) image sensors,</a:t>
            </a:r>
          </a:p>
          <a:p>
            <a:pPr lvl="1"/>
            <a:r>
              <a:rPr lang="en-US" dirty="0"/>
              <a:t>Security management,</a:t>
            </a:r>
          </a:p>
          <a:p>
            <a:pPr lvl="1"/>
            <a:r>
              <a:rPr lang="en-US" dirty="0"/>
              <a:t>AI computing,</a:t>
            </a:r>
          </a:p>
          <a:p>
            <a:pPr lvl="1"/>
            <a:r>
              <a:rPr lang="en-US" dirty="0"/>
              <a:t>Machine control systems for </a:t>
            </a:r>
            <a:r>
              <a:rPr lang="en-US" dirty="0">
                <a:solidFill>
                  <a:schemeClr val="accent1"/>
                </a:solidFill>
              </a:rPr>
              <a:t>5G</a:t>
            </a:r>
            <a:r>
              <a:rPr lang="en-US" dirty="0"/>
              <a:t> networks, and</a:t>
            </a:r>
          </a:p>
          <a:p>
            <a:pPr lvl="1"/>
            <a:r>
              <a:rPr lang="en-US" dirty="0"/>
              <a:t>More sophisticated storage, graphics and machine learning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8651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3A01D45-A2D3-8949-1C62-968079B12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199839"/>
            <a:ext cx="7954485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174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695DB-ABBD-2276-B87B-DE144BF00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 of RISC 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60AE8-5C03-37B9-E2D3-DF08A7DC54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The 3 main advantages of RISC-V</a:t>
            </a:r>
          </a:p>
          <a:p>
            <a:r>
              <a:rPr lang="en-US" b="1" dirty="0">
                <a:solidFill>
                  <a:schemeClr val="accent1"/>
                </a:solidFill>
              </a:rPr>
              <a:t>Flexibility</a:t>
            </a:r>
            <a:r>
              <a:rPr lang="en-US" dirty="0"/>
              <a:t>: RISC-V offers a unique set of features that allow users to </a:t>
            </a:r>
            <a:r>
              <a:rPr lang="en-US" dirty="0">
                <a:solidFill>
                  <a:schemeClr val="accent1"/>
                </a:solidFill>
              </a:rPr>
              <a:t>customize and optimize both software and hardware </a:t>
            </a:r>
            <a:r>
              <a:rPr lang="en-US" dirty="0"/>
              <a:t>for specific use cases, resulting in faster development cycles and better design tradeoffs for performance, power and area.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Control</a:t>
            </a:r>
            <a:r>
              <a:rPr lang="en-US" dirty="0"/>
              <a:t>: This </a:t>
            </a:r>
            <a:r>
              <a:rPr lang="en-US" dirty="0">
                <a:solidFill>
                  <a:schemeClr val="accent1"/>
                </a:solidFill>
              </a:rPr>
              <a:t>open ISA provides designers and developers with greater control over their computing environments</a:t>
            </a:r>
            <a:r>
              <a:rPr lang="en-US" dirty="0"/>
              <a:t>, allowing them to fine-tune their systems without relying on third parties or incurring additional license fees associated with proprietary architectures. </a:t>
            </a:r>
          </a:p>
          <a:p>
            <a:r>
              <a:rPr lang="en-US" b="1" dirty="0">
                <a:solidFill>
                  <a:schemeClr val="accent1"/>
                </a:solidFill>
              </a:rPr>
              <a:t>Visibility</a:t>
            </a:r>
            <a:r>
              <a:rPr lang="en-US" dirty="0"/>
              <a:t>: The open-standard nature of RISC-V also means that </a:t>
            </a:r>
            <a:r>
              <a:rPr lang="en-US" dirty="0">
                <a:solidFill>
                  <a:schemeClr val="accent1"/>
                </a:solidFill>
              </a:rPr>
              <a:t>developers have more visibility into the codebase</a:t>
            </a:r>
            <a:r>
              <a:rPr lang="en-US" dirty="0"/>
              <a:t>, making it easier to understand the roadmap and identify potential security risks before they become an issue. </a:t>
            </a:r>
          </a:p>
        </p:txBody>
      </p:sp>
    </p:spTree>
    <p:extLst>
      <p:ext uri="{BB962C8B-B14F-4D97-AF65-F5344CB8AC3E}">
        <p14:creationId xmlns:p14="http://schemas.microsoft.com/office/powerpoint/2010/main" val="2816306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15BEA-962E-8024-74AE-3E6898AB0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vs RISC V : ISA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542D3C-07CF-EBEA-4C3D-A71533646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4505" y="14296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424242"/>
                </a:solidFill>
                <a:effectLst/>
                <a:latin typeface="__PT_Serif_89977a"/>
              </a:rPr>
              <a:t>ISAs can be broadly categorized into two types: </a:t>
            </a:r>
          </a:p>
          <a:p>
            <a:pPr marL="514350" indent="-514350">
              <a:buAutoNum type="arabicPeriod"/>
            </a:pPr>
            <a:r>
              <a:rPr lang="en-US" b="0" i="0" dirty="0">
                <a:solidFill>
                  <a:schemeClr val="accent1"/>
                </a:solidFill>
                <a:effectLst/>
                <a:latin typeface="__PT_Serif_89977a"/>
              </a:rPr>
              <a:t>Open </a:t>
            </a:r>
            <a:r>
              <a:rPr lang="en-US" dirty="0">
                <a:solidFill>
                  <a:schemeClr val="accent1"/>
                </a:solidFill>
                <a:latin typeface="__PT_Serif_89977a"/>
              </a:rPr>
              <a:t>ISA</a:t>
            </a:r>
          </a:p>
          <a:p>
            <a:pPr marL="514350" indent="-514350">
              <a:buAutoNum type="arabicPeriod"/>
            </a:pPr>
            <a:r>
              <a:rPr lang="en-US" b="0" i="0" dirty="0">
                <a:solidFill>
                  <a:schemeClr val="accent1"/>
                </a:solidFill>
                <a:effectLst/>
                <a:latin typeface="__PT_Serif_89977a"/>
              </a:rPr>
              <a:t>Closed </a:t>
            </a:r>
            <a:r>
              <a:rPr lang="en-US" dirty="0">
                <a:solidFill>
                  <a:schemeClr val="accent1"/>
                </a:solidFill>
                <a:latin typeface="__PT_Serif_89977a"/>
              </a:rPr>
              <a:t>ISA</a:t>
            </a:r>
            <a:r>
              <a:rPr lang="en-US" b="0" i="0" dirty="0">
                <a:solidFill>
                  <a:schemeClr val="accent1"/>
                </a:solidFill>
                <a:effectLst/>
                <a:latin typeface="__PT_Serif_89977a"/>
              </a:rPr>
              <a:t> </a:t>
            </a:r>
          </a:p>
          <a:p>
            <a:pPr lvl="1"/>
            <a:r>
              <a:rPr lang="en-US" b="0" i="0" dirty="0">
                <a:solidFill>
                  <a:srgbClr val="424242"/>
                </a:solidFill>
                <a:effectLst/>
                <a:latin typeface="__PT_Serif_89977a"/>
              </a:rPr>
              <a:t>Closed ISAs, like ARM, are proprietary and tightly controlled by specific companies (Arm Holdings here), offering established reliability and compatibility but limiting customization. </a:t>
            </a:r>
          </a:p>
          <a:p>
            <a:pPr lvl="1"/>
            <a:r>
              <a:rPr lang="en-US" dirty="0">
                <a:solidFill>
                  <a:srgbClr val="424242"/>
                </a:solidFill>
                <a:latin typeface="__PT_Serif_89977a"/>
              </a:rPr>
              <a:t>O</a:t>
            </a:r>
            <a:r>
              <a:rPr lang="en-US" b="0" i="0" dirty="0">
                <a:solidFill>
                  <a:srgbClr val="424242"/>
                </a:solidFill>
                <a:effectLst/>
                <a:latin typeface="__PT_Serif_89977a"/>
              </a:rPr>
              <a:t>pen ISAs, exemplified by RISC-V, are community-driven and provide greater flexibility for customization, fostering innovation and adaptation to specific needs.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9897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F1507-5A01-8B6F-7EF0-E8DC4A41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vs RISC V :  Architectural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34EBAD-F293-5DFA-E29E-99EBA3FA6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4483" y="1766027"/>
            <a:ext cx="6374845" cy="42318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454277B-8F6B-4AB6-AB46-EFEB55E66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4997" y="1758950"/>
            <a:ext cx="5248275" cy="47339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74EA3E-BD0C-63A7-6E69-A0CAC2CC7AA0}"/>
              </a:ext>
            </a:extLst>
          </p:cNvPr>
          <p:cNvSpPr txBox="1"/>
          <p:nvPr/>
        </p:nvSpPr>
        <p:spPr>
          <a:xfrm>
            <a:off x="3803301" y="5533534"/>
            <a:ext cx="2116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16bit compressed instruction is decompressed into 32bit Instruction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4E5A31E-3165-3DDD-2313-E08D4154E23A}"/>
              </a:ext>
            </a:extLst>
          </p:cNvPr>
          <p:cNvCxnSpPr/>
          <p:nvPr/>
        </p:nvCxnSpPr>
        <p:spPr>
          <a:xfrm flipH="1" flipV="1">
            <a:off x="4176074" y="4977353"/>
            <a:ext cx="207390" cy="52790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979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39679-655B-3F78-57CC-FDBF6CD00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vs RISC V : 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B1FE8-1905-FB10-266F-FA1FC65D4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performance comparison between RISC-V and ARM, </a:t>
            </a:r>
          </a:p>
          <a:p>
            <a:r>
              <a:rPr lang="en-US" dirty="0">
                <a:solidFill>
                  <a:schemeClr val="accent1"/>
                </a:solidFill>
              </a:rPr>
              <a:t>ARM's </a:t>
            </a:r>
            <a:r>
              <a:rPr lang="en-US" dirty="0"/>
              <a:t>consistent iteration, comprehensive ecosystem, and wide range of options give it a </a:t>
            </a:r>
            <a:r>
              <a:rPr lang="en-US" dirty="0">
                <a:solidFill>
                  <a:schemeClr val="accent1"/>
                </a:solidFill>
              </a:rPr>
              <a:t>notable performance advantage</a:t>
            </a:r>
            <a:r>
              <a:rPr lang="en-US" dirty="0"/>
              <a:t>. </a:t>
            </a:r>
          </a:p>
          <a:p>
            <a:r>
              <a:rPr lang="en-US" dirty="0"/>
              <a:t>However, </a:t>
            </a:r>
            <a:r>
              <a:rPr lang="en-US" dirty="0">
                <a:solidFill>
                  <a:schemeClr val="accent1"/>
                </a:solidFill>
              </a:rPr>
              <a:t>RISC-V's </a:t>
            </a:r>
            <a:r>
              <a:rPr lang="en-US" dirty="0"/>
              <a:t>modular nature and customization potential hold promise for specific use cases. The ongoing efforts of RISC-V proponents to </a:t>
            </a:r>
            <a:r>
              <a:rPr lang="en-US" dirty="0">
                <a:solidFill>
                  <a:schemeClr val="accent1"/>
                </a:solidFill>
              </a:rPr>
              <a:t>narrow the performance gap will be a crucial factor </a:t>
            </a:r>
            <a:r>
              <a:rPr lang="en-US" dirty="0"/>
              <a:t>in determining how well RISC-V can match ARM's established performance standards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2882974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F4762-AACD-78D3-ECB4-159337BA5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ARM vs RISC V : Power Efficiency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9B61D-C204-38D3-4680-EC0520594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ARM's</a:t>
            </a:r>
            <a:r>
              <a:rPr lang="en-US" dirty="0"/>
              <a:t> refined power management techniques and specialized cores give it a </a:t>
            </a:r>
            <a:r>
              <a:rPr lang="en-US" dirty="0">
                <a:solidFill>
                  <a:schemeClr val="accent1"/>
                </a:solidFill>
              </a:rPr>
              <a:t>major advantage in power efficiency</a:t>
            </a:r>
            <a:r>
              <a:rPr lang="en-US" dirty="0"/>
              <a:t>. </a:t>
            </a:r>
          </a:p>
          <a:p>
            <a:r>
              <a:rPr lang="en-US" dirty="0"/>
              <a:t>While </a:t>
            </a:r>
            <a:r>
              <a:rPr lang="en-US" dirty="0">
                <a:solidFill>
                  <a:schemeClr val="accent1"/>
                </a:solidFill>
              </a:rPr>
              <a:t>RISC-V</a:t>
            </a:r>
            <a:r>
              <a:rPr lang="en-US" dirty="0"/>
              <a:t> holds promise due to its </a:t>
            </a:r>
            <a:r>
              <a:rPr lang="en-US" dirty="0">
                <a:solidFill>
                  <a:schemeClr val="accent1"/>
                </a:solidFill>
              </a:rPr>
              <a:t>customization potential</a:t>
            </a:r>
            <a:r>
              <a:rPr lang="en-US" dirty="0"/>
              <a:t>, its open nature requires a more extensive investment of time and resources to </a:t>
            </a:r>
            <a:r>
              <a:rPr lang="en-US" dirty="0">
                <a:solidFill>
                  <a:schemeClr val="accent1"/>
                </a:solidFill>
              </a:rPr>
              <a:t>fully harness its energy-saving capabilities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762842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0D620-0E7D-599D-E956-9D2DD8D9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RISC V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2AB36-C4DF-52E8-C628-319CCEB216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RISC-V architecture is based on the RISC principles (as compared to CISC), which emphasize a small, simple, and efficient instruction set. </a:t>
            </a:r>
          </a:p>
          <a:p>
            <a:pPr marL="457200" lvl="1" indent="0">
              <a:buNone/>
            </a:pPr>
            <a:r>
              <a:rPr lang="en-US" dirty="0"/>
              <a:t>The key architectural features of RISC-V include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load-store architecture </a:t>
            </a:r>
          </a:p>
          <a:p>
            <a:pPr lvl="1"/>
            <a:r>
              <a:rPr lang="en-US" dirty="0"/>
              <a:t>fixed-length </a:t>
            </a:r>
            <a:r>
              <a:rPr lang="en-US" dirty="0">
                <a:solidFill>
                  <a:schemeClr val="accent1"/>
                </a:solidFill>
              </a:rPr>
              <a:t>32-bit</a:t>
            </a:r>
            <a:r>
              <a:rPr lang="en-US" dirty="0"/>
              <a:t> instruction format </a:t>
            </a:r>
          </a:p>
          <a:p>
            <a:pPr lvl="1"/>
            <a:r>
              <a:rPr lang="en-US" dirty="0">
                <a:solidFill>
                  <a:schemeClr val="accent1"/>
                </a:solidFill>
              </a:rPr>
              <a:t>Large</a:t>
            </a:r>
            <a:r>
              <a:rPr lang="en-US" dirty="0"/>
              <a:t> number of general-purpose registers </a:t>
            </a:r>
          </a:p>
          <a:p>
            <a:pPr lvl="1"/>
            <a:r>
              <a:rPr lang="en-US" dirty="0"/>
              <a:t>RISC-V supports various integer instruction set extensions, such as </a:t>
            </a:r>
            <a:r>
              <a:rPr lang="en-US" dirty="0">
                <a:solidFill>
                  <a:schemeClr val="accent1"/>
                </a:solidFill>
              </a:rPr>
              <a:t>RV32I</a:t>
            </a:r>
            <a:r>
              <a:rPr lang="en-US" dirty="0"/>
              <a:t> (32-bit), </a:t>
            </a:r>
            <a:r>
              <a:rPr lang="en-US" dirty="0">
                <a:solidFill>
                  <a:schemeClr val="accent1"/>
                </a:solidFill>
              </a:rPr>
              <a:t>RV64I</a:t>
            </a:r>
            <a:r>
              <a:rPr lang="en-US" dirty="0"/>
              <a:t> (64-bit), and </a:t>
            </a:r>
            <a:r>
              <a:rPr lang="en-US" dirty="0">
                <a:solidFill>
                  <a:schemeClr val="accent1"/>
                </a:solidFill>
              </a:rPr>
              <a:t>RV128I</a:t>
            </a:r>
            <a:r>
              <a:rPr lang="en-US" dirty="0"/>
              <a:t> (128-bit), which define the base integer instruction set for different address space sizes.</a:t>
            </a:r>
          </a:p>
          <a:p>
            <a:pPr lvl="1"/>
            <a:r>
              <a:rPr lang="en-US" dirty="0"/>
              <a:t>RISC-V utilizes </a:t>
            </a:r>
            <a:r>
              <a:rPr lang="en-US" dirty="0">
                <a:solidFill>
                  <a:schemeClr val="accent1"/>
                </a:solidFill>
              </a:rPr>
              <a:t>little-endian</a:t>
            </a:r>
            <a:r>
              <a:rPr lang="en-US" dirty="0"/>
              <a:t> byte ordering within the memory system, implying that the smallest significant byte of multi-byte data is stored at the lowest memory address.</a:t>
            </a:r>
          </a:p>
        </p:txBody>
      </p:sp>
    </p:spTree>
    <p:extLst>
      <p:ext uri="{BB962C8B-B14F-4D97-AF65-F5344CB8AC3E}">
        <p14:creationId xmlns:p14="http://schemas.microsoft.com/office/powerpoint/2010/main" val="282271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C2235-A262-CADC-B1CD-F6F08E5B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876" y="365125"/>
            <a:ext cx="10693924" cy="1325563"/>
          </a:xfrm>
        </p:spPr>
        <p:txBody>
          <a:bodyPr/>
          <a:lstStyle/>
          <a:p>
            <a:r>
              <a:rPr lang="en-US" dirty="0"/>
              <a:t>RISC V Architecture: Modularity &amp; Extensibility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CB4D3-374C-8508-E62B-311AD243A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of the defining characteristics of RISC-V is its </a:t>
            </a:r>
            <a:r>
              <a:rPr lang="en-US" dirty="0">
                <a:solidFill>
                  <a:schemeClr val="accent1"/>
                </a:solidFill>
              </a:rPr>
              <a:t>modularity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extensibility</a:t>
            </a:r>
            <a:r>
              <a:rPr lang="en-US" dirty="0"/>
              <a:t>. </a:t>
            </a:r>
          </a:p>
          <a:p>
            <a:r>
              <a:rPr lang="en-US" dirty="0"/>
              <a:t>The ISA is designed to be easily </a:t>
            </a:r>
            <a:r>
              <a:rPr lang="en-US" dirty="0">
                <a:solidFill>
                  <a:schemeClr val="accent1"/>
                </a:solidFill>
              </a:rPr>
              <a:t>extended</a:t>
            </a:r>
            <a:r>
              <a:rPr lang="en-US" dirty="0"/>
              <a:t> with </a:t>
            </a:r>
            <a:r>
              <a:rPr lang="en-US" dirty="0">
                <a:solidFill>
                  <a:schemeClr val="accent1"/>
                </a:solidFill>
              </a:rPr>
              <a:t>custom instructions </a:t>
            </a:r>
            <a:r>
              <a:rPr lang="en-US" dirty="0"/>
              <a:t>and </a:t>
            </a:r>
            <a:r>
              <a:rPr lang="en-US" dirty="0">
                <a:solidFill>
                  <a:schemeClr val="accent1"/>
                </a:solidFill>
              </a:rPr>
              <a:t>coprocessors</a:t>
            </a:r>
            <a:r>
              <a:rPr lang="en-US" dirty="0"/>
              <a:t>, allowing for </a:t>
            </a:r>
            <a:r>
              <a:rPr lang="en-US" dirty="0">
                <a:solidFill>
                  <a:schemeClr val="accent1"/>
                </a:solidFill>
              </a:rPr>
              <a:t>tailored</a:t>
            </a:r>
            <a:r>
              <a:rPr lang="en-US" dirty="0"/>
              <a:t> implementations that meet specific application requirements. </a:t>
            </a:r>
          </a:p>
          <a:p>
            <a:r>
              <a:rPr lang="en-US" dirty="0"/>
              <a:t>This flexibility is achieved through a modular design, where the base ISA can be combined with optional standard extensions, such as the </a:t>
            </a:r>
            <a:r>
              <a:rPr lang="en-US" dirty="0">
                <a:solidFill>
                  <a:schemeClr val="accent1"/>
                </a:solidFill>
              </a:rPr>
              <a:t>M</a:t>
            </a:r>
            <a:r>
              <a:rPr lang="en-US" dirty="0"/>
              <a:t> extension for integer multiplication and division, the </a:t>
            </a:r>
            <a:r>
              <a:rPr lang="en-US" dirty="0">
                <a:solidFill>
                  <a:schemeClr val="accent1"/>
                </a:solidFill>
              </a:rPr>
              <a:t>A</a:t>
            </a:r>
            <a:r>
              <a:rPr lang="en-US" dirty="0"/>
              <a:t> extension for atomic operations, and the </a:t>
            </a:r>
            <a:r>
              <a:rPr lang="en-US" dirty="0">
                <a:solidFill>
                  <a:schemeClr val="accent1"/>
                </a:solidFill>
              </a:rPr>
              <a:t>F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D</a:t>
            </a:r>
            <a:r>
              <a:rPr lang="en-US" dirty="0"/>
              <a:t> extensions for single- and double-precision floating-point arithmetic.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43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70636"/>
            <a:ext cx="54438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20" dirty="0"/>
              <a:t>Standard</a:t>
            </a:r>
            <a:r>
              <a:rPr spc="204" dirty="0"/>
              <a:t> </a:t>
            </a:r>
            <a:r>
              <a:rPr spc="220" dirty="0"/>
              <a:t>extensions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0212" y="2465069"/>
            <a:ext cx="6661784" cy="3012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buChar char="•"/>
              <a:tabLst>
                <a:tab pos="327025" algn="l"/>
              </a:tabLst>
            </a:pP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Standard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325" dirty="0">
                <a:solidFill>
                  <a:srgbClr val="333333"/>
                </a:solidFill>
                <a:latin typeface="Cambria"/>
                <a:cs typeface="Cambria"/>
              </a:rPr>
              <a:t>RISC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encoding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fixed</a:t>
            </a:r>
            <a:r>
              <a:rPr sz="2800" spc="19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32-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bit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instruction</a:t>
            </a:r>
            <a:r>
              <a:rPr sz="2800" spc="2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format</a:t>
            </a:r>
            <a:endParaRPr sz="2800">
              <a:latin typeface="Cambria"/>
              <a:cs typeface="Cambria"/>
            </a:endParaRPr>
          </a:p>
          <a:p>
            <a:pPr marL="12700" marR="120650">
              <a:lnSpc>
                <a:spcPct val="100000"/>
              </a:lnSpc>
              <a:buChar char="•"/>
              <a:tabLst>
                <a:tab pos="327025" algn="l"/>
              </a:tabLst>
            </a:pPr>
            <a:r>
              <a:rPr sz="2800" spc="13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“C”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extension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rgbClr val="333333"/>
                </a:solidFill>
                <a:latin typeface="Cambria"/>
                <a:cs typeface="Cambria"/>
              </a:rPr>
              <a:t>(compressed </a:t>
            </a:r>
            <a:r>
              <a:rPr sz="2800" spc="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extension)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offers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shorter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333333"/>
                </a:solidFill>
                <a:latin typeface="Cambria"/>
                <a:cs typeface="Cambria"/>
              </a:rPr>
              <a:t>16-bit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versions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common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32-bit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70" dirty="0">
                <a:solidFill>
                  <a:srgbClr val="333333"/>
                </a:solidFill>
                <a:latin typeface="Cambria"/>
                <a:cs typeface="Cambria"/>
              </a:rPr>
              <a:t>RISC-V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instructions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(can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be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intermixed</a:t>
            </a:r>
            <a:r>
              <a:rPr sz="2800" spc="19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with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32-bit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instructions)</a:t>
            </a:r>
            <a:endParaRPr sz="28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17444" y="1964564"/>
            <a:ext cx="9244965" cy="4326255"/>
            <a:chOff x="2917444" y="1964564"/>
            <a:chExt cx="9244965" cy="432625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99147" y="1964564"/>
              <a:ext cx="5262884" cy="432596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917444" y="3700526"/>
              <a:ext cx="4801235" cy="2094864"/>
            </a:xfrm>
            <a:custGeom>
              <a:avLst/>
              <a:gdLst/>
              <a:ahLst/>
              <a:cxnLst/>
              <a:rect l="l" t="t" r="r" b="b"/>
              <a:pathLst>
                <a:path w="4801234" h="2094864">
                  <a:moveTo>
                    <a:pt x="4728275" y="2065763"/>
                  </a:moveTo>
                  <a:lnTo>
                    <a:pt x="4715636" y="2094864"/>
                  </a:lnTo>
                  <a:lnTo>
                    <a:pt x="4800727" y="2090280"/>
                  </a:lnTo>
                  <a:lnTo>
                    <a:pt x="4784408" y="2070811"/>
                  </a:lnTo>
                  <a:lnTo>
                    <a:pt x="4739894" y="2070811"/>
                  </a:lnTo>
                  <a:lnTo>
                    <a:pt x="4728275" y="2065763"/>
                  </a:lnTo>
                  <a:close/>
                </a:path>
                <a:path w="4801234" h="2094864">
                  <a:moveTo>
                    <a:pt x="4733337" y="2054109"/>
                  </a:moveTo>
                  <a:lnTo>
                    <a:pt x="4728275" y="2065763"/>
                  </a:lnTo>
                  <a:lnTo>
                    <a:pt x="4739894" y="2070811"/>
                  </a:lnTo>
                  <a:lnTo>
                    <a:pt x="4744974" y="2059165"/>
                  </a:lnTo>
                  <a:lnTo>
                    <a:pt x="4733337" y="2054109"/>
                  </a:lnTo>
                  <a:close/>
                </a:path>
                <a:path w="4801234" h="2094864">
                  <a:moveTo>
                    <a:pt x="4745989" y="2024976"/>
                  </a:moveTo>
                  <a:lnTo>
                    <a:pt x="4733337" y="2054109"/>
                  </a:lnTo>
                  <a:lnTo>
                    <a:pt x="4744974" y="2059165"/>
                  </a:lnTo>
                  <a:lnTo>
                    <a:pt x="4739894" y="2070811"/>
                  </a:lnTo>
                  <a:lnTo>
                    <a:pt x="4784408" y="2070811"/>
                  </a:lnTo>
                  <a:lnTo>
                    <a:pt x="4745989" y="2024976"/>
                  </a:lnTo>
                  <a:close/>
                </a:path>
                <a:path w="4801234" h="2094864">
                  <a:moveTo>
                    <a:pt x="5079" y="0"/>
                  </a:moveTo>
                  <a:lnTo>
                    <a:pt x="0" y="11684"/>
                  </a:lnTo>
                  <a:lnTo>
                    <a:pt x="4728275" y="2065763"/>
                  </a:lnTo>
                  <a:lnTo>
                    <a:pt x="4733337" y="2054109"/>
                  </a:lnTo>
                  <a:lnTo>
                    <a:pt x="5079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747471" y="6322872"/>
            <a:ext cx="625030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75" dirty="0">
                <a:solidFill>
                  <a:srgbClr val="005392"/>
                </a:solidFill>
                <a:latin typeface="Cambria"/>
                <a:cs typeface="Cambria"/>
              </a:rPr>
              <a:t>Do</a:t>
            </a:r>
            <a:r>
              <a:rPr sz="18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005392"/>
                </a:solidFill>
                <a:latin typeface="Cambria"/>
                <a:cs typeface="Cambria"/>
              </a:rPr>
              <a:t>not</a:t>
            </a:r>
            <a:r>
              <a:rPr sz="18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40" dirty="0">
                <a:solidFill>
                  <a:srgbClr val="005392"/>
                </a:solidFill>
                <a:latin typeface="Cambria"/>
                <a:cs typeface="Cambria"/>
              </a:rPr>
              <a:t>confuse</a:t>
            </a:r>
            <a:r>
              <a:rPr sz="18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285" dirty="0">
                <a:solidFill>
                  <a:srgbClr val="005392"/>
                </a:solidFill>
                <a:latin typeface="Cambria"/>
                <a:cs typeface="Cambria"/>
              </a:rPr>
              <a:t>C</a:t>
            </a:r>
            <a:r>
              <a:rPr sz="18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50" dirty="0">
                <a:solidFill>
                  <a:srgbClr val="005392"/>
                </a:solidFill>
                <a:latin typeface="Cambria"/>
                <a:cs typeface="Cambria"/>
              </a:rPr>
              <a:t>extension</a:t>
            </a:r>
            <a:r>
              <a:rPr sz="18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005392"/>
                </a:solidFill>
                <a:latin typeface="Cambria"/>
                <a:cs typeface="Cambria"/>
              </a:rPr>
              <a:t>with</a:t>
            </a:r>
            <a:r>
              <a:rPr sz="18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285" dirty="0">
                <a:solidFill>
                  <a:srgbClr val="005392"/>
                </a:solidFill>
                <a:latin typeface="Cambria"/>
                <a:cs typeface="Cambria"/>
              </a:rPr>
              <a:t>C</a:t>
            </a:r>
            <a:r>
              <a:rPr sz="18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005392"/>
                </a:solidFill>
                <a:latin typeface="Cambria"/>
                <a:cs typeface="Cambria"/>
              </a:rPr>
              <a:t>programming</a:t>
            </a:r>
            <a:r>
              <a:rPr sz="18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75" dirty="0">
                <a:solidFill>
                  <a:srgbClr val="005392"/>
                </a:solidFill>
                <a:latin typeface="Cambria"/>
                <a:cs typeface="Cambria"/>
              </a:rPr>
              <a:t>language!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459AC-692B-DD44-6B86-3DA78E6D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24414" cy="1325563"/>
          </a:xfrm>
        </p:spPr>
        <p:txBody>
          <a:bodyPr/>
          <a:lstStyle/>
          <a:p>
            <a:r>
              <a:rPr lang="en-US" dirty="0"/>
              <a:t>RISC V Architecture: Compressed Instruction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2EA57-E33A-384C-E0D9-45FBFEAEF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Compared to ARM’s Thumb instruction set, RISC-V also supports a </a:t>
            </a:r>
            <a:r>
              <a:rPr lang="en-US" dirty="0">
                <a:solidFill>
                  <a:schemeClr val="accent1"/>
                </a:solidFill>
              </a:rPr>
              <a:t>compressed instruction </a:t>
            </a:r>
            <a:r>
              <a:rPr lang="en-US" dirty="0"/>
              <a:t>set extension called </a:t>
            </a:r>
            <a:r>
              <a:rPr lang="en-US" dirty="0">
                <a:solidFill>
                  <a:schemeClr val="accent1"/>
                </a:solidFill>
              </a:rPr>
              <a:t>RV32C</a:t>
            </a:r>
            <a:r>
              <a:rPr lang="en-US" dirty="0"/>
              <a:t> (or RV64C for 64-bit), which provides </a:t>
            </a:r>
            <a:r>
              <a:rPr lang="en-US" dirty="0">
                <a:solidFill>
                  <a:schemeClr val="accent1"/>
                </a:solidFill>
              </a:rPr>
              <a:t>16-bit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compressed</a:t>
            </a:r>
            <a:r>
              <a:rPr lang="en-US" dirty="0"/>
              <a:t> instructions that can be mixed with the standard 32-bit instructions. </a:t>
            </a:r>
          </a:p>
          <a:p>
            <a:r>
              <a:rPr lang="en-US" dirty="0"/>
              <a:t>This feature helps </a:t>
            </a:r>
            <a:r>
              <a:rPr lang="en-US" dirty="0">
                <a:solidFill>
                  <a:schemeClr val="accent1"/>
                </a:solidFill>
              </a:rPr>
              <a:t>reduce code size and improve energy efficiency</a:t>
            </a:r>
            <a:r>
              <a:rPr lang="en-US" dirty="0"/>
              <a:t>, making RISC-V particularly suitable for embedded systems and low-power applications.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A3A3E3F-3769-0AA9-D95A-9D6CC4260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94" y="5091113"/>
            <a:ext cx="73437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837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68275" marR="5080">
              <a:lnSpc>
                <a:spcPts val="4320"/>
              </a:lnSpc>
              <a:spcBef>
                <a:spcPts val="640"/>
              </a:spcBef>
            </a:pPr>
            <a:r>
              <a:rPr spc="-75" dirty="0"/>
              <a:t>2</a:t>
            </a:r>
            <a:r>
              <a:rPr spc="-70" dirty="0"/>
              <a:t> </a:t>
            </a:r>
            <a:r>
              <a:rPr spc="240" dirty="0"/>
              <a:t>Versions </a:t>
            </a:r>
            <a:r>
              <a:rPr spc="204" dirty="0"/>
              <a:t>of </a:t>
            </a:r>
            <a:r>
              <a:rPr spc="480" dirty="0"/>
              <a:t>RISC-V </a:t>
            </a:r>
            <a:r>
              <a:rPr spc="170" dirty="0"/>
              <a:t>(based </a:t>
            </a:r>
            <a:r>
              <a:rPr spc="240" dirty="0"/>
              <a:t>on </a:t>
            </a:r>
            <a:r>
              <a:rPr spc="245" dirty="0"/>
              <a:t> </a:t>
            </a:r>
            <a:r>
              <a:rPr spc="295" dirty="0"/>
              <a:t>maximum</a:t>
            </a:r>
            <a:r>
              <a:rPr spc="254" dirty="0"/>
              <a:t> </a:t>
            </a:r>
            <a:r>
              <a:rPr spc="285" dirty="0"/>
              <a:t>width</a:t>
            </a:r>
            <a:r>
              <a:rPr spc="260" dirty="0"/>
              <a:t> </a:t>
            </a:r>
            <a:r>
              <a:rPr spc="204" dirty="0"/>
              <a:t>of</a:t>
            </a:r>
            <a:r>
              <a:rPr spc="260" dirty="0"/>
              <a:t> </a:t>
            </a:r>
            <a:r>
              <a:rPr spc="210" dirty="0"/>
              <a:t>registers</a:t>
            </a:r>
            <a:r>
              <a:rPr spc="254" dirty="0"/>
              <a:t> </a:t>
            </a:r>
            <a:r>
              <a:rPr spc="204" dirty="0"/>
              <a:t>supported)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97506"/>
            <a:ext cx="6746875" cy="271081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>
              <a:lnSpc>
                <a:spcPts val="3020"/>
              </a:lnSpc>
              <a:spcBef>
                <a:spcPts val="480"/>
              </a:spcBef>
              <a:buAutoNum type="arabicPeriod"/>
              <a:tabLst>
                <a:tab pos="407670" algn="l"/>
              </a:tabLst>
            </a:pPr>
            <a:r>
              <a:rPr sz="2800" spc="270" dirty="0">
                <a:solidFill>
                  <a:srgbClr val="333333"/>
                </a:solidFill>
                <a:latin typeface="Cambria"/>
                <a:cs typeface="Cambria"/>
              </a:rPr>
              <a:t>RISC-V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32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(RV32):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max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width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4" dirty="0">
                <a:solidFill>
                  <a:srgbClr val="333333"/>
                </a:solidFill>
                <a:latin typeface="Cambria"/>
                <a:cs typeface="Cambria"/>
              </a:rPr>
              <a:t>(XLEN)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32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bits</a:t>
            </a:r>
            <a:endParaRPr sz="2800" dirty="0">
              <a:latin typeface="Cambria"/>
              <a:cs typeface="Cambria"/>
            </a:endParaRPr>
          </a:p>
          <a:p>
            <a:pPr marL="12700" marR="5080">
              <a:lnSpc>
                <a:spcPts val="3030"/>
              </a:lnSpc>
              <a:spcBef>
                <a:spcPts val="994"/>
              </a:spcBef>
              <a:buAutoNum type="arabicPeriod"/>
              <a:tabLst>
                <a:tab pos="408305" algn="l"/>
              </a:tabLst>
            </a:pPr>
            <a:r>
              <a:rPr sz="2800" spc="270" dirty="0">
                <a:solidFill>
                  <a:srgbClr val="333333"/>
                </a:solidFill>
                <a:latin typeface="Cambria"/>
                <a:cs typeface="Cambria"/>
              </a:rPr>
              <a:t>RISC-V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64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(RV64):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max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width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4" dirty="0">
                <a:solidFill>
                  <a:srgbClr val="333333"/>
                </a:solidFill>
                <a:latin typeface="Cambria"/>
                <a:cs typeface="Cambria"/>
              </a:rPr>
              <a:t>(XLEN)</a:t>
            </a:r>
            <a:r>
              <a:rPr sz="2800" spc="19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64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bits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RV64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supports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RV32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also.</a:t>
            </a:r>
            <a:endParaRPr sz="28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Both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versions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have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32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registers.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092446"/>
            <a:ext cx="7209790" cy="793115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2700" marR="5080">
              <a:lnSpc>
                <a:spcPct val="80000"/>
              </a:lnSpc>
              <a:spcBef>
                <a:spcPts val="765"/>
              </a:spcBef>
            </a:pP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both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them,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each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chemeClr val="accent1"/>
                </a:solidFill>
                <a:latin typeface="Cambria"/>
                <a:cs typeface="Cambria"/>
              </a:rPr>
              <a:t>instruction</a:t>
            </a:r>
            <a:r>
              <a:rPr sz="2800" spc="215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chemeClr val="accent1"/>
                </a:solidFill>
                <a:latin typeface="Cambria"/>
                <a:cs typeface="Cambria"/>
              </a:rPr>
              <a:t>is</a:t>
            </a:r>
            <a:r>
              <a:rPr sz="2800" spc="160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chemeClr val="accent1"/>
                </a:solidFill>
                <a:latin typeface="Cambria"/>
                <a:cs typeface="Cambria"/>
              </a:rPr>
              <a:t>encoded </a:t>
            </a:r>
            <a:r>
              <a:rPr sz="2800" spc="-600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chemeClr val="accent1"/>
                </a:solidFill>
                <a:latin typeface="Cambria"/>
                <a:cs typeface="Cambria"/>
              </a:rPr>
              <a:t>into</a:t>
            </a:r>
            <a:r>
              <a:rPr sz="2800" spc="180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chemeClr val="accent1"/>
                </a:solidFill>
                <a:latin typeface="Cambria"/>
                <a:cs typeface="Cambria"/>
              </a:rPr>
              <a:t>32</a:t>
            </a:r>
            <a:r>
              <a:rPr sz="2800" spc="165" dirty="0">
                <a:solidFill>
                  <a:schemeClr val="accent1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chemeClr val="accent1"/>
                </a:solidFill>
                <a:latin typeface="Cambria"/>
                <a:cs typeface="Cambria"/>
              </a:rPr>
              <a:t>bits.</a:t>
            </a:r>
            <a:endParaRPr sz="2800" dirty="0">
              <a:solidFill>
                <a:schemeClr val="accent1"/>
              </a:solidFill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884409" y="1953259"/>
            <a:ext cx="1092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eg</a:t>
            </a:r>
            <a:r>
              <a:rPr sz="1800" spc="-20" dirty="0">
                <a:solidFill>
                  <a:srgbClr val="001F5F"/>
                </a:solidFill>
                <a:latin typeface="Calibri"/>
                <a:cs typeface="Calibri"/>
              </a:rPr>
              <a:t>i</a:t>
            </a:r>
            <a:r>
              <a:rPr sz="1800" spc="-35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r>
              <a:rPr sz="1800" spc="-40" dirty="0">
                <a:solidFill>
                  <a:srgbClr val="001F5F"/>
                </a:solidFill>
                <a:latin typeface="Calibri"/>
                <a:cs typeface="Calibri"/>
              </a:rPr>
              <a:t>t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r</a:t>
            </a:r>
            <a:r>
              <a:rPr sz="1800" spc="-7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1800" spc="-5" dirty="0">
                <a:solidFill>
                  <a:srgbClr val="001F5F"/>
                </a:solidFill>
                <a:latin typeface="Calibri"/>
                <a:cs typeface="Calibri"/>
              </a:rPr>
              <a:t>fi</a:t>
            </a: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l</a:t>
            </a:r>
            <a:r>
              <a:rPr sz="1800" dirty="0">
                <a:solidFill>
                  <a:srgbClr val="001F5F"/>
                </a:solidFill>
                <a:latin typeface="Calibri"/>
                <a:cs typeface="Calibri"/>
              </a:rPr>
              <a:t>e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290557" y="2492629"/>
          <a:ext cx="2174875" cy="28696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74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53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59892">
                <a:tc>
                  <a:txBody>
                    <a:bodyPr/>
                    <a:lstStyle/>
                    <a:p>
                      <a:pPr marL="566420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6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32</a:t>
                      </a:r>
                      <a:r>
                        <a:rPr sz="16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sz="1600" spc="-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b</a:t>
                      </a:r>
                      <a:r>
                        <a:rPr sz="16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it</a:t>
                      </a:r>
                      <a:r>
                        <a:rPr sz="1600" spc="-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2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i</a:t>
                      </a:r>
                      <a:r>
                        <a:rPr sz="16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600" spc="-7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600" spc="-55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R</a:t>
                      </a:r>
                      <a:r>
                        <a:rPr sz="1600" spc="-3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V3</a:t>
                      </a:r>
                      <a:r>
                        <a:rPr sz="1600" dirty="0">
                          <a:solidFill>
                            <a:srgbClr val="001F5F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  <a:p>
                      <a:pPr marL="62166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14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64-bit</a:t>
                      </a:r>
                      <a:r>
                        <a:rPr sz="1400" spc="-1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400" spc="-2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RV64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133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53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DAE1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1584940" y="4563617"/>
            <a:ext cx="330200" cy="236220"/>
          </a:xfrm>
          <a:prstGeom prst="rect">
            <a:avLst/>
          </a:prstGeom>
        </p:spPr>
        <p:txBody>
          <a:bodyPr vert="vert" wrap="square" lIns="0" tIns="0" rIns="0" bIns="0" rtlCol="0">
            <a:spAutoFit/>
          </a:bodyPr>
          <a:lstStyle/>
          <a:p>
            <a:pPr marL="12700">
              <a:lnSpc>
                <a:spcPts val="2380"/>
              </a:lnSpc>
            </a:pP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…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559031" y="2460701"/>
            <a:ext cx="217170" cy="150114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algn="just">
              <a:lnSpc>
                <a:spcPct val="101000"/>
              </a:lnSpc>
              <a:spcBef>
                <a:spcPts val="80"/>
              </a:spcBef>
            </a:pP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x0  x1  x2  x3  x4  x5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559031" y="5093334"/>
            <a:ext cx="31750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x</a:t>
            </a:r>
            <a:r>
              <a:rPr sz="1600" spc="-25" dirty="0">
                <a:solidFill>
                  <a:srgbClr val="001F5F"/>
                </a:solidFill>
                <a:latin typeface="Calibri"/>
                <a:cs typeface="Calibri"/>
              </a:rPr>
              <a:t>3</a:t>
            </a:r>
            <a:r>
              <a:rPr sz="1600" spc="-5" dirty="0">
                <a:solidFill>
                  <a:srgbClr val="001F5F"/>
                </a:solidFill>
                <a:latin typeface="Calibri"/>
                <a:cs typeface="Calibri"/>
              </a:rPr>
              <a:t>1</a:t>
            </a:r>
            <a:endParaRPr sz="1600">
              <a:latin typeface="Calibri"/>
              <a:cs typeface="Calibri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9310116" y="4840223"/>
            <a:ext cx="2168525" cy="76200"/>
            <a:chOff x="9310116" y="4840223"/>
            <a:chExt cx="2168525" cy="762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10116" y="4840223"/>
              <a:ext cx="165130" cy="76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9513443" y="4871973"/>
              <a:ext cx="1778635" cy="12700"/>
            </a:xfrm>
            <a:custGeom>
              <a:avLst/>
              <a:gdLst/>
              <a:ahLst/>
              <a:cxnLst/>
              <a:rect l="l" t="t" r="r" b="b"/>
              <a:pathLst>
                <a:path w="1778634" h="12700">
                  <a:moveTo>
                    <a:pt x="101625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101625" y="12700"/>
                  </a:lnTo>
                  <a:lnTo>
                    <a:pt x="101625" y="0"/>
                  </a:lnTo>
                  <a:close/>
                </a:path>
                <a:path w="1778634" h="12700">
                  <a:moveTo>
                    <a:pt x="241325" y="0"/>
                  </a:moveTo>
                  <a:lnTo>
                    <a:pt x="139700" y="0"/>
                  </a:lnTo>
                  <a:lnTo>
                    <a:pt x="139700" y="12700"/>
                  </a:lnTo>
                  <a:lnTo>
                    <a:pt x="241325" y="12700"/>
                  </a:lnTo>
                  <a:lnTo>
                    <a:pt x="241325" y="0"/>
                  </a:lnTo>
                  <a:close/>
                </a:path>
                <a:path w="1778634" h="12700">
                  <a:moveTo>
                    <a:pt x="381025" y="0"/>
                  </a:moveTo>
                  <a:lnTo>
                    <a:pt x="279400" y="0"/>
                  </a:lnTo>
                  <a:lnTo>
                    <a:pt x="279400" y="12700"/>
                  </a:lnTo>
                  <a:lnTo>
                    <a:pt x="381025" y="12700"/>
                  </a:lnTo>
                  <a:lnTo>
                    <a:pt x="381025" y="0"/>
                  </a:lnTo>
                  <a:close/>
                </a:path>
                <a:path w="1778634" h="12700">
                  <a:moveTo>
                    <a:pt x="520852" y="0"/>
                  </a:moveTo>
                  <a:lnTo>
                    <a:pt x="419227" y="0"/>
                  </a:lnTo>
                  <a:lnTo>
                    <a:pt x="419227" y="12700"/>
                  </a:lnTo>
                  <a:lnTo>
                    <a:pt x="520852" y="12700"/>
                  </a:lnTo>
                  <a:lnTo>
                    <a:pt x="520852" y="0"/>
                  </a:lnTo>
                  <a:close/>
                </a:path>
                <a:path w="1778634" h="12700">
                  <a:moveTo>
                    <a:pt x="660552" y="0"/>
                  </a:moveTo>
                  <a:lnTo>
                    <a:pt x="558927" y="0"/>
                  </a:lnTo>
                  <a:lnTo>
                    <a:pt x="558927" y="12700"/>
                  </a:lnTo>
                  <a:lnTo>
                    <a:pt x="660552" y="12700"/>
                  </a:lnTo>
                  <a:lnTo>
                    <a:pt x="660552" y="0"/>
                  </a:lnTo>
                  <a:close/>
                </a:path>
                <a:path w="1778634" h="12700">
                  <a:moveTo>
                    <a:pt x="800252" y="0"/>
                  </a:moveTo>
                  <a:lnTo>
                    <a:pt x="698627" y="0"/>
                  </a:lnTo>
                  <a:lnTo>
                    <a:pt x="698627" y="12700"/>
                  </a:lnTo>
                  <a:lnTo>
                    <a:pt x="800252" y="12700"/>
                  </a:lnTo>
                  <a:lnTo>
                    <a:pt x="800252" y="0"/>
                  </a:lnTo>
                  <a:close/>
                </a:path>
                <a:path w="1778634" h="12700">
                  <a:moveTo>
                    <a:pt x="940079" y="0"/>
                  </a:moveTo>
                  <a:lnTo>
                    <a:pt x="838454" y="0"/>
                  </a:lnTo>
                  <a:lnTo>
                    <a:pt x="838454" y="12700"/>
                  </a:lnTo>
                  <a:lnTo>
                    <a:pt x="940079" y="12700"/>
                  </a:lnTo>
                  <a:lnTo>
                    <a:pt x="940079" y="0"/>
                  </a:lnTo>
                  <a:close/>
                </a:path>
                <a:path w="1778634" h="12700">
                  <a:moveTo>
                    <a:pt x="1079779" y="0"/>
                  </a:moveTo>
                  <a:lnTo>
                    <a:pt x="978154" y="0"/>
                  </a:lnTo>
                  <a:lnTo>
                    <a:pt x="978154" y="12700"/>
                  </a:lnTo>
                  <a:lnTo>
                    <a:pt x="1079779" y="12700"/>
                  </a:lnTo>
                  <a:lnTo>
                    <a:pt x="1079779" y="0"/>
                  </a:lnTo>
                  <a:close/>
                </a:path>
                <a:path w="1778634" h="12700">
                  <a:moveTo>
                    <a:pt x="1219606" y="0"/>
                  </a:moveTo>
                  <a:lnTo>
                    <a:pt x="1117981" y="0"/>
                  </a:lnTo>
                  <a:lnTo>
                    <a:pt x="1117981" y="12700"/>
                  </a:lnTo>
                  <a:lnTo>
                    <a:pt x="1219606" y="12700"/>
                  </a:lnTo>
                  <a:lnTo>
                    <a:pt x="1219606" y="0"/>
                  </a:lnTo>
                  <a:close/>
                </a:path>
                <a:path w="1778634" h="12700">
                  <a:moveTo>
                    <a:pt x="1359306" y="0"/>
                  </a:moveTo>
                  <a:lnTo>
                    <a:pt x="1257681" y="0"/>
                  </a:lnTo>
                  <a:lnTo>
                    <a:pt x="1257681" y="12700"/>
                  </a:lnTo>
                  <a:lnTo>
                    <a:pt x="1359306" y="12700"/>
                  </a:lnTo>
                  <a:lnTo>
                    <a:pt x="1359306" y="0"/>
                  </a:lnTo>
                  <a:close/>
                </a:path>
                <a:path w="1778634" h="12700">
                  <a:moveTo>
                    <a:pt x="1499006" y="0"/>
                  </a:moveTo>
                  <a:lnTo>
                    <a:pt x="1397381" y="0"/>
                  </a:lnTo>
                  <a:lnTo>
                    <a:pt x="1397381" y="12700"/>
                  </a:lnTo>
                  <a:lnTo>
                    <a:pt x="1499006" y="12700"/>
                  </a:lnTo>
                  <a:lnTo>
                    <a:pt x="1499006" y="0"/>
                  </a:lnTo>
                  <a:close/>
                </a:path>
                <a:path w="1778634" h="12700">
                  <a:moveTo>
                    <a:pt x="1638833" y="0"/>
                  </a:moveTo>
                  <a:lnTo>
                    <a:pt x="1537208" y="0"/>
                  </a:lnTo>
                  <a:lnTo>
                    <a:pt x="1537208" y="12700"/>
                  </a:lnTo>
                  <a:lnTo>
                    <a:pt x="1638833" y="12700"/>
                  </a:lnTo>
                  <a:lnTo>
                    <a:pt x="1638833" y="0"/>
                  </a:lnTo>
                  <a:close/>
                </a:path>
                <a:path w="1778634" h="12700">
                  <a:moveTo>
                    <a:pt x="1778533" y="0"/>
                  </a:moveTo>
                  <a:lnTo>
                    <a:pt x="1676908" y="0"/>
                  </a:lnTo>
                  <a:lnTo>
                    <a:pt x="1676908" y="12700"/>
                  </a:lnTo>
                  <a:lnTo>
                    <a:pt x="1778533" y="12700"/>
                  </a:lnTo>
                  <a:lnTo>
                    <a:pt x="177853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30178" y="4840223"/>
              <a:ext cx="148463" cy="762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7E9C-4E47-ECF3-2CDE-C631650BB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329" y="365126"/>
            <a:ext cx="11603115" cy="1002036"/>
          </a:xfrm>
        </p:spPr>
        <p:txBody>
          <a:bodyPr/>
          <a:lstStyle/>
          <a:p>
            <a:r>
              <a:rPr lang="en-US" dirty="0"/>
              <a:t>RISC V Modes: Privilege levels &amp; Virtual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98B62-F49A-C2F0-4D0E-752A92F2EF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RISC-V Privileged Architecture Specification defines three privilege levels: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accent1"/>
                </a:solidFill>
              </a:rPr>
              <a:t>machine mode (M-mode),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supervisor mode (S-mode),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>
                <a:solidFill>
                  <a:schemeClr val="bg2">
                    <a:lumMod val="10000"/>
                  </a:schemeClr>
                </a:solidFill>
              </a:rPr>
              <a:t>user mode (U-mode).</a:t>
            </a:r>
          </a:p>
          <a:p>
            <a:r>
              <a:rPr lang="en-US" dirty="0"/>
              <a:t> These </a:t>
            </a:r>
            <a:r>
              <a:rPr lang="en-US" dirty="0">
                <a:solidFill>
                  <a:schemeClr val="accent1"/>
                </a:solidFill>
              </a:rPr>
              <a:t>privilege</a:t>
            </a:r>
            <a:r>
              <a:rPr lang="en-US" dirty="0"/>
              <a:t> levels provide a mechanism for </a:t>
            </a:r>
            <a:r>
              <a:rPr lang="en-US" dirty="0">
                <a:solidFill>
                  <a:schemeClr val="accent1"/>
                </a:solidFill>
              </a:rPr>
              <a:t>isolating</a:t>
            </a:r>
            <a:r>
              <a:rPr lang="en-US" dirty="0"/>
              <a:t> the </a:t>
            </a:r>
            <a:r>
              <a:rPr lang="en-US" dirty="0">
                <a:solidFill>
                  <a:schemeClr val="accent1"/>
                </a:solidFill>
              </a:rPr>
              <a:t>operating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system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kernel</a:t>
            </a:r>
            <a:r>
              <a:rPr lang="en-US" dirty="0"/>
              <a:t>, hypervisors, and </a:t>
            </a:r>
            <a:r>
              <a:rPr lang="en-US" dirty="0">
                <a:solidFill>
                  <a:schemeClr val="accent1"/>
                </a:solidFill>
              </a:rPr>
              <a:t>user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applications</a:t>
            </a:r>
            <a:r>
              <a:rPr lang="en-US" dirty="0"/>
              <a:t>, ensuring system </a:t>
            </a:r>
            <a:r>
              <a:rPr lang="en-US" dirty="0">
                <a:solidFill>
                  <a:schemeClr val="accent1"/>
                </a:solidFill>
              </a:rPr>
              <a:t>security</a:t>
            </a:r>
            <a:r>
              <a:rPr lang="en-US" dirty="0"/>
              <a:t> and </a:t>
            </a:r>
            <a:r>
              <a:rPr lang="en-US" dirty="0">
                <a:solidFill>
                  <a:schemeClr val="accent1"/>
                </a:solidFill>
              </a:rPr>
              <a:t>stability</a:t>
            </a:r>
            <a:r>
              <a:rPr lang="en-US" dirty="0"/>
              <a:t>. </a:t>
            </a:r>
          </a:p>
          <a:p>
            <a:r>
              <a:rPr lang="en-US" dirty="0"/>
              <a:t>RISC-V also supports a </a:t>
            </a:r>
            <a:r>
              <a:rPr lang="en-US" dirty="0">
                <a:solidFill>
                  <a:schemeClr val="accent1"/>
                </a:solidFill>
              </a:rPr>
              <a:t>virtual</a:t>
            </a:r>
            <a:r>
              <a:rPr lang="en-US" dirty="0"/>
              <a:t> </a:t>
            </a:r>
            <a:r>
              <a:rPr lang="en-US" dirty="0">
                <a:solidFill>
                  <a:schemeClr val="accent1"/>
                </a:solidFill>
              </a:rPr>
              <a:t>memory</a:t>
            </a:r>
            <a:r>
              <a:rPr lang="en-US" dirty="0"/>
              <a:t> system based on a multi-level page table scheme, enabling efficient memory management and protection.</a:t>
            </a:r>
          </a:p>
        </p:txBody>
      </p:sp>
    </p:spTree>
    <p:extLst>
      <p:ext uri="{BB962C8B-B14F-4D97-AF65-F5344CB8AC3E}">
        <p14:creationId xmlns:p14="http://schemas.microsoft.com/office/powerpoint/2010/main" val="2606054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222826"/>
            <a:ext cx="484768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RIS</a:t>
            </a:r>
            <a:r>
              <a:rPr spc="-200" dirty="0"/>
              <a:t>C</a:t>
            </a:r>
            <a:r>
              <a:rPr spc="-229" dirty="0"/>
              <a:t>-</a:t>
            </a:r>
            <a:r>
              <a:rPr spc="-45" dirty="0"/>
              <a:t>V</a:t>
            </a:r>
            <a:r>
              <a:rPr spc="-165" dirty="0"/>
              <a:t> </a:t>
            </a:r>
            <a:r>
              <a:rPr spc="-25" dirty="0"/>
              <a:t>Mo</a:t>
            </a:r>
            <a:r>
              <a:rPr spc="-35" dirty="0"/>
              <a:t>d</a:t>
            </a:r>
            <a:r>
              <a:rPr spc="-114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8778" y="912758"/>
            <a:ext cx="7630154" cy="60664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43865" marR="1006475" indent="-4318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43865" algn="l"/>
                <a:tab pos="444500" algn="l"/>
              </a:tabLst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RISC-V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Privileged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Specification defines 3 levels of </a:t>
            </a:r>
            <a:r>
              <a:rPr sz="2000" b="1" spc="-4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privilege,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called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Modes</a:t>
            </a:r>
            <a:endParaRPr sz="2850" dirty="0">
              <a:latin typeface="Calibri"/>
              <a:cs typeface="Calibri"/>
            </a:endParaRPr>
          </a:p>
          <a:p>
            <a:pPr marL="443865" marR="490220" indent="-431800">
              <a:lnSpc>
                <a:spcPct val="100000"/>
              </a:lnSpc>
              <a:buFont typeface="Arial MT"/>
              <a:buChar char="•"/>
              <a:tabLst>
                <a:tab pos="443865" algn="l"/>
                <a:tab pos="444500" algn="l"/>
              </a:tabLst>
            </a:pPr>
            <a:r>
              <a:rPr sz="2000" b="1" spc="-5" dirty="0">
                <a:solidFill>
                  <a:schemeClr val="accent1"/>
                </a:solidFill>
                <a:latin typeface="Calibri"/>
                <a:cs typeface="Calibri"/>
              </a:rPr>
              <a:t>Machine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chemeClr val="accent1"/>
                </a:solidFill>
                <a:latin typeface="Calibri"/>
                <a:cs typeface="Calibri"/>
              </a:rPr>
              <a:t>mode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is the </a:t>
            </a: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highest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privileged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 mode and the </a:t>
            </a:r>
            <a:r>
              <a:rPr sz="2000" b="1" spc="-4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only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required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 mode</a:t>
            </a:r>
            <a:endParaRPr sz="2000" dirty="0">
              <a:latin typeface="Calibri"/>
              <a:cs typeface="Calibri"/>
            </a:endParaRPr>
          </a:p>
          <a:p>
            <a:pPr marL="1053465" marR="967105" lvl="1" indent="-431800">
              <a:lnSpc>
                <a:spcPct val="100000"/>
              </a:lnSpc>
              <a:buFont typeface="Arial MT"/>
              <a:buChar char="–"/>
              <a:tabLst>
                <a:tab pos="1053465" algn="l"/>
                <a:tab pos="1054100" algn="l"/>
              </a:tabLst>
            </a:pP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Flexibility</a:t>
            </a:r>
            <a:r>
              <a:rPr sz="2000" spc="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allows</a:t>
            </a:r>
            <a:r>
              <a:rPr sz="20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 a</a:t>
            </a:r>
            <a:r>
              <a:rPr sz="20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range</a:t>
            </a:r>
            <a:r>
              <a:rPr sz="2000" spc="-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of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targeted </a:t>
            </a:r>
            <a:r>
              <a:rPr sz="20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implementations 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from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simple MCUs to </a:t>
            </a:r>
            <a:r>
              <a:rPr sz="2000" spc="-10" dirty="0">
                <a:solidFill>
                  <a:srgbClr val="797979"/>
                </a:solidFill>
                <a:latin typeface="Calibri"/>
                <a:cs typeface="Calibri"/>
              </a:rPr>
              <a:t>high- </a:t>
            </a:r>
            <a:r>
              <a:rPr sz="2000" spc="-44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performance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Application</a:t>
            </a:r>
            <a:r>
              <a:rPr sz="2000" spc="-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797979"/>
                </a:solidFill>
                <a:latin typeface="Calibri"/>
                <a:cs typeface="Calibri"/>
              </a:rPr>
              <a:t>Processors</a:t>
            </a:r>
            <a:endParaRPr lang="en-US" sz="2000" dirty="0">
              <a:solidFill>
                <a:srgbClr val="797979"/>
              </a:solidFill>
              <a:latin typeface="Calibri"/>
              <a:cs typeface="Calibri"/>
            </a:endParaRPr>
          </a:p>
          <a:p>
            <a:pPr marL="1053465" marR="967105" lvl="1" indent="-431800">
              <a:lnSpc>
                <a:spcPct val="100000"/>
              </a:lnSpc>
              <a:buFont typeface="Arial MT"/>
              <a:buChar char="–"/>
              <a:tabLst>
                <a:tab pos="1053465" algn="l"/>
                <a:tab pos="1054100" algn="l"/>
              </a:tabLst>
            </a:pPr>
            <a:r>
              <a:rPr lang="en-US" sz="2000" dirty="0">
                <a:solidFill>
                  <a:srgbClr val="797979"/>
                </a:solidFill>
                <a:latin typeface="Calibri"/>
                <a:cs typeface="Calibri"/>
              </a:rPr>
              <a:t>Example for Simple bare metal application Machine mode is enough and it’s the default and mandatory mode, for an isolation boundary between the application and more direct hardware access, M and U mode may both be supported. </a:t>
            </a:r>
          </a:p>
          <a:p>
            <a:pPr marL="1053465" marR="967105" lvl="1" indent="-431800">
              <a:buFont typeface="Arial MT"/>
              <a:buChar char="–"/>
              <a:tabLst>
                <a:tab pos="1053465" algn="l"/>
                <a:tab pos="1054100" algn="l"/>
              </a:tabLst>
            </a:pPr>
            <a:r>
              <a:rPr lang="en-US" sz="2000" dirty="0">
                <a:solidFill>
                  <a:srgbClr val="797979"/>
                </a:solidFill>
                <a:latin typeface="Calibri"/>
                <a:cs typeface="Calibri"/>
              </a:rPr>
              <a:t>A robust system, such as a server or desktop machine will support M, S, and U as the Supervisor mode will bring the benefits of Virtualization and Hypervisor called Hypervisor-extended Supervisor (HS)</a:t>
            </a:r>
            <a:endParaRPr sz="2000" dirty="0">
              <a:latin typeface="Calibri"/>
              <a:cs typeface="Calibri"/>
            </a:endParaRPr>
          </a:p>
          <a:p>
            <a:pPr marL="443865" indent="-431800">
              <a:lnSpc>
                <a:spcPct val="100000"/>
              </a:lnSpc>
              <a:spcBef>
                <a:spcPts val="1555"/>
              </a:spcBef>
              <a:buFont typeface="Arial MT"/>
              <a:buChar char="•"/>
              <a:tabLst>
                <a:tab pos="443865" algn="l"/>
                <a:tab pos="444500" algn="l"/>
              </a:tabLst>
            </a:pP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Machine,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Hypervisor, Supervisor</a:t>
            </a:r>
            <a:r>
              <a:rPr sz="20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modes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each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have </a:t>
            </a:r>
            <a:r>
              <a:rPr sz="2000" b="1" spc="-5" dirty="0">
                <a:solidFill>
                  <a:schemeClr val="accent1"/>
                </a:solidFill>
                <a:latin typeface="Calibri"/>
                <a:cs typeface="Calibri"/>
              </a:rPr>
              <a:t>Control</a:t>
            </a:r>
            <a:endParaRPr sz="2000" dirty="0">
              <a:solidFill>
                <a:schemeClr val="accent1"/>
              </a:solidFill>
              <a:latin typeface="Calibri"/>
              <a:cs typeface="Calibri"/>
            </a:endParaRPr>
          </a:p>
          <a:p>
            <a:pPr marL="443865">
              <a:lnSpc>
                <a:spcPct val="100000"/>
              </a:lnSpc>
            </a:pP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and</a:t>
            </a:r>
            <a:r>
              <a:rPr sz="2000" b="1" spc="-2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Status</a:t>
            </a:r>
            <a:r>
              <a:rPr sz="2000" b="1" spc="-3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Registers</a:t>
            </a:r>
            <a:r>
              <a:rPr sz="2000" b="1" spc="-30" dirty="0">
                <a:solidFill>
                  <a:schemeClr val="accent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chemeClr val="accent1"/>
                </a:solidFill>
                <a:latin typeface="Calibri"/>
                <a:cs typeface="Calibri"/>
              </a:rPr>
              <a:t>(CSRs)</a:t>
            </a:r>
            <a:endParaRPr sz="2000" dirty="0">
              <a:solidFill>
                <a:schemeClr val="accent1"/>
              </a:solidFill>
              <a:latin typeface="Calibri"/>
              <a:cs typeface="Calibri"/>
            </a:endParaRPr>
          </a:p>
          <a:p>
            <a:pPr marL="621665" lvl="1">
              <a:lnSpc>
                <a:spcPct val="100000"/>
              </a:lnSpc>
              <a:spcBef>
                <a:spcPts val="5"/>
              </a:spcBef>
              <a:tabLst>
                <a:tab pos="1053465" algn="l"/>
                <a:tab pos="1054100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793735" y="1140333"/>
          <a:ext cx="3762374" cy="22861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35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42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2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0987">
                <a:tc gridSpan="3">
                  <a:txBody>
                    <a:bodyPr/>
                    <a:lstStyle/>
                    <a:p>
                      <a:pPr marL="118110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RISC-V</a:t>
                      </a:r>
                      <a:r>
                        <a:rPr sz="19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B555E"/>
                      </a:solidFill>
                      <a:prstDash val="solid"/>
                    </a:lnL>
                    <a:lnR w="12700">
                      <a:solidFill>
                        <a:srgbClr val="4B555E"/>
                      </a:solidFill>
                      <a:prstDash val="solid"/>
                    </a:lnR>
                    <a:lnT w="12700">
                      <a:solidFill>
                        <a:srgbClr val="4B555E"/>
                      </a:solidFill>
                      <a:prstDash val="solid"/>
                    </a:lnT>
                    <a:solidFill>
                      <a:srgbClr val="99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Level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B555E"/>
                      </a:solidFill>
                      <a:prstDash val="solid"/>
                    </a:lnL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Name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07314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Abbr.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4B555E"/>
                      </a:solidFill>
                      <a:prstDash val="solid"/>
                    </a:lnR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114">
                <a:tc>
                  <a:txBody>
                    <a:bodyPr/>
                    <a:lstStyle/>
                    <a:p>
                      <a:pPr marR="635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0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B555E"/>
                      </a:solidFill>
                      <a:prstDash val="solid"/>
                    </a:lnL>
                    <a:lnT w="12700">
                      <a:solidFill>
                        <a:srgbClr val="4B555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User/Application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T w="12700">
                      <a:solidFill>
                        <a:srgbClr val="4B555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10489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4B555E"/>
                      </a:solidFill>
                      <a:prstDash val="solid"/>
                    </a:lnR>
                    <a:lnT w="12700">
                      <a:solidFill>
                        <a:srgbClr val="4B555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R="635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B555E"/>
                      </a:solidFill>
                      <a:prstDash val="solid"/>
                    </a:lnL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3746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Supervisor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0985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R w="12700">
                      <a:solidFill>
                        <a:srgbClr val="4B555E"/>
                      </a:solidFill>
                      <a:prstDash val="solid"/>
                    </a:lnR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987">
                <a:tc>
                  <a:txBody>
                    <a:bodyPr/>
                    <a:lstStyle/>
                    <a:p>
                      <a:pPr marR="6350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4B555E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L="3810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Hypervisor</a:t>
                      </a:r>
                      <a:endParaRPr sz="1900" dirty="0">
                        <a:latin typeface="Calibri"/>
                        <a:cs typeface="Calibri"/>
                      </a:endParaRPr>
                    </a:p>
                  </a:txBody>
                  <a:tcPr marL="0" marR="0" marT="30480" marB="0"/>
                </a:tc>
                <a:tc>
                  <a:txBody>
                    <a:bodyPr/>
                    <a:lstStyle/>
                    <a:p>
                      <a:pPr marL="10922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900" spc="-15" dirty="0">
                          <a:latin typeface="Calibri"/>
                          <a:cs typeface="Calibri"/>
                        </a:rPr>
                        <a:t>HS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4B555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R="6350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B555E"/>
                      </a:solidFill>
                      <a:prstDash val="solid"/>
                    </a:lnL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Machine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10489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M</a:t>
                      </a:r>
                    </a:p>
                  </a:txBody>
                  <a:tcPr marL="0" marR="0" marT="32384" marB="0">
                    <a:lnR w="12700">
                      <a:solidFill>
                        <a:srgbClr val="4B555E"/>
                      </a:solidFill>
                      <a:prstDash val="solid"/>
                    </a:lnR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7811896" y="3925951"/>
          <a:ext cx="3726178" cy="2286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25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987">
                <a:tc gridSpan="2"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Supported</a:t>
                      </a:r>
                      <a:r>
                        <a:rPr sz="1900" b="1" spc="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Combinations</a:t>
                      </a:r>
                      <a:r>
                        <a:rPr sz="1900" b="1" spc="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sz="19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B555E"/>
                      </a:solidFill>
                      <a:prstDash val="solid"/>
                    </a:lnL>
                    <a:lnR w="12700">
                      <a:solidFill>
                        <a:srgbClr val="4B555E"/>
                      </a:solidFill>
                      <a:prstDash val="solid"/>
                    </a:lnR>
                    <a:lnT w="12700">
                      <a:solidFill>
                        <a:srgbClr val="4B555E"/>
                      </a:solidFill>
                      <a:prstDash val="solid"/>
                    </a:lnT>
                    <a:solidFill>
                      <a:srgbClr val="9999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R="15049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10" dirty="0">
                          <a:latin typeface="Calibri"/>
                          <a:cs typeface="Calibri"/>
                        </a:rPr>
                        <a:t>Supported Levels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B555E"/>
                      </a:solidFill>
                      <a:prstDash val="solid"/>
                    </a:lnL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Modes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4B555E"/>
                      </a:solidFill>
                      <a:prstDash val="solid"/>
                    </a:lnR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87"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1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B555E"/>
                      </a:solidFill>
                      <a:prstDash val="solid"/>
                    </a:lnL>
                    <a:lnT w="12700">
                      <a:solidFill>
                        <a:srgbClr val="4B555E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M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4B555E"/>
                      </a:solidFill>
                      <a:prstDash val="solid"/>
                    </a:lnR>
                    <a:lnT w="12700">
                      <a:solidFill>
                        <a:srgbClr val="4B555E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2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L w="12700">
                      <a:solidFill>
                        <a:srgbClr val="4B555E"/>
                      </a:solidFill>
                      <a:prstDash val="solid"/>
                    </a:lnL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M,</a:t>
                      </a:r>
                      <a:r>
                        <a:rPr sz="19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2384" marB="0">
                    <a:lnR w="12700">
                      <a:solidFill>
                        <a:srgbClr val="4B555E"/>
                      </a:solidFill>
                      <a:prstDash val="solid"/>
                    </a:lnR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3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2700">
                      <a:solidFill>
                        <a:srgbClr val="4B555E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M,</a:t>
                      </a:r>
                      <a:r>
                        <a:rPr sz="19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dirty="0">
                          <a:latin typeface="Calibri"/>
                          <a:cs typeface="Calibri"/>
                        </a:rPr>
                        <a:t>S,</a:t>
                      </a:r>
                      <a:r>
                        <a:rPr sz="19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R w="12700">
                      <a:solidFill>
                        <a:srgbClr val="4B555E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12"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dirty="0">
                          <a:latin typeface="Calibri"/>
                          <a:cs typeface="Calibri"/>
                        </a:rPr>
                        <a:t>4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4B555E"/>
                      </a:solidFill>
                      <a:prstDash val="solid"/>
                    </a:lnL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R="1149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900" spc="-5" dirty="0">
                          <a:latin typeface="Calibri"/>
                          <a:cs typeface="Calibri"/>
                        </a:rPr>
                        <a:t>M,</a:t>
                      </a:r>
                      <a:r>
                        <a:rPr sz="19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latin typeface="Calibri"/>
                          <a:cs typeface="Calibri"/>
                        </a:rPr>
                        <a:t>HS,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 S,</a:t>
                      </a:r>
                      <a:r>
                        <a:rPr sz="19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latin typeface="Calibri"/>
                          <a:cs typeface="Calibri"/>
                        </a:rPr>
                        <a:t>U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4B555E"/>
                      </a:solidFill>
                      <a:prstDash val="solid"/>
                    </a:lnR>
                    <a:lnB w="12700">
                      <a:solidFill>
                        <a:srgbClr val="4B555E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396621"/>
            <a:ext cx="9336405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>
              <a:lnSpc>
                <a:spcPts val="4320"/>
              </a:lnSpc>
              <a:spcBef>
                <a:spcPts val="640"/>
              </a:spcBef>
            </a:pPr>
            <a:r>
              <a:rPr sz="4000" spc="120" dirty="0">
                <a:solidFill>
                  <a:srgbClr val="1B4078"/>
                </a:solidFill>
              </a:rPr>
              <a:t>We</a:t>
            </a:r>
            <a:r>
              <a:rPr sz="4000" spc="285" dirty="0">
                <a:solidFill>
                  <a:srgbClr val="1B4078"/>
                </a:solidFill>
              </a:rPr>
              <a:t> </a:t>
            </a:r>
            <a:r>
              <a:rPr sz="4000" spc="225" dirty="0">
                <a:solidFill>
                  <a:srgbClr val="1B4078"/>
                </a:solidFill>
              </a:rPr>
              <a:t>will</a:t>
            </a:r>
            <a:r>
              <a:rPr sz="4000" spc="280" dirty="0">
                <a:solidFill>
                  <a:srgbClr val="1B4078"/>
                </a:solidFill>
              </a:rPr>
              <a:t> </a:t>
            </a:r>
            <a:r>
              <a:rPr sz="4000" spc="240" dirty="0">
                <a:solidFill>
                  <a:srgbClr val="1B4078"/>
                </a:solidFill>
              </a:rPr>
              <a:t>discuss</a:t>
            </a:r>
            <a:r>
              <a:rPr sz="4000" spc="265" dirty="0">
                <a:solidFill>
                  <a:srgbClr val="1B4078"/>
                </a:solidFill>
              </a:rPr>
              <a:t> </a:t>
            </a:r>
            <a:r>
              <a:rPr sz="4000" spc="-75" dirty="0">
                <a:solidFill>
                  <a:srgbClr val="1B4078"/>
                </a:solidFill>
              </a:rPr>
              <a:t>4</a:t>
            </a:r>
            <a:r>
              <a:rPr sz="4000" spc="260" dirty="0">
                <a:solidFill>
                  <a:srgbClr val="1B4078"/>
                </a:solidFill>
              </a:rPr>
              <a:t> </a:t>
            </a:r>
            <a:r>
              <a:rPr sz="4000" spc="245" dirty="0">
                <a:solidFill>
                  <a:srgbClr val="1B4078"/>
                </a:solidFill>
              </a:rPr>
              <a:t>addressing</a:t>
            </a:r>
            <a:r>
              <a:rPr sz="4000" spc="265" dirty="0">
                <a:solidFill>
                  <a:srgbClr val="1B4078"/>
                </a:solidFill>
              </a:rPr>
              <a:t> </a:t>
            </a:r>
            <a:r>
              <a:rPr sz="4000" spc="210" dirty="0">
                <a:solidFill>
                  <a:srgbClr val="1B4078"/>
                </a:solidFill>
              </a:rPr>
              <a:t>modes </a:t>
            </a:r>
            <a:r>
              <a:rPr sz="4000" spc="-869" dirty="0">
                <a:solidFill>
                  <a:srgbClr val="1B4078"/>
                </a:solidFill>
              </a:rPr>
              <a:t> </a:t>
            </a:r>
            <a:r>
              <a:rPr sz="4000" spc="200" dirty="0">
                <a:solidFill>
                  <a:srgbClr val="1B4078"/>
                </a:solidFill>
              </a:rPr>
              <a:t>(relevant</a:t>
            </a:r>
            <a:r>
              <a:rPr sz="4000" spc="280" dirty="0">
                <a:solidFill>
                  <a:srgbClr val="1B4078"/>
                </a:solidFill>
              </a:rPr>
              <a:t> </a:t>
            </a:r>
            <a:r>
              <a:rPr sz="4000" spc="210" dirty="0">
                <a:solidFill>
                  <a:srgbClr val="1B4078"/>
                </a:solidFill>
              </a:rPr>
              <a:t>for</a:t>
            </a:r>
            <a:r>
              <a:rPr sz="4000" spc="265" dirty="0">
                <a:solidFill>
                  <a:srgbClr val="1B4078"/>
                </a:solidFill>
              </a:rPr>
              <a:t> </a:t>
            </a:r>
            <a:r>
              <a:rPr sz="4000" spc="400" dirty="0">
                <a:solidFill>
                  <a:srgbClr val="1B4078"/>
                </a:solidFill>
              </a:rPr>
              <a:t>RISC-V)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16939" y="1813077"/>
            <a:ext cx="3230880" cy="2240280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Immediate</a:t>
            </a:r>
            <a:endParaRPr sz="28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994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10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direct</a:t>
            </a:r>
            <a:endParaRPr sz="28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10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10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indirect</a:t>
            </a:r>
            <a:endParaRPr sz="2800">
              <a:latin typeface="Cambria"/>
              <a:cs typeface="Cambria"/>
            </a:endParaRPr>
          </a:p>
          <a:p>
            <a:pPr marL="469900" indent="-457834">
              <a:lnSpc>
                <a:spcPct val="100000"/>
              </a:lnSpc>
              <a:spcBef>
                <a:spcPts val="100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Base-offset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6939" y="5263083"/>
            <a:ext cx="1045146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marR="5080" indent="-457834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800" spc="270" dirty="0">
                <a:solidFill>
                  <a:srgbClr val="333333"/>
                </a:solidFill>
                <a:latin typeface="Cambria"/>
                <a:cs typeface="Cambria"/>
              </a:rPr>
              <a:t>NOTE: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indirect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800" spc="2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special</a:t>
            </a:r>
            <a:r>
              <a:rPr sz="2800" spc="19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case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base-offset.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333333"/>
                </a:solidFill>
                <a:latin typeface="Cambria"/>
                <a:cs typeface="Cambria"/>
              </a:rPr>
              <a:t>we </a:t>
            </a:r>
            <a:r>
              <a:rPr sz="2800" spc="-60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chemeClr val="accent1"/>
                </a:solidFill>
                <a:latin typeface="Cambria"/>
                <a:cs typeface="Cambria"/>
              </a:rPr>
              <a:t>offset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chemeClr val="accent1"/>
                </a:solidFill>
                <a:latin typeface="Cambria"/>
                <a:cs typeface="Cambria"/>
              </a:rPr>
              <a:t>zero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,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" dirty="0">
                <a:solidFill>
                  <a:srgbClr val="333333"/>
                </a:solidFill>
                <a:latin typeface="Cambria"/>
                <a:cs typeface="Cambria"/>
              </a:rPr>
              <a:t>we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get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chemeClr val="accent1"/>
                </a:solidFill>
                <a:latin typeface="Cambria"/>
                <a:cs typeface="Cambria"/>
              </a:rPr>
              <a:t>register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chemeClr val="accent1"/>
                </a:solidFill>
                <a:latin typeface="Cambria"/>
                <a:cs typeface="Cambria"/>
              </a:rPr>
              <a:t>indirect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chemeClr val="accent1"/>
                </a:solidFill>
                <a:latin typeface="Cambria"/>
                <a:cs typeface="Cambria"/>
              </a:rPr>
              <a:t>mode</a:t>
            </a:r>
            <a:endParaRPr sz="2800" dirty="0">
              <a:solidFill>
                <a:schemeClr val="accent1"/>
              </a:solidFill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325628"/>
            <a:ext cx="80594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/>
              <a:t>1.</a:t>
            </a:r>
            <a:r>
              <a:rPr sz="4000" spc="270" dirty="0"/>
              <a:t> </a:t>
            </a:r>
            <a:r>
              <a:rPr sz="4000" spc="254" dirty="0"/>
              <a:t>Immediate</a:t>
            </a:r>
            <a:r>
              <a:rPr sz="4000" spc="275" dirty="0"/>
              <a:t> </a:t>
            </a:r>
            <a:r>
              <a:rPr sz="4000" spc="245" dirty="0"/>
              <a:t>addressing </a:t>
            </a:r>
            <a:r>
              <a:rPr sz="4000" spc="220" dirty="0"/>
              <a:t>mode</a:t>
            </a:r>
            <a:endParaRPr sz="4000"/>
          </a:p>
        </p:txBody>
      </p:sp>
      <p:sp>
        <p:nvSpPr>
          <p:cNvPr id="4" name="object 4"/>
          <p:cNvSpPr/>
          <p:nvPr/>
        </p:nvSpPr>
        <p:spPr>
          <a:xfrm>
            <a:off x="2327910" y="4605095"/>
            <a:ext cx="3011805" cy="0"/>
          </a:xfrm>
          <a:custGeom>
            <a:avLst/>
            <a:gdLst/>
            <a:ahLst/>
            <a:cxnLst/>
            <a:rect l="l" t="t" r="r" b="b"/>
            <a:pathLst>
              <a:path w="3011804">
                <a:moveTo>
                  <a:pt x="0" y="0"/>
                </a:moveTo>
                <a:lnTo>
                  <a:pt x="3011424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61897" y="4239285"/>
            <a:ext cx="87820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165" dirty="0">
                <a:latin typeface="Cambria"/>
                <a:cs typeface="Cambria"/>
              </a:rPr>
              <a:t>imm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339334" y="4393894"/>
            <a:ext cx="4609465" cy="363220"/>
            <a:chOff x="5339334" y="4535296"/>
            <a:chExt cx="4609465" cy="363220"/>
          </a:xfrm>
        </p:grpSpPr>
        <p:sp>
          <p:nvSpPr>
            <p:cNvPr id="7" name="object 7"/>
            <p:cNvSpPr/>
            <p:nvPr/>
          </p:nvSpPr>
          <p:spPr>
            <a:xfrm>
              <a:off x="5339334" y="4700904"/>
              <a:ext cx="3528060" cy="103505"/>
            </a:xfrm>
            <a:custGeom>
              <a:avLst/>
              <a:gdLst/>
              <a:ahLst/>
              <a:cxnLst/>
              <a:rect l="l" t="t" r="r" b="b"/>
              <a:pathLst>
                <a:path w="3528059" h="103504">
                  <a:moveTo>
                    <a:pt x="3502950" y="51689"/>
                  </a:moveTo>
                  <a:lnTo>
                    <a:pt x="3433064" y="92456"/>
                  </a:lnTo>
                  <a:lnTo>
                    <a:pt x="3432047" y="96266"/>
                  </a:lnTo>
                  <a:lnTo>
                    <a:pt x="3435604" y="102362"/>
                  </a:lnTo>
                  <a:lnTo>
                    <a:pt x="3439414" y="103378"/>
                  </a:lnTo>
                  <a:lnTo>
                    <a:pt x="3517169" y="58039"/>
                  </a:lnTo>
                  <a:lnTo>
                    <a:pt x="3515487" y="58039"/>
                  </a:lnTo>
                  <a:lnTo>
                    <a:pt x="3515487" y="57150"/>
                  </a:lnTo>
                  <a:lnTo>
                    <a:pt x="3512312" y="57150"/>
                  </a:lnTo>
                  <a:lnTo>
                    <a:pt x="3502950" y="51689"/>
                  </a:lnTo>
                  <a:close/>
                </a:path>
                <a:path w="3528059" h="103504">
                  <a:moveTo>
                    <a:pt x="3492064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3492064" y="58039"/>
                  </a:lnTo>
                  <a:lnTo>
                    <a:pt x="3502950" y="51689"/>
                  </a:lnTo>
                  <a:lnTo>
                    <a:pt x="3492064" y="45339"/>
                  </a:lnTo>
                  <a:close/>
                </a:path>
                <a:path w="3528059" h="103504">
                  <a:moveTo>
                    <a:pt x="3517169" y="45339"/>
                  </a:moveTo>
                  <a:lnTo>
                    <a:pt x="3515487" y="45339"/>
                  </a:lnTo>
                  <a:lnTo>
                    <a:pt x="3515487" y="58039"/>
                  </a:lnTo>
                  <a:lnTo>
                    <a:pt x="3517169" y="58039"/>
                  </a:lnTo>
                  <a:lnTo>
                    <a:pt x="3528060" y="51689"/>
                  </a:lnTo>
                  <a:lnTo>
                    <a:pt x="3517169" y="45339"/>
                  </a:lnTo>
                  <a:close/>
                </a:path>
                <a:path w="3528059" h="103504">
                  <a:moveTo>
                    <a:pt x="3512312" y="46228"/>
                  </a:moveTo>
                  <a:lnTo>
                    <a:pt x="3502950" y="51689"/>
                  </a:lnTo>
                  <a:lnTo>
                    <a:pt x="3512312" y="57150"/>
                  </a:lnTo>
                  <a:lnTo>
                    <a:pt x="3512312" y="46228"/>
                  </a:lnTo>
                  <a:close/>
                </a:path>
                <a:path w="3528059" h="103504">
                  <a:moveTo>
                    <a:pt x="3515487" y="46228"/>
                  </a:moveTo>
                  <a:lnTo>
                    <a:pt x="3512312" y="46228"/>
                  </a:lnTo>
                  <a:lnTo>
                    <a:pt x="3512312" y="57150"/>
                  </a:lnTo>
                  <a:lnTo>
                    <a:pt x="3515487" y="57150"/>
                  </a:lnTo>
                  <a:lnTo>
                    <a:pt x="3515487" y="46228"/>
                  </a:lnTo>
                  <a:close/>
                </a:path>
                <a:path w="3528059" h="103504">
                  <a:moveTo>
                    <a:pt x="3439414" y="0"/>
                  </a:moveTo>
                  <a:lnTo>
                    <a:pt x="3435604" y="1016"/>
                  </a:lnTo>
                  <a:lnTo>
                    <a:pt x="3432047" y="7112"/>
                  </a:lnTo>
                  <a:lnTo>
                    <a:pt x="3433064" y="10922"/>
                  </a:lnTo>
                  <a:lnTo>
                    <a:pt x="3502950" y="51689"/>
                  </a:lnTo>
                  <a:lnTo>
                    <a:pt x="3512312" y="46228"/>
                  </a:lnTo>
                  <a:lnTo>
                    <a:pt x="3515487" y="46228"/>
                  </a:lnTo>
                  <a:lnTo>
                    <a:pt x="3515487" y="45339"/>
                  </a:lnTo>
                  <a:lnTo>
                    <a:pt x="3517169" y="45339"/>
                  </a:lnTo>
                  <a:lnTo>
                    <a:pt x="3439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867394" y="45361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867394" y="45361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9107551" y="4422215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005392"/>
                </a:solidFill>
                <a:latin typeface="Cambria"/>
                <a:cs typeface="Cambria"/>
              </a:rPr>
              <a:t>v</a:t>
            </a:r>
            <a:r>
              <a:rPr sz="1800" spc="12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lue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03605" y="1081357"/>
            <a:ext cx="11253470" cy="1875155"/>
          </a:xfrm>
          <a:prstGeom prst="rect">
            <a:avLst/>
          </a:prstGeom>
        </p:spPr>
        <p:txBody>
          <a:bodyPr vert="horz" wrap="square" lIns="0" tIns="284480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224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3200" spc="190" dirty="0">
                <a:latin typeface="Cambria"/>
                <a:cs typeface="Cambria"/>
              </a:rPr>
              <a:t>Value</a:t>
            </a:r>
            <a:r>
              <a:rPr sz="3200" spc="145" dirty="0">
                <a:latin typeface="Cambria"/>
                <a:cs typeface="Cambria"/>
              </a:rPr>
              <a:t> </a:t>
            </a:r>
            <a:r>
              <a:rPr sz="3200" spc="520" dirty="0">
                <a:latin typeface="Cambria"/>
                <a:cs typeface="Cambria"/>
              </a:rPr>
              <a:t>←</a:t>
            </a:r>
            <a:r>
              <a:rPr sz="3200" spc="145" dirty="0">
                <a:latin typeface="Cambria"/>
                <a:cs typeface="Cambria"/>
              </a:rPr>
              <a:t> </a:t>
            </a:r>
            <a:r>
              <a:rPr sz="3200" spc="160" dirty="0">
                <a:solidFill>
                  <a:schemeClr val="accent1"/>
                </a:solidFill>
                <a:latin typeface="Cambria"/>
                <a:cs typeface="Cambria"/>
              </a:rPr>
              <a:t>imm</a:t>
            </a:r>
            <a:endParaRPr sz="3200" dirty="0">
              <a:solidFill>
                <a:schemeClr val="accent1"/>
              </a:solidFill>
              <a:latin typeface="Cambria"/>
              <a:cs typeface="Cambria"/>
            </a:endParaRPr>
          </a:p>
          <a:p>
            <a:pPr marL="2818765" marR="5080">
              <a:lnSpc>
                <a:spcPct val="100000"/>
              </a:lnSpc>
              <a:spcBef>
                <a:spcPts val="1860"/>
              </a:spcBef>
            </a:pPr>
            <a:r>
              <a:rPr sz="2800" spc="130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005392"/>
                </a:solidFill>
                <a:latin typeface="Cambria"/>
                <a:cs typeface="Cambria"/>
              </a:rPr>
              <a:t>(e.g.,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4,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8,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5392"/>
                </a:solidFill>
                <a:latin typeface="Cambria"/>
                <a:cs typeface="Cambria"/>
              </a:rPr>
              <a:t>0x13,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005392"/>
                </a:solidFill>
                <a:latin typeface="Cambria"/>
                <a:cs typeface="Cambria"/>
              </a:rPr>
              <a:t>-3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" dirty="0">
                <a:solidFill>
                  <a:srgbClr val="005392"/>
                </a:solidFill>
                <a:latin typeface="Cambria"/>
                <a:cs typeface="Cambria"/>
              </a:rPr>
              <a:t>etc)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05392"/>
                </a:solidFill>
                <a:latin typeface="Cambria"/>
                <a:cs typeface="Cambria"/>
              </a:rPr>
              <a:t>available</a:t>
            </a:r>
            <a:r>
              <a:rPr sz="2800" spc="1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5392"/>
                </a:solidFill>
                <a:latin typeface="Cambria"/>
                <a:cs typeface="Cambria"/>
              </a:rPr>
              <a:t>in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the </a:t>
            </a:r>
            <a:r>
              <a:rPr sz="2800" spc="-6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005392"/>
                </a:solidFill>
                <a:latin typeface="Cambria"/>
                <a:cs typeface="Cambria"/>
              </a:rPr>
              <a:t>instruction</a:t>
            </a:r>
            <a:r>
              <a:rPr sz="2800" spc="1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itself.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005392"/>
                </a:solidFill>
                <a:latin typeface="Cambria"/>
                <a:cs typeface="Cambria"/>
              </a:rPr>
              <a:t>No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5392"/>
                </a:solidFill>
                <a:latin typeface="Cambria"/>
                <a:cs typeface="Cambria"/>
              </a:rPr>
              <a:t>need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005392"/>
                </a:solidFill>
                <a:latin typeface="Cambria"/>
                <a:cs typeface="Cambria"/>
              </a:rPr>
              <a:t>to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5392"/>
                </a:solidFill>
                <a:latin typeface="Cambria"/>
                <a:cs typeface="Cambria"/>
              </a:rPr>
              <a:t>access</a:t>
            </a:r>
            <a:r>
              <a:rPr sz="2800" spc="15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register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file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325628"/>
            <a:ext cx="6229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/>
              <a:t>2.</a:t>
            </a:r>
            <a:r>
              <a:rPr sz="4000" spc="250" dirty="0"/>
              <a:t> </a:t>
            </a:r>
            <a:r>
              <a:rPr sz="4000" spc="265" dirty="0"/>
              <a:t>Register</a:t>
            </a:r>
            <a:r>
              <a:rPr sz="4000" spc="280" dirty="0"/>
              <a:t> Direct</a:t>
            </a:r>
            <a:r>
              <a:rPr sz="4000" spc="254" dirty="0"/>
              <a:t> </a:t>
            </a:r>
            <a:r>
              <a:rPr sz="4000" spc="285" dirty="0"/>
              <a:t>Mode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03605" y="1352803"/>
            <a:ext cx="248729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3200" spc="190" dirty="0">
                <a:latin typeface="Cambria"/>
                <a:cs typeface="Cambria"/>
              </a:rPr>
              <a:t>Value</a:t>
            </a:r>
            <a:r>
              <a:rPr sz="3200" spc="135" dirty="0">
                <a:latin typeface="Cambria"/>
                <a:cs typeface="Cambria"/>
              </a:rPr>
              <a:t> </a:t>
            </a:r>
            <a:r>
              <a:rPr sz="3200" spc="520" dirty="0">
                <a:latin typeface="Cambria"/>
                <a:cs typeface="Cambria"/>
              </a:rPr>
              <a:t>←</a:t>
            </a:r>
            <a:r>
              <a:rPr sz="3200" spc="130" dirty="0">
                <a:latin typeface="Cambria"/>
                <a:cs typeface="Cambria"/>
              </a:rPr>
              <a:t> </a:t>
            </a:r>
            <a:r>
              <a:rPr sz="3200" spc="55" dirty="0">
                <a:solidFill>
                  <a:schemeClr val="accent1"/>
                </a:solidFill>
                <a:latin typeface="Cambria"/>
                <a:cs typeface="Cambria"/>
              </a:rPr>
              <a:t>r1</a:t>
            </a:r>
            <a:endParaRPr sz="3200" dirty="0">
              <a:solidFill>
                <a:schemeClr val="accent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86301" y="2735452"/>
          <a:ext cx="1151890" cy="20162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66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186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">
                <a:tc rowSpan="2">
                  <a:txBody>
                    <a:bodyPr/>
                    <a:lstStyle/>
                    <a:p>
                      <a:pPr marL="20510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784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BEBEBE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410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0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330957" y="3333877"/>
            <a:ext cx="1295400" cy="103505"/>
          </a:xfrm>
          <a:custGeom>
            <a:avLst/>
            <a:gdLst/>
            <a:ahLst/>
            <a:cxnLst/>
            <a:rect l="l" t="t" r="r" b="b"/>
            <a:pathLst>
              <a:path w="1295400" h="103504">
                <a:moveTo>
                  <a:pt x="1270290" y="51688"/>
                </a:moveTo>
                <a:lnTo>
                  <a:pt x="1200404" y="92456"/>
                </a:lnTo>
                <a:lnTo>
                  <a:pt x="1199388" y="96265"/>
                </a:lnTo>
                <a:lnTo>
                  <a:pt x="1202944" y="102362"/>
                </a:lnTo>
                <a:lnTo>
                  <a:pt x="1206754" y="103377"/>
                </a:lnTo>
                <a:lnTo>
                  <a:pt x="1284509" y="58038"/>
                </a:lnTo>
                <a:lnTo>
                  <a:pt x="1282827" y="58038"/>
                </a:lnTo>
                <a:lnTo>
                  <a:pt x="1282827" y="57150"/>
                </a:lnTo>
                <a:lnTo>
                  <a:pt x="1279652" y="57150"/>
                </a:lnTo>
                <a:lnTo>
                  <a:pt x="1270290" y="51688"/>
                </a:lnTo>
                <a:close/>
              </a:path>
              <a:path w="1295400" h="103504">
                <a:moveTo>
                  <a:pt x="125940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1259404" y="58038"/>
                </a:lnTo>
                <a:lnTo>
                  <a:pt x="1270290" y="51688"/>
                </a:lnTo>
                <a:lnTo>
                  <a:pt x="1259404" y="45338"/>
                </a:lnTo>
                <a:close/>
              </a:path>
              <a:path w="1295400" h="103504">
                <a:moveTo>
                  <a:pt x="1284509" y="45338"/>
                </a:moveTo>
                <a:lnTo>
                  <a:pt x="1282827" y="45338"/>
                </a:lnTo>
                <a:lnTo>
                  <a:pt x="1282827" y="58038"/>
                </a:lnTo>
                <a:lnTo>
                  <a:pt x="1284509" y="58038"/>
                </a:lnTo>
                <a:lnTo>
                  <a:pt x="1295400" y="51688"/>
                </a:lnTo>
                <a:lnTo>
                  <a:pt x="1284509" y="45338"/>
                </a:lnTo>
                <a:close/>
              </a:path>
              <a:path w="1295400" h="103504">
                <a:moveTo>
                  <a:pt x="1279652" y="46227"/>
                </a:moveTo>
                <a:lnTo>
                  <a:pt x="1270290" y="51688"/>
                </a:lnTo>
                <a:lnTo>
                  <a:pt x="1279652" y="57150"/>
                </a:lnTo>
                <a:lnTo>
                  <a:pt x="1279652" y="46227"/>
                </a:lnTo>
                <a:close/>
              </a:path>
              <a:path w="1295400" h="103504">
                <a:moveTo>
                  <a:pt x="1282827" y="46227"/>
                </a:moveTo>
                <a:lnTo>
                  <a:pt x="1279652" y="46227"/>
                </a:lnTo>
                <a:lnTo>
                  <a:pt x="1279652" y="57150"/>
                </a:lnTo>
                <a:lnTo>
                  <a:pt x="1282827" y="57150"/>
                </a:lnTo>
                <a:lnTo>
                  <a:pt x="1282827" y="46227"/>
                </a:lnTo>
                <a:close/>
              </a:path>
              <a:path w="1295400" h="103504">
                <a:moveTo>
                  <a:pt x="1206754" y="0"/>
                </a:moveTo>
                <a:lnTo>
                  <a:pt x="1202944" y="1015"/>
                </a:lnTo>
                <a:lnTo>
                  <a:pt x="1199388" y="7112"/>
                </a:lnTo>
                <a:lnTo>
                  <a:pt x="1200404" y="10922"/>
                </a:lnTo>
                <a:lnTo>
                  <a:pt x="1270290" y="51688"/>
                </a:lnTo>
                <a:lnTo>
                  <a:pt x="1279652" y="46227"/>
                </a:lnTo>
                <a:lnTo>
                  <a:pt x="1282827" y="46227"/>
                </a:lnTo>
                <a:lnTo>
                  <a:pt x="1282827" y="45338"/>
                </a:lnTo>
                <a:lnTo>
                  <a:pt x="1284509" y="45338"/>
                </a:lnTo>
                <a:lnTo>
                  <a:pt x="1206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544572" y="2790189"/>
            <a:ext cx="4343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latin typeface="Cambria"/>
                <a:cs typeface="Cambria"/>
              </a:rPr>
              <a:t>r1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76878" y="4710176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005392"/>
                </a:solidFill>
                <a:latin typeface="Cambria"/>
                <a:cs typeface="Cambria"/>
              </a:rPr>
              <a:t>register file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339334" y="4535296"/>
            <a:ext cx="4609465" cy="363220"/>
            <a:chOff x="5339334" y="4535296"/>
            <a:chExt cx="4609465" cy="363220"/>
          </a:xfrm>
        </p:grpSpPr>
        <p:sp>
          <p:nvSpPr>
            <p:cNvPr id="10" name="object 10"/>
            <p:cNvSpPr/>
            <p:nvPr/>
          </p:nvSpPr>
          <p:spPr>
            <a:xfrm>
              <a:off x="5339334" y="4700904"/>
              <a:ext cx="3528060" cy="103505"/>
            </a:xfrm>
            <a:custGeom>
              <a:avLst/>
              <a:gdLst/>
              <a:ahLst/>
              <a:cxnLst/>
              <a:rect l="l" t="t" r="r" b="b"/>
              <a:pathLst>
                <a:path w="3528059" h="103504">
                  <a:moveTo>
                    <a:pt x="3502950" y="51689"/>
                  </a:moveTo>
                  <a:lnTo>
                    <a:pt x="3433064" y="92456"/>
                  </a:lnTo>
                  <a:lnTo>
                    <a:pt x="3432047" y="96266"/>
                  </a:lnTo>
                  <a:lnTo>
                    <a:pt x="3435604" y="102362"/>
                  </a:lnTo>
                  <a:lnTo>
                    <a:pt x="3439414" y="103378"/>
                  </a:lnTo>
                  <a:lnTo>
                    <a:pt x="3517169" y="58039"/>
                  </a:lnTo>
                  <a:lnTo>
                    <a:pt x="3515487" y="58039"/>
                  </a:lnTo>
                  <a:lnTo>
                    <a:pt x="3515487" y="57150"/>
                  </a:lnTo>
                  <a:lnTo>
                    <a:pt x="3512312" y="57150"/>
                  </a:lnTo>
                  <a:lnTo>
                    <a:pt x="3502950" y="51689"/>
                  </a:lnTo>
                  <a:close/>
                </a:path>
                <a:path w="3528059" h="103504">
                  <a:moveTo>
                    <a:pt x="3492064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3492064" y="58039"/>
                  </a:lnTo>
                  <a:lnTo>
                    <a:pt x="3502950" y="51689"/>
                  </a:lnTo>
                  <a:lnTo>
                    <a:pt x="3492064" y="45339"/>
                  </a:lnTo>
                  <a:close/>
                </a:path>
                <a:path w="3528059" h="103504">
                  <a:moveTo>
                    <a:pt x="3517169" y="45339"/>
                  </a:moveTo>
                  <a:lnTo>
                    <a:pt x="3515487" y="45339"/>
                  </a:lnTo>
                  <a:lnTo>
                    <a:pt x="3515487" y="58039"/>
                  </a:lnTo>
                  <a:lnTo>
                    <a:pt x="3517169" y="58039"/>
                  </a:lnTo>
                  <a:lnTo>
                    <a:pt x="3528060" y="51689"/>
                  </a:lnTo>
                  <a:lnTo>
                    <a:pt x="3517169" y="45339"/>
                  </a:lnTo>
                  <a:close/>
                </a:path>
                <a:path w="3528059" h="103504">
                  <a:moveTo>
                    <a:pt x="3512312" y="46228"/>
                  </a:moveTo>
                  <a:lnTo>
                    <a:pt x="3502950" y="51689"/>
                  </a:lnTo>
                  <a:lnTo>
                    <a:pt x="3512312" y="57150"/>
                  </a:lnTo>
                  <a:lnTo>
                    <a:pt x="3512312" y="46228"/>
                  </a:lnTo>
                  <a:close/>
                </a:path>
                <a:path w="3528059" h="103504">
                  <a:moveTo>
                    <a:pt x="3515487" y="46228"/>
                  </a:moveTo>
                  <a:lnTo>
                    <a:pt x="3512312" y="46228"/>
                  </a:lnTo>
                  <a:lnTo>
                    <a:pt x="3512312" y="57150"/>
                  </a:lnTo>
                  <a:lnTo>
                    <a:pt x="3515487" y="57150"/>
                  </a:lnTo>
                  <a:lnTo>
                    <a:pt x="3515487" y="46228"/>
                  </a:lnTo>
                  <a:close/>
                </a:path>
                <a:path w="3528059" h="103504">
                  <a:moveTo>
                    <a:pt x="3439414" y="0"/>
                  </a:moveTo>
                  <a:lnTo>
                    <a:pt x="3435604" y="1016"/>
                  </a:lnTo>
                  <a:lnTo>
                    <a:pt x="3432047" y="7112"/>
                  </a:lnTo>
                  <a:lnTo>
                    <a:pt x="3433064" y="10922"/>
                  </a:lnTo>
                  <a:lnTo>
                    <a:pt x="3502950" y="51689"/>
                  </a:lnTo>
                  <a:lnTo>
                    <a:pt x="3512312" y="46228"/>
                  </a:lnTo>
                  <a:lnTo>
                    <a:pt x="3515487" y="46228"/>
                  </a:lnTo>
                  <a:lnTo>
                    <a:pt x="3515487" y="45339"/>
                  </a:lnTo>
                  <a:lnTo>
                    <a:pt x="3517169" y="45339"/>
                  </a:lnTo>
                  <a:lnTo>
                    <a:pt x="34394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67394" y="45361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67394" y="45361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107551" y="4563617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005392"/>
                </a:solidFill>
                <a:latin typeface="Cambria"/>
                <a:cs typeface="Cambria"/>
              </a:rPr>
              <a:t>v</a:t>
            </a:r>
            <a:r>
              <a:rPr sz="1800" spc="12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lue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63188" y="2669286"/>
            <a:ext cx="440055" cy="87820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5080" indent="5715">
              <a:lnSpc>
                <a:spcPct val="74700"/>
              </a:lnSpc>
              <a:spcBef>
                <a:spcPts val="1075"/>
              </a:spcBef>
            </a:pPr>
            <a:r>
              <a:rPr sz="3200" spc="45" dirty="0">
                <a:latin typeface="Cambria"/>
                <a:cs typeface="Cambria"/>
              </a:rPr>
              <a:t>r0  r1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16248" y="4109720"/>
            <a:ext cx="659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35" dirty="0">
                <a:latin typeface="Cambria"/>
                <a:cs typeface="Cambria"/>
              </a:rPr>
              <a:t>r15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78021" y="1482979"/>
            <a:ext cx="7871459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30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5392"/>
                </a:solidFill>
                <a:latin typeface="Cambria"/>
                <a:cs typeface="Cambria"/>
              </a:rPr>
              <a:t>obtained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5392"/>
                </a:solidFill>
                <a:latin typeface="Cambria"/>
                <a:cs typeface="Cambria"/>
              </a:rPr>
              <a:t>from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register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directly.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87665" y="4470654"/>
            <a:ext cx="406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mbria"/>
                <a:cs typeface="Cambria"/>
              </a:rPr>
              <a:t>784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36219" y="297307"/>
            <a:ext cx="110528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Examples</a:t>
            </a:r>
            <a:r>
              <a:rPr spc="229" dirty="0"/>
              <a:t> </a:t>
            </a:r>
            <a:r>
              <a:rPr spc="185" dirty="0"/>
              <a:t>of</a:t>
            </a:r>
            <a:r>
              <a:rPr spc="240" dirty="0"/>
              <a:t> </a:t>
            </a:r>
            <a:r>
              <a:rPr spc="220" dirty="0"/>
              <a:t>instructions</a:t>
            </a:r>
            <a:r>
              <a:rPr spc="245" dirty="0"/>
              <a:t> </a:t>
            </a:r>
            <a:r>
              <a:rPr spc="254" dirty="0"/>
              <a:t>that</a:t>
            </a:r>
            <a:r>
              <a:rPr spc="240" dirty="0"/>
              <a:t> </a:t>
            </a:r>
            <a:r>
              <a:rPr spc="200" dirty="0"/>
              <a:t>use</a:t>
            </a:r>
            <a:r>
              <a:rPr spc="240" dirty="0"/>
              <a:t> </a:t>
            </a:r>
            <a:r>
              <a:rPr spc="195" dirty="0"/>
              <a:t>those</a:t>
            </a:r>
            <a:r>
              <a:rPr spc="229" dirty="0"/>
              <a:t> </a:t>
            </a:r>
            <a:r>
              <a:rPr spc="190" dirty="0"/>
              <a:t>modes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44423" y="1099863"/>
            <a:ext cx="10229215" cy="442277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335915" indent="-323850">
              <a:lnSpc>
                <a:spcPct val="100000"/>
              </a:lnSpc>
              <a:spcBef>
                <a:spcPts val="960"/>
              </a:spcBef>
              <a:buFont typeface="Arial MT"/>
              <a:buChar char="•"/>
              <a:tabLst>
                <a:tab pos="335915" algn="l"/>
                <a:tab pos="336550" algn="l"/>
              </a:tabLst>
            </a:pP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Register</a:t>
            </a:r>
            <a:r>
              <a:rPr sz="2800" i="1" spc="-2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direct:</a:t>
            </a:r>
            <a:r>
              <a:rPr sz="2800" i="1" spc="-1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sub r3,</a:t>
            </a:r>
            <a:r>
              <a:rPr sz="2800" i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r1,</a:t>
            </a:r>
            <a:r>
              <a:rPr sz="2800" i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r2</a:t>
            </a:r>
            <a:endParaRPr sz="2800" dirty="0">
              <a:latin typeface="Courier New"/>
              <a:cs typeface="Courier New"/>
            </a:endParaRPr>
          </a:p>
          <a:p>
            <a:pPr marL="335915" marR="5080" indent="-323850">
              <a:lnSpc>
                <a:spcPts val="3030"/>
              </a:lnSpc>
              <a:spcBef>
                <a:spcPts val="1240"/>
              </a:spcBef>
              <a:buFont typeface="Arial MT"/>
              <a:buChar char="•"/>
              <a:tabLst>
                <a:tab pos="335915" algn="l"/>
                <a:tab pos="336550" algn="l"/>
              </a:tabLst>
            </a:pPr>
            <a:r>
              <a:rPr lang="en-US" sz="2800" spc="140" dirty="0">
                <a:latin typeface="Cambria"/>
                <a:cs typeface="Cambria"/>
              </a:rPr>
              <a:t>r</a:t>
            </a:r>
            <a:r>
              <a:rPr sz="2800" spc="140" dirty="0">
                <a:latin typeface="Cambria"/>
                <a:cs typeface="Cambria"/>
              </a:rPr>
              <a:t>1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r2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values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fetched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60" dirty="0">
                <a:latin typeface="Cambria"/>
                <a:cs typeface="Cambria"/>
              </a:rPr>
              <a:t>from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registers.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30" dirty="0">
                <a:latin typeface="Cambria"/>
                <a:cs typeface="Cambria"/>
              </a:rPr>
              <a:t>Result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stored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in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r3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buChar char="•"/>
            </a:pPr>
            <a:endParaRPr sz="33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har char="•"/>
            </a:pPr>
            <a:endParaRPr sz="3900" dirty="0">
              <a:latin typeface="Cambria"/>
              <a:cs typeface="Cambria"/>
            </a:endParaRPr>
          </a:p>
          <a:p>
            <a:pPr marL="335915" indent="-323850">
              <a:lnSpc>
                <a:spcPct val="100000"/>
              </a:lnSpc>
              <a:buFont typeface="Arial MT"/>
              <a:buChar char="•"/>
              <a:tabLst>
                <a:tab pos="335915" algn="l"/>
                <a:tab pos="336550" algn="l"/>
                <a:tab pos="3952875" algn="l"/>
              </a:tabLst>
            </a:pP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Immediate:	</a:t>
            </a:r>
            <a:r>
              <a:rPr lang="en-US" sz="2800" i="1" spc="-10" dirty="0" err="1">
                <a:solidFill>
                  <a:srgbClr val="006FC0"/>
                </a:solidFill>
                <a:latin typeface="Courier New"/>
                <a:cs typeface="Courier New"/>
              </a:rPr>
              <a:t>addi</a:t>
            </a:r>
            <a:r>
              <a:rPr sz="2800" i="1" spc="-2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r3,</a:t>
            </a:r>
            <a:r>
              <a:rPr sz="2800" i="1" spc="-35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r1,</a:t>
            </a:r>
            <a:r>
              <a:rPr sz="2800" i="1" spc="-3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2800" i="1" spc="-10" dirty="0">
                <a:solidFill>
                  <a:srgbClr val="006FC0"/>
                </a:solidFill>
                <a:latin typeface="Courier New"/>
                <a:cs typeface="Courier New"/>
              </a:rPr>
              <a:t>500</a:t>
            </a:r>
            <a:endParaRPr sz="2800" dirty="0">
              <a:latin typeface="Courier New"/>
              <a:cs typeface="Courier New"/>
            </a:endParaRPr>
          </a:p>
          <a:p>
            <a:pPr marL="335915" marR="390525" indent="-323850">
              <a:lnSpc>
                <a:spcPts val="3020"/>
              </a:lnSpc>
              <a:spcBef>
                <a:spcPts val="1250"/>
              </a:spcBef>
              <a:buFont typeface="Arial MT"/>
              <a:buChar char="•"/>
              <a:tabLst>
                <a:tab pos="335915" algn="l"/>
                <a:tab pos="336550" algn="l"/>
              </a:tabLst>
            </a:pPr>
            <a:r>
              <a:rPr sz="2800" spc="150" dirty="0">
                <a:latin typeface="Cambria"/>
                <a:cs typeface="Cambria"/>
              </a:rPr>
              <a:t>Here,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r1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40" dirty="0">
                <a:latin typeface="Cambria"/>
                <a:cs typeface="Cambria"/>
              </a:rPr>
              <a:t>r3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accessed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from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registers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30" dirty="0">
                <a:latin typeface="Cambria"/>
                <a:cs typeface="Cambria"/>
              </a:rPr>
              <a:t>and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500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is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immediate</a:t>
            </a:r>
            <a:r>
              <a:rPr sz="2800" spc="18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value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available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in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instruction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itself.</a:t>
            </a:r>
            <a:endParaRPr sz="2800" dirty="0">
              <a:latin typeface="Cambria"/>
              <a:cs typeface="Cambria"/>
            </a:endParaRPr>
          </a:p>
          <a:p>
            <a:pPr marL="335915" indent="-32385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335915" algn="l"/>
                <a:tab pos="336550" algn="l"/>
              </a:tabLst>
            </a:pPr>
            <a:r>
              <a:rPr sz="2800" spc="235" dirty="0">
                <a:latin typeface="Cambria"/>
                <a:cs typeface="Cambria"/>
              </a:rPr>
              <a:t>RISC-V: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at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chemeClr val="accent1"/>
                </a:solidFill>
                <a:latin typeface="Cambria"/>
                <a:cs typeface="Cambria"/>
              </a:rPr>
              <a:t>most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chemeClr val="accent1"/>
                </a:solidFill>
                <a:latin typeface="Cambria"/>
                <a:cs typeface="Cambria"/>
              </a:rPr>
              <a:t>one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chemeClr val="accent1"/>
                </a:solidFill>
                <a:latin typeface="Cambria"/>
                <a:cs typeface="Cambria"/>
              </a:rPr>
              <a:t>operand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can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20" dirty="0">
                <a:latin typeface="Cambria"/>
                <a:cs typeface="Cambria"/>
              </a:rPr>
              <a:t>be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an </a:t>
            </a:r>
            <a:r>
              <a:rPr sz="2800" spc="114" dirty="0">
                <a:solidFill>
                  <a:schemeClr val="accent1"/>
                </a:solidFill>
                <a:latin typeface="Cambria"/>
                <a:cs typeface="Cambria"/>
              </a:rPr>
              <a:t>immediate</a:t>
            </a:r>
            <a:r>
              <a:rPr sz="2800" spc="114" dirty="0">
                <a:latin typeface="Cambria"/>
                <a:cs typeface="Cambria"/>
              </a:rPr>
              <a:t>.</a:t>
            </a:r>
            <a:endParaRPr sz="28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96900" y="325628"/>
            <a:ext cx="67183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/>
              <a:t>3.</a:t>
            </a:r>
            <a:r>
              <a:rPr sz="4000" spc="254" dirty="0"/>
              <a:t> </a:t>
            </a:r>
            <a:r>
              <a:rPr sz="4000" spc="265" dirty="0"/>
              <a:t>Register</a:t>
            </a:r>
            <a:r>
              <a:rPr sz="4000" spc="280" dirty="0"/>
              <a:t> </a:t>
            </a:r>
            <a:r>
              <a:rPr sz="4000" spc="270" dirty="0"/>
              <a:t>Indirect</a:t>
            </a:r>
            <a:r>
              <a:rPr sz="4000" spc="250" dirty="0"/>
              <a:t> </a:t>
            </a:r>
            <a:r>
              <a:rPr sz="4000" spc="285" dirty="0"/>
              <a:t>Mode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95503" y="1575257"/>
            <a:ext cx="275717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3200" spc="190" dirty="0">
                <a:latin typeface="Cambria"/>
                <a:cs typeface="Cambria"/>
              </a:rPr>
              <a:t>Value</a:t>
            </a:r>
            <a:r>
              <a:rPr sz="3200" spc="125" dirty="0">
                <a:latin typeface="Cambria"/>
                <a:cs typeface="Cambria"/>
              </a:rPr>
              <a:t> </a:t>
            </a:r>
            <a:r>
              <a:rPr sz="3200" spc="525" dirty="0">
                <a:latin typeface="Cambria"/>
                <a:cs typeface="Cambria"/>
              </a:rPr>
              <a:t>←</a:t>
            </a:r>
            <a:r>
              <a:rPr sz="3200" spc="120" dirty="0">
                <a:latin typeface="Cambria"/>
                <a:cs typeface="Cambria"/>
              </a:rPr>
              <a:t> </a:t>
            </a:r>
            <a:r>
              <a:rPr sz="3200" spc="-50" dirty="0">
                <a:solidFill>
                  <a:schemeClr val="accent1"/>
                </a:solidFill>
                <a:latin typeface="Cambria"/>
                <a:cs typeface="Cambria"/>
              </a:rPr>
              <a:t>(r1)</a:t>
            </a:r>
            <a:endParaRPr sz="3200" dirty="0">
              <a:solidFill>
                <a:schemeClr val="accent1"/>
              </a:solidFill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186301" y="3192652"/>
          <a:ext cx="1151890" cy="201624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">
                <a:tc row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40" dirty="0">
                          <a:solidFill>
                            <a:srgbClr val="BE0000"/>
                          </a:solidFill>
                          <a:latin typeface="Cambria"/>
                          <a:cs typeface="Cambria"/>
                        </a:rPr>
                        <a:t>148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0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291333" y="3711828"/>
            <a:ext cx="1295400" cy="103505"/>
          </a:xfrm>
          <a:custGeom>
            <a:avLst/>
            <a:gdLst/>
            <a:ahLst/>
            <a:cxnLst/>
            <a:rect l="l" t="t" r="r" b="b"/>
            <a:pathLst>
              <a:path w="1295400" h="103504">
                <a:moveTo>
                  <a:pt x="1270290" y="51689"/>
                </a:moveTo>
                <a:lnTo>
                  <a:pt x="1200404" y="92456"/>
                </a:lnTo>
                <a:lnTo>
                  <a:pt x="1199388" y="96266"/>
                </a:lnTo>
                <a:lnTo>
                  <a:pt x="1202944" y="102362"/>
                </a:lnTo>
                <a:lnTo>
                  <a:pt x="1206754" y="103378"/>
                </a:lnTo>
                <a:lnTo>
                  <a:pt x="1284509" y="58039"/>
                </a:lnTo>
                <a:lnTo>
                  <a:pt x="1282827" y="58039"/>
                </a:lnTo>
                <a:lnTo>
                  <a:pt x="1282827" y="57150"/>
                </a:lnTo>
                <a:lnTo>
                  <a:pt x="1279652" y="57150"/>
                </a:lnTo>
                <a:lnTo>
                  <a:pt x="1270290" y="51689"/>
                </a:lnTo>
                <a:close/>
              </a:path>
              <a:path w="1295400" h="103504">
                <a:moveTo>
                  <a:pt x="1259404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259404" y="58039"/>
                </a:lnTo>
                <a:lnTo>
                  <a:pt x="1270290" y="51689"/>
                </a:lnTo>
                <a:lnTo>
                  <a:pt x="1259404" y="45339"/>
                </a:lnTo>
                <a:close/>
              </a:path>
              <a:path w="1295400" h="103504">
                <a:moveTo>
                  <a:pt x="1284509" y="45339"/>
                </a:moveTo>
                <a:lnTo>
                  <a:pt x="1282827" y="45339"/>
                </a:lnTo>
                <a:lnTo>
                  <a:pt x="1282827" y="58039"/>
                </a:lnTo>
                <a:lnTo>
                  <a:pt x="1284509" y="58039"/>
                </a:lnTo>
                <a:lnTo>
                  <a:pt x="1295400" y="51689"/>
                </a:lnTo>
                <a:lnTo>
                  <a:pt x="1284509" y="45339"/>
                </a:lnTo>
                <a:close/>
              </a:path>
              <a:path w="1295400" h="103504">
                <a:moveTo>
                  <a:pt x="1279652" y="46228"/>
                </a:moveTo>
                <a:lnTo>
                  <a:pt x="1270290" y="51689"/>
                </a:lnTo>
                <a:lnTo>
                  <a:pt x="1279652" y="57150"/>
                </a:lnTo>
                <a:lnTo>
                  <a:pt x="1279652" y="46228"/>
                </a:lnTo>
                <a:close/>
              </a:path>
              <a:path w="1295400" h="103504">
                <a:moveTo>
                  <a:pt x="1282827" y="46228"/>
                </a:moveTo>
                <a:lnTo>
                  <a:pt x="1279652" y="46228"/>
                </a:lnTo>
                <a:lnTo>
                  <a:pt x="1279652" y="57150"/>
                </a:lnTo>
                <a:lnTo>
                  <a:pt x="1282827" y="57150"/>
                </a:lnTo>
                <a:lnTo>
                  <a:pt x="1282827" y="46228"/>
                </a:lnTo>
                <a:close/>
              </a:path>
              <a:path w="1295400" h="103504">
                <a:moveTo>
                  <a:pt x="1206754" y="0"/>
                </a:moveTo>
                <a:lnTo>
                  <a:pt x="1202944" y="1016"/>
                </a:lnTo>
                <a:lnTo>
                  <a:pt x="1199388" y="7112"/>
                </a:lnTo>
                <a:lnTo>
                  <a:pt x="1200404" y="10922"/>
                </a:lnTo>
                <a:lnTo>
                  <a:pt x="1270290" y="51689"/>
                </a:lnTo>
                <a:lnTo>
                  <a:pt x="1279652" y="46228"/>
                </a:lnTo>
                <a:lnTo>
                  <a:pt x="1282827" y="46228"/>
                </a:lnTo>
                <a:lnTo>
                  <a:pt x="1282827" y="45339"/>
                </a:lnTo>
                <a:lnTo>
                  <a:pt x="1284509" y="45339"/>
                </a:lnTo>
                <a:lnTo>
                  <a:pt x="120675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009010" y="3077337"/>
            <a:ext cx="111950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72465" algn="l"/>
              </a:tabLst>
            </a:pPr>
            <a:r>
              <a:rPr sz="4800" spc="82" baseline="-23437" dirty="0">
                <a:latin typeface="Cambria"/>
                <a:cs typeface="Cambria"/>
              </a:rPr>
              <a:t>r1	</a:t>
            </a:r>
            <a:r>
              <a:rPr sz="3200" spc="55" dirty="0">
                <a:latin typeface="Cambria"/>
                <a:cs typeface="Cambria"/>
              </a:rPr>
              <a:t>r0</a:t>
            </a:r>
            <a:endParaRPr sz="32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64453" y="2904617"/>
          <a:ext cx="792480" cy="3240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4019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387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976878" y="5167376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005392"/>
                </a:solidFill>
                <a:latin typeface="Cambria"/>
                <a:cs typeface="Cambria"/>
              </a:rPr>
              <a:t>register file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137528" y="6261608"/>
            <a:ext cx="8985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235" dirty="0">
                <a:solidFill>
                  <a:srgbClr val="005392"/>
                </a:solidFill>
                <a:latin typeface="Cambria"/>
                <a:cs typeface="Cambria"/>
              </a:rPr>
              <a:t>M</a:t>
            </a:r>
            <a:r>
              <a:rPr sz="1800" spc="35" dirty="0">
                <a:solidFill>
                  <a:srgbClr val="005392"/>
                </a:solidFill>
                <a:latin typeface="Cambria"/>
                <a:cs typeface="Cambria"/>
              </a:rPr>
              <a:t>emory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5339334" y="5158104"/>
            <a:ext cx="361315" cy="103505"/>
          </a:xfrm>
          <a:custGeom>
            <a:avLst/>
            <a:gdLst/>
            <a:ahLst/>
            <a:cxnLst/>
            <a:rect l="l" t="t" r="r" b="b"/>
            <a:pathLst>
              <a:path w="361314" h="103504">
                <a:moveTo>
                  <a:pt x="336078" y="51689"/>
                </a:moveTo>
                <a:lnTo>
                  <a:pt x="266191" y="92456"/>
                </a:lnTo>
                <a:lnTo>
                  <a:pt x="265175" y="96266"/>
                </a:lnTo>
                <a:lnTo>
                  <a:pt x="268731" y="102362"/>
                </a:lnTo>
                <a:lnTo>
                  <a:pt x="272541" y="103378"/>
                </a:lnTo>
                <a:lnTo>
                  <a:pt x="350297" y="58039"/>
                </a:lnTo>
                <a:lnTo>
                  <a:pt x="348614" y="58039"/>
                </a:lnTo>
                <a:lnTo>
                  <a:pt x="348614" y="57150"/>
                </a:lnTo>
                <a:lnTo>
                  <a:pt x="345439" y="57150"/>
                </a:lnTo>
                <a:lnTo>
                  <a:pt x="336078" y="51689"/>
                </a:lnTo>
                <a:close/>
              </a:path>
              <a:path w="361314" h="103504">
                <a:moveTo>
                  <a:pt x="325192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325192" y="58039"/>
                </a:lnTo>
                <a:lnTo>
                  <a:pt x="336078" y="51689"/>
                </a:lnTo>
                <a:lnTo>
                  <a:pt x="325192" y="45339"/>
                </a:lnTo>
                <a:close/>
              </a:path>
              <a:path w="361314" h="103504">
                <a:moveTo>
                  <a:pt x="350297" y="45339"/>
                </a:moveTo>
                <a:lnTo>
                  <a:pt x="348614" y="45339"/>
                </a:lnTo>
                <a:lnTo>
                  <a:pt x="348614" y="58039"/>
                </a:lnTo>
                <a:lnTo>
                  <a:pt x="350297" y="58039"/>
                </a:lnTo>
                <a:lnTo>
                  <a:pt x="361188" y="51689"/>
                </a:lnTo>
                <a:lnTo>
                  <a:pt x="350297" y="45339"/>
                </a:lnTo>
                <a:close/>
              </a:path>
              <a:path w="361314" h="103504">
                <a:moveTo>
                  <a:pt x="345439" y="46228"/>
                </a:moveTo>
                <a:lnTo>
                  <a:pt x="336078" y="51689"/>
                </a:lnTo>
                <a:lnTo>
                  <a:pt x="345439" y="57150"/>
                </a:lnTo>
                <a:lnTo>
                  <a:pt x="345439" y="46228"/>
                </a:lnTo>
                <a:close/>
              </a:path>
              <a:path w="361314" h="103504">
                <a:moveTo>
                  <a:pt x="348614" y="46228"/>
                </a:moveTo>
                <a:lnTo>
                  <a:pt x="345439" y="46228"/>
                </a:lnTo>
                <a:lnTo>
                  <a:pt x="345439" y="57150"/>
                </a:lnTo>
                <a:lnTo>
                  <a:pt x="348614" y="57150"/>
                </a:lnTo>
                <a:lnTo>
                  <a:pt x="348614" y="46228"/>
                </a:lnTo>
                <a:close/>
              </a:path>
              <a:path w="361314" h="103504">
                <a:moveTo>
                  <a:pt x="272541" y="0"/>
                </a:moveTo>
                <a:lnTo>
                  <a:pt x="268731" y="1016"/>
                </a:lnTo>
                <a:lnTo>
                  <a:pt x="265175" y="7112"/>
                </a:lnTo>
                <a:lnTo>
                  <a:pt x="266191" y="10922"/>
                </a:lnTo>
                <a:lnTo>
                  <a:pt x="336078" y="51689"/>
                </a:lnTo>
                <a:lnTo>
                  <a:pt x="345439" y="46228"/>
                </a:lnTo>
                <a:lnTo>
                  <a:pt x="348614" y="46228"/>
                </a:lnTo>
                <a:lnTo>
                  <a:pt x="348614" y="45339"/>
                </a:lnTo>
                <a:lnTo>
                  <a:pt x="350297" y="45339"/>
                </a:lnTo>
                <a:lnTo>
                  <a:pt x="2725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957821" y="5158104"/>
            <a:ext cx="1838325" cy="103505"/>
          </a:xfrm>
          <a:custGeom>
            <a:avLst/>
            <a:gdLst/>
            <a:ahLst/>
            <a:cxnLst/>
            <a:rect l="l" t="t" r="r" b="b"/>
            <a:pathLst>
              <a:path w="1838325" h="103504">
                <a:moveTo>
                  <a:pt x="1812834" y="51689"/>
                </a:moveTo>
                <a:lnTo>
                  <a:pt x="1742948" y="92456"/>
                </a:lnTo>
                <a:lnTo>
                  <a:pt x="1741931" y="96266"/>
                </a:lnTo>
                <a:lnTo>
                  <a:pt x="1745487" y="102362"/>
                </a:lnTo>
                <a:lnTo>
                  <a:pt x="1749298" y="103378"/>
                </a:lnTo>
                <a:lnTo>
                  <a:pt x="1827053" y="58039"/>
                </a:lnTo>
                <a:lnTo>
                  <a:pt x="1825371" y="58039"/>
                </a:lnTo>
                <a:lnTo>
                  <a:pt x="1825371" y="57150"/>
                </a:lnTo>
                <a:lnTo>
                  <a:pt x="1822196" y="57150"/>
                </a:lnTo>
                <a:lnTo>
                  <a:pt x="1812834" y="51689"/>
                </a:lnTo>
                <a:close/>
              </a:path>
              <a:path w="1838325" h="103504">
                <a:moveTo>
                  <a:pt x="1801948" y="45339"/>
                </a:moveTo>
                <a:lnTo>
                  <a:pt x="0" y="45339"/>
                </a:lnTo>
                <a:lnTo>
                  <a:pt x="0" y="58039"/>
                </a:lnTo>
                <a:lnTo>
                  <a:pt x="1801948" y="58039"/>
                </a:lnTo>
                <a:lnTo>
                  <a:pt x="1812834" y="51689"/>
                </a:lnTo>
                <a:lnTo>
                  <a:pt x="1801948" y="45339"/>
                </a:lnTo>
                <a:close/>
              </a:path>
              <a:path w="1838325" h="103504">
                <a:moveTo>
                  <a:pt x="1827053" y="45339"/>
                </a:moveTo>
                <a:lnTo>
                  <a:pt x="1825371" y="45339"/>
                </a:lnTo>
                <a:lnTo>
                  <a:pt x="1825371" y="58039"/>
                </a:lnTo>
                <a:lnTo>
                  <a:pt x="1827053" y="58039"/>
                </a:lnTo>
                <a:lnTo>
                  <a:pt x="1837944" y="51689"/>
                </a:lnTo>
                <a:lnTo>
                  <a:pt x="1827053" y="45339"/>
                </a:lnTo>
                <a:close/>
              </a:path>
              <a:path w="1838325" h="103504">
                <a:moveTo>
                  <a:pt x="1822196" y="46228"/>
                </a:moveTo>
                <a:lnTo>
                  <a:pt x="1812834" y="51689"/>
                </a:lnTo>
                <a:lnTo>
                  <a:pt x="1822196" y="57150"/>
                </a:lnTo>
                <a:lnTo>
                  <a:pt x="1822196" y="46228"/>
                </a:lnTo>
                <a:close/>
              </a:path>
              <a:path w="1838325" h="103504">
                <a:moveTo>
                  <a:pt x="1825371" y="46228"/>
                </a:moveTo>
                <a:lnTo>
                  <a:pt x="1822196" y="46228"/>
                </a:lnTo>
                <a:lnTo>
                  <a:pt x="1822196" y="57150"/>
                </a:lnTo>
                <a:lnTo>
                  <a:pt x="1825371" y="57150"/>
                </a:lnTo>
                <a:lnTo>
                  <a:pt x="1825371" y="46228"/>
                </a:lnTo>
                <a:close/>
              </a:path>
              <a:path w="1838325" h="103504">
                <a:moveTo>
                  <a:pt x="1749298" y="0"/>
                </a:moveTo>
                <a:lnTo>
                  <a:pt x="1745487" y="1016"/>
                </a:lnTo>
                <a:lnTo>
                  <a:pt x="1741931" y="7112"/>
                </a:lnTo>
                <a:lnTo>
                  <a:pt x="1742948" y="10922"/>
                </a:lnTo>
                <a:lnTo>
                  <a:pt x="1812834" y="51689"/>
                </a:lnTo>
                <a:lnTo>
                  <a:pt x="1822196" y="46228"/>
                </a:lnTo>
                <a:lnTo>
                  <a:pt x="1825371" y="46228"/>
                </a:lnTo>
                <a:lnTo>
                  <a:pt x="1825371" y="45339"/>
                </a:lnTo>
                <a:lnTo>
                  <a:pt x="1827053" y="45339"/>
                </a:lnTo>
                <a:lnTo>
                  <a:pt x="174929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8866505" y="4992496"/>
            <a:ext cx="1082675" cy="363220"/>
            <a:chOff x="8866505" y="4992496"/>
            <a:chExt cx="1082675" cy="363220"/>
          </a:xfrm>
        </p:grpSpPr>
        <p:sp>
          <p:nvSpPr>
            <p:cNvPr id="14" name="object 14"/>
            <p:cNvSpPr/>
            <p:nvPr/>
          </p:nvSpPr>
          <p:spPr>
            <a:xfrm>
              <a:off x="8867394" y="49933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67394" y="4993385"/>
              <a:ext cx="1080770" cy="361315"/>
            </a:xfrm>
            <a:custGeom>
              <a:avLst/>
              <a:gdLst/>
              <a:ahLst/>
              <a:cxnLst/>
              <a:rect l="l" t="t" r="r" b="b"/>
              <a:pathLst>
                <a:path w="1080770" h="361314">
                  <a:moveTo>
                    <a:pt x="540257" y="0"/>
                  </a:moveTo>
                  <a:lnTo>
                    <a:pt x="472499" y="1407"/>
                  </a:lnTo>
                  <a:lnTo>
                    <a:pt x="407249" y="5518"/>
                  </a:lnTo>
                  <a:lnTo>
                    <a:pt x="345015" y="12161"/>
                  </a:lnTo>
                  <a:lnTo>
                    <a:pt x="286303" y="21168"/>
                  </a:lnTo>
                  <a:lnTo>
                    <a:pt x="231620" y="32368"/>
                  </a:lnTo>
                  <a:lnTo>
                    <a:pt x="181472" y="45593"/>
                  </a:lnTo>
                  <a:lnTo>
                    <a:pt x="136367" y="60672"/>
                  </a:lnTo>
                  <a:lnTo>
                    <a:pt x="96810" y="77436"/>
                  </a:lnTo>
                  <a:lnTo>
                    <a:pt x="63310" y="95715"/>
                  </a:lnTo>
                  <a:lnTo>
                    <a:pt x="16503" y="136141"/>
                  </a:lnTo>
                  <a:lnTo>
                    <a:pt x="0" y="180594"/>
                  </a:lnTo>
                  <a:lnTo>
                    <a:pt x="4210" y="203238"/>
                  </a:lnTo>
                  <a:lnTo>
                    <a:pt x="36372" y="245847"/>
                  </a:lnTo>
                  <a:lnTo>
                    <a:pt x="96810" y="283751"/>
                  </a:lnTo>
                  <a:lnTo>
                    <a:pt x="136367" y="300515"/>
                  </a:lnTo>
                  <a:lnTo>
                    <a:pt x="181472" y="315594"/>
                  </a:lnTo>
                  <a:lnTo>
                    <a:pt x="231620" y="328819"/>
                  </a:lnTo>
                  <a:lnTo>
                    <a:pt x="286303" y="340019"/>
                  </a:lnTo>
                  <a:lnTo>
                    <a:pt x="345015" y="349026"/>
                  </a:lnTo>
                  <a:lnTo>
                    <a:pt x="407249" y="355669"/>
                  </a:lnTo>
                  <a:lnTo>
                    <a:pt x="472499" y="359780"/>
                  </a:lnTo>
                  <a:lnTo>
                    <a:pt x="540257" y="361188"/>
                  </a:lnTo>
                  <a:lnTo>
                    <a:pt x="608016" y="359780"/>
                  </a:lnTo>
                  <a:lnTo>
                    <a:pt x="673266" y="355669"/>
                  </a:lnTo>
                  <a:lnTo>
                    <a:pt x="735500" y="349026"/>
                  </a:lnTo>
                  <a:lnTo>
                    <a:pt x="794212" y="340019"/>
                  </a:lnTo>
                  <a:lnTo>
                    <a:pt x="848895" y="328819"/>
                  </a:lnTo>
                  <a:lnTo>
                    <a:pt x="899043" y="315594"/>
                  </a:lnTo>
                  <a:lnTo>
                    <a:pt x="944148" y="300515"/>
                  </a:lnTo>
                  <a:lnTo>
                    <a:pt x="983705" y="283751"/>
                  </a:lnTo>
                  <a:lnTo>
                    <a:pt x="1017205" y="265472"/>
                  </a:lnTo>
                  <a:lnTo>
                    <a:pt x="1064012" y="225046"/>
                  </a:lnTo>
                  <a:lnTo>
                    <a:pt x="1080515" y="180594"/>
                  </a:lnTo>
                  <a:lnTo>
                    <a:pt x="1076305" y="157949"/>
                  </a:lnTo>
                  <a:lnTo>
                    <a:pt x="1044143" y="115340"/>
                  </a:lnTo>
                  <a:lnTo>
                    <a:pt x="983705" y="77436"/>
                  </a:lnTo>
                  <a:lnTo>
                    <a:pt x="944148" y="60672"/>
                  </a:lnTo>
                  <a:lnTo>
                    <a:pt x="899043" y="45593"/>
                  </a:lnTo>
                  <a:lnTo>
                    <a:pt x="848895" y="32368"/>
                  </a:lnTo>
                  <a:lnTo>
                    <a:pt x="794212" y="21168"/>
                  </a:lnTo>
                  <a:lnTo>
                    <a:pt x="735500" y="12161"/>
                  </a:lnTo>
                  <a:lnTo>
                    <a:pt x="673266" y="5518"/>
                  </a:lnTo>
                  <a:lnTo>
                    <a:pt x="608016" y="1407"/>
                  </a:lnTo>
                  <a:lnTo>
                    <a:pt x="540257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9107551" y="5020817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005392"/>
                </a:solidFill>
                <a:latin typeface="Cambria"/>
                <a:cs typeface="Cambria"/>
              </a:rPr>
              <a:t>v</a:t>
            </a:r>
            <a:r>
              <a:rPr sz="1800" spc="12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lue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07485" y="1237234"/>
            <a:ext cx="857821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marR="339090" indent="-515620">
              <a:lnSpc>
                <a:spcPct val="100000"/>
              </a:lnSpc>
              <a:spcBef>
                <a:spcPts val="95"/>
              </a:spcBef>
              <a:buAutoNum type="arabicParenBoth"/>
              <a:tabLst>
                <a:tab pos="528320" algn="l"/>
              </a:tabLst>
            </a:pP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Read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005392"/>
                </a:solidFill>
                <a:latin typeface="Cambria"/>
                <a:cs typeface="Cambria"/>
              </a:rPr>
              <a:t>of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005392"/>
                </a:solidFill>
                <a:latin typeface="Cambria"/>
                <a:cs typeface="Cambria"/>
              </a:rPr>
              <a:t>r1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5392"/>
                </a:solidFill>
                <a:latin typeface="Cambria"/>
                <a:cs typeface="Cambria"/>
              </a:rPr>
              <a:t>from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register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file.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This</a:t>
            </a:r>
            <a:r>
              <a:rPr sz="2800" spc="1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gives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005392"/>
                </a:solidFill>
                <a:latin typeface="Cambria"/>
                <a:cs typeface="Cambria"/>
              </a:rPr>
              <a:t>a </a:t>
            </a:r>
            <a:r>
              <a:rPr sz="2800" spc="-6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address</a:t>
            </a:r>
            <a:endParaRPr sz="280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buAutoNum type="arabicParenBoth"/>
              <a:tabLst>
                <a:tab pos="528320" algn="l"/>
              </a:tabLst>
            </a:pP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Read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5392"/>
                </a:solidFill>
                <a:latin typeface="Cambria"/>
                <a:cs typeface="Cambria"/>
              </a:rPr>
              <a:t>stored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5392"/>
                </a:solidFill>
                <a:latin typeface="Cambria"/>
                <a:cs typeface="Cambria"/>
              </a:rPr>
              <a:t>in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at</a:t>
            </a:r>
            <a:r>
              <a:rPr sz="2800" spc="150" dirty="0">
                <a:solidFill>
                  <a:srgbClr val="005392"/>
                </a:solidFill>
                <a:latin typeface="Cambria"/>
                <a:cs typeface="Cambria"/>
              </a:rPr>
              <a:t> that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address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663188" y="3442208"/>
            <a:ext cx="4343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latin typeface="Cambria"/>
                <a:cs typeface="Cambria"/>
              </a:rPr>
              <a:t>r1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16248" y="4517897"/>
            <a:ext cx="659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35" dirty="0">
                <a:latin typeface="Cambria"/>
                <a:cs typeface="Cambria"/>
              </a:rPr>
              <a:t>r15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965063" y="2828162"/>
            <a:ext cx="150495" cy="75628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9582" y="4018229"/>
            <a:ext cx="3740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767196" y="5084140"/>
            <a:ext cx="37338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148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78800" y="4915916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5392"/>
                </a:solidFill>
                <a:latin typeface="Cambria"/>
                <a:cs typeface="Cambria"/>
              </a:rPr>
              <a:t>4019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3501" y="382904"/>
            <a:ext cx="81965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50" dirty="0"/>
              <a:t>4.</a:t>
            </a:r>
            <a:r>
              <a:rPr sz="4000" spc="229" dirty="0"/>
              <a:t> </a:t>
            </a:r>
            <a:r>
              <a:rPr sz="4000" spc="215" dirty="0"/>
              <a:t>Base-offset</a:t>
            </a:r>
            <a:r>
              <a:rPr sz="4000" spc="270" dirty="0"/>
              <a:t> </a:t>
            </a:r>
            <a:r>
              <a:rPr sz="4000" spc="260" dirty="0"/>
              <a:t>Addressing</a:t>
            </a:r>
            <a:r>
              <a:rPr sz="4000" spc="235" dirty="0"/>
              <a:t> </a:t>
            </a:r>
            <a:r>
              <a:rPr sz="4000" spc="285" dirty="0"/>
              <a:t>Mode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166217" y="1235455"/>
            <a:ext cx="29229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400" spc="140" dirty="0">
                <a:latin typeface="Cambria"/>
                <a:cs typeface="Cambria"/>
              </a:rPr>
              <a:t>Value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385" dirty="0">
                <a:latin typeface="Cambria"/>
                <a:cs typeface="Cambria"/>
              </a:rPr>
              <a:t>←</a:t>
            </a:r>
            <a:r>
              <a:rPr sz="2400" spc="90" dirty="0">
                <a:latin typeface="Cambria"/>
                <a:cs typeface="Cambria"/>
              </a:rPr>
              <a:t> </a:t>
            </a:r>
            <a:r>
              <a:rPr sz="2400" spc="15" dirty="0">
                <a:latin typeface="Cambria"/>
                <a:cs typeface="Cambria"/>
              </a:rPr>
              <a:t>offset(r1)</a:t>
            </a:r>
            <a:endParaRPr sz="24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4033901" y="3305428"/>
          <a:ext cx="1151890" cy="20162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2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4780">
                <a:tc rowSpan="2">
                  <a:txBody>
                    <a:bodyPr/>
                    <a:lstStyle/>
                    <a:p>
                      <a:pPr marL="19939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-4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451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40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407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786633" y="3845940"/>
            <a:ext cx="631190" cy="103505"/>
          </a:xfrm>
          <a:custGeom>
            <a:avLst/>
            <a:gdLst/>
            <a:ahLst/>
            <a:cxnLst/>
            <a:rect l="l" t="t" r="r" b="b"/>
            <a:pathLst>
              <a:path w="631189" h="103504">
                <a:moveTo>
                  <a:pt x="605826" y="51688"/>
                </a:moveTo>
                <a:lnTo>
                  <a:pt x="535940" y="92455"/>
                </a:lnTo>
                <a:lnTo>
                  <a:pt x="534924" y="96265"/>
                </a:lnTo>
                <a:lnTo>
                  <a:pt x="538480" y="102361"/>
                </a:lnTo>
                <a:lnTo>
                  <a:pt x="542290" y="103377"/>
                </a:lnTo>
                <a:lnTo>
                  <a:pt x="620045" y="58038"/>
                </a:lnTo>
                <a:lnTo>
                  <a:pt x="618363" y="58038"/>
                </a:lnTo>
                <a:lnTo>
                  <a:pt x="618363" y="57149"/>
                </a:lnTo>
                <a:lnTo>
                  <a:pt x="615188" y="57149"/>
                </a:lnTo>
                <a:lnTo>
                  <a:pt x="605826" y="51688"/>
                </a:lnTo>
                <a:close/>
              </a:path>
              <a:path w="631189" h="103504">
                <a:moveTo>
                  <a:pt x="594940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594940" y="58038"/>
                </a:lnTo>
                <a:lnTo>
                  <a:pt x="605826" y="51688"/>
                </a:lnTo>
                <a:lnTo>
                  <a:pt x="594940" y="45338"/>
                </a:lnTo>
                <a:close/>
              </a:path>
              <a:path w="631189" h="103504">
                <a:moveTo>
                  <a:pt x="620045" y="45338"/>
                </a:moveTo>
                <a:lnTo>
                  <a:pt x="618363" y="45338"/>
                </a:lnTo>
                <a:lnTo>
                  <a:pt x="618363" y="58038"/>
                </a:lnTo>
                <a:lnTo>
                  <a:pt x="620045" y="58038"/>
                </a:lnTo>
                <a:lnTo>
                  <a:pt x="630936" y="51688"/>
                </a:lnTo>
                <a:lnTo>
                  <a:pt x="620045" y="45338"/>
                </a:lnTo>
                <a:close/>
              </a:path>
              <a:path w="631189" h="103504">
                <a:moveTo>
                  <a:pt x="615188" y="46227"/>
                </a:moveTo>
                <a:lnTo>
                  <a:pt x="605826" y="51688"/>
                </a:lnTo>
                <a:lnTo>
                  <a:pt x="615188" y="57149"/>
                </a:lnTo>
                <a:lnTo>
                  <a:pt x="615188" y="46227"/>
                </a:lnTo>
                <a:close/>
              </a:path>
              <a:path w="631189" h="103504">
                <a:moveTo>
                  <a:pt x="618363" y="46227"/>
                </a:moveTo>
                <a:lnTo>
                  <a:pt x="615188" y="46227"/>
                </a:lnTo>
                <a:lnTo>
                  <a:pt x="615188" y="57149"/>
                </a:lnTo>
                <a:lnTo>
                  <a:pt x="618363" y="57149"/>
                </a:lnTo>
                <a:lnTo>
                  <a:pt x="618363" y="46227"/>
                </a:lnTo>
                <a:close/>
              </a:path>
              <a:path w="631189" h="103504">
                <a:moveTo>
                  <a:pt x="542290" y="0"/>
                </a:moveTo>
                <a:lnTo>
                  <a:pt x="538480" y="1015"/>
                </a:lnTo>
                <a:lnTo>
                  <a:pt x="534924" y="7111"/>
                </a:lnTo>
                <a:lnTo>
                  <a:pt x="535940" y="10921"/>
                </a:lnTo>
                <a:lnTo>
                  <a:pt x="605826" y="51688"/>
                </a:lnTo>
                <a:lnTo>
                  <a:pt x="615188" y="46227"/>
                </a:lnTo>
                <a:lnTo>
                  <a:pt x="618363" y="46227"/>
                </a:lnTo>
                <a:lnTo>
                  <a:pt x="618363" y="45338"/>
                </a:lnTo>
                <a:lnTo>
                  <a:pt x="620045" y="45338"/>
                </a:lnTo>
                <a:lnTo>
                  <a:pt x="54229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856610" y="3224022"/>
            <a:ext cx="112395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76275" algn="l"/>
              </a:tabLst>
            </a:pPr>
            <a:r>
              <a:rPr sz="4800" spc="82" baseline="-19097" dirty="0">
                <a:latin typeface="Cambria"/>
                <a:cs typeface="Cambria"/>
              </a:rPr>
              <a:t>r1	</a:t>
            </a:r>
            <a:r>
              <a:rPr sz="3200" spc="55" dirty="0">
                <a:latin typeface="Cambria"/>
                <a:cs typeface="Cambria"/>
              </a:rPr>
              <a:t>r0</a:t>
            </a:r>
            <a:endParaRPr sz="32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368413" y="2945764"/>
          <a:ext cx="791210" cy="32415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1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6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 marL="14224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8914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C5C5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6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1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99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824478" y="5280405"/>
            <a:ext cx="12433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0" dirty="0">
                <a:solidFill>
                  <a:srgbClr val="005392"/>
                </a:solidFill>
                <a:latin typeface="Cambria"/>
                <a:cs typeface="Cambria"/>
              </a:rPr>
              <a:t>register file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343013" y="6303061"/>
            <a:ext cx="883919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40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186934" y="4386834"/>
            <a:ext cx="1689100" cy="1151890"/>
            <a:chOff x="5186934" y="4386834"/>
            <a:chExt cx="1689100" cy="1151890"/>
          </a:xfrm>
        </p:grpSpPr>
        <p:sp>
          <p:nvSpPr>
            <p:cNvPr id="12" name="object 12"/>
            <p:cNvSpPr/>
            <p:nvPr/>
          </p:nvSpPr>
          <p:spPr>
            <a:xfrm>
              <a:off x="5186934" y="5270881"/>
              <a:ext cx="1689100" cy="103505"/>
            </a:xfrm>
            <a:custGeom>
              <a:avLst/>
              <a:gdLst/>
              <a:ahLst/>
              <a:cxnLst/>
              <a:rect l="l" t="t" r="r" b="b"/>
              <a:pathLst>
                <a:path w="1689100" h="103504">
                  <a:moveTo>
                    <a:pt x="502920" y="51689"/>
                  </a:moveTo>
                  <a:lnTo>
                    <a:pt x="492023" y="45339"/>
                  </a:lnTo>
                  <a:lnTo>
                    <a:pt x="414274" y="0"/>
                  </a:lnTo>
                  <a:lnTo>
                    <a:pt x="410464" y="1016"/>
                  </a:lnTo>
                  <a:lnTo>
                    <a:pt x="406908" y="7112"/>
                  </a:lnTo>
                  <a:lnTo>
                    <a:pt x="407924" y="10922"/>
                  </a:lnTo>
                  <a:lnTo>
                    <a:pt x="466902" y="45339"/>
                  </a:lnTo>
                  <a:lnTo>
                    <a:pt x="0" y="45339"/>
                  </a:lnTo>
                  <a:lnTo>
                    <a:pt x="0" y="58039"/>
                  </a:lnTo>
                  <a:lnTo>
                    <a:pt x="466902" y="58039"/>
                  </a:lnTo>
                  <a:lnTo>
                    <a:pt x="407924" y="92456"/>
                  </a:lnTo>
                  <a:lnTo>
                    <a:pt x="406908" y="96266"/>
                  </a:lnTo>
                  <a:lnTo>
                    <a:pt x="410464" y="102362"/>
                  </a:lnTo>
                  <a:lnTo>
                    <a:pt x="414274" y="103378"/>
                  </a:lnTo>
                  <a:lnTo>
                    <a:pt x="492023" y="58039"/>
                  </a:lnTo>
                  <a:lnTo>
                    <a:pt x="502920" y="51689"/>
                  </a:lnTo>
                  <a:close/>
                </a:path>
                <a:path w="1689100" h="103504">
                  <a:moveTo>
                    <a:pt x="1688592" y="51701"/>
                  </a:moveTo>
                  <a:lnTo>
                    <a:pt x="1677695" y="45339"/>
                  </a:lnTo>
                  <a:lnTo>
                    <a:pt x="1599946" y="0"/>
                  </a:lnTo>
                  <a:lnTo>
                    <a:pt x="1596136" y="1016"/>
                  </a:lnTo>
                  <a:lnTo>
                    <a:pt x="1592580" y="7112"/>
                  </a:lnTo>
                  <a:lnTo>
                    <a:pt x="1593596" y="10922"/>
                  </a:lnTo>
                  <a:lnTo>
                    <a:pt x="1652562" y="45339"/>
                  </a:lnTo>
                  <a:lnTo>
                    <a:pt x="1008888" y="45339"/>
                  </a:lnTo>
                  <a:lnTo>
                    <a:pt x="1008888" y="58039"/>
                  </a:lnTo>
                  <a:lnTo>
                    <a:pt x="1652587" y="58039"/>
                  </a:lnTo>
                  <a:lnTo>
                    <a:pt x="1663471" y="51701"/>
                  </a:lnTo>
                  <a:lnTo>
                    <a:pt x="1593596" y="92456"/>
                  </a:lnTo>
                  <a:lnTo>
                    <a:pt x="1592580" y="96266"/>
                  </a:lnTo>
                  <a:lnTo>
                    <a:pt x="1596136" y="102362"/>
                  </a:lnTo>
                  <a:lnTo>
                    <a:pt x="1599946" y="103378"/>
                  </a:lnTo>
                  <a:lnTo>
                    <a:pt x="1677695" y="58039"/>
                  </a:lnTo>
                  <a:lnTo>
                    <a:pt x="1688592" y="5170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689854" y="503453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20">
                  <a:moveTo>
                    <a:pt x="252984" y="0"/>
                  </a:moveTo>
                  <a:lnTo>
                    <a:pt x="207514" y="4049"/>
                  </a:lnTo>
                  <a:lnTo>
                    <a:pt x="164717" y="15725"/>
                  </a:lnTo>
                  <a:lnTo>
                    <a:pt x="125306" y="34318"/>
                  </a:lnTo>
                  <a:lnTo>
                    <a:pt x="89997" y="59120"/>
                  </a:lnTo>
                  <a:lnTo>
                    <a:pt x="59504" y="89422"/>
                  </a:lnTo>
                  <a:lnTo>
                    <a:pt x="34543" y="124516"/>
                  </a:lnTo>
                  <a:lnTo>
                    <a:pt x="15829" y="163693"/>
                  </a:lnTo>
                  <a:lnTo>
                    <a:pt x="4076" y="206243"/>
                  </a:lnTo>
                  <a:lnTo>
                    <a:pt x="0" y="251460"/>
                  </a:lnTo>
                  <a:lnTo>
                    <a:pt x="4076" y="296676"/>
                  </a:lnTo>
                  <a:lnTo>
                    <a:pt x="15829" y="339226"/>
                  </a:lnTo>
                  <a:lnTo>
                    <a:pt x="34544" y="378403"/>
                  </a:lnTo>
                  <a:lnTo>
                    <a:pt x="59504" y="413497"/>
                  </a:lnTo>
                  <a:lnTo>
                    <a:pt x="89997" y="443799"/>
                  </a:lnTo>
                  <a:lnTo>
                    <a:pt x="125306" y="468601"/>
                  </a:lnTo>
                  <a:lnTo>
                    <a:pt x="164717" y="487194"/>
                  </a:lnTo>
                  <a:lnTo>
                    <a:pt x="207514" y="498870"/>
                  </a:lnTo>
                  <a:lnTo>
                    <a:pt x="252984" y="502920"/>
                  </a:lnTo>
                  <a:lnTo>
                    <a:pt x="298453" y="498870"/>
                  </a:lnTo>
                  <a:lnTo>
                    <a:pt x="341250" y="487194"/>
                  </a:lnTo>
                  <a:lnTo>
                    <a:pt x="380661" y="468601"/>
                  </a:lnTo>
                  <a:lnTo>
                    <a:pt x="415970" y="443799"/>
                  </a:lnTo>
                  <a:lnTo>
                    <a:pt x="446463" y="413497"/>
                  </a:lnTo>
                  <a:lnTo>
                    <a:pt x="471424" y="378403"/>
                  </a:lnTo>
                  <a:lnTo>
                    <a:pt x="490138" y="339226"/>
                  </a:lnTo>
                  <a:lnTo>
                    <a:pt x="501891" y="296676"/>
                  </a:lnTo>
                  <a:lnTo>
                    <a:pt x="505968" y="251460"/>
                  </a:lnTo>
                  <a:lnTo>
                    <a:pt x="501891" y="206243"/>
                  </a:lnTo>
                  <a:lnTo>
                    <a:pt x="490138" y="163693"/>
                  </a:lnTo>
                  <a:lnTo>
                    <a:pt x="471424" y="124516"/>
                  </a:lnTo>
                  <a:lnTo>
                    <a:pt x="446463" y="89422"/>
                  </a:lnTo>
                  <a:lnTo>
                    <a:pt x="415970" y="59120"/>
                  </a:lnTo>
                  <a:lnTo>
                    <a:pt x="380661" y="34318"/>
                  </a:lnTo>
                  <a:lnTo>
                    <a:pt x="341250" y="15725"/>
                  </a:lnTo>
                  <a:lnTo>
                    <a:pt x="298453" y="4049"/>
                  </a:lnTo>
                  <a:lnTo>
                    <a:pt x="252984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689854" y="5034534"/>
              <a:ext cx="506095" cy="502920"/>
            </a:xfrm>
            <a:custGeom>
              <a:avLst/>
              <a:gdLst/>
              <a:ahLst/>
              <a:cxnLst/>
              <a:rect l="l" t="t" r="r" b="b"/>
              <a:pathLst>
                <a:path w="506095" h="502920">
                  <a:moveTo>
                    <a:pt x="252984" y="0"/>
                  </a:moveTo>
                  <a:lnTo>
                    <a:pt x="207514" y="4049"/>
                  </a:lnTo>
                  <a:lnTo>
                    <a:pt x="164717" y="15725"/>
                  </a:lnTo>
                  <a:lnTo>
                    <a:pt x="125306" y="34318"/>
                  </a:lnTo>
                  <a:lnTo>
                    <a:pt x="89997" y="59120"/>
                  </a:lnTo>
                  <a:lnTo>
                    <a:pt x="59504" y="89422"/>
                  </a:lnTo>
                  <a:lnTo>
                    <a:pt x="34543" y="124516"/>
                  </a:lnTo>
                  <a:lnTo>
                    <a:pt x="15829" y="163693"/>
                  </a:lnTo>
                  <a:lnTo>
                    <a:pt x="4076" y="206243"/>
                  </a:lnTo>
                  <a:lnTo>
                    <a:pt x="0" y="251460"/>
                  </a:lnTo>
                  <a:lnTo>
                    <a:pt x="4076" y="296676"/>
                  </a:lnTo>
                  <a:lnTo>
                    <a:pt x="15829" y="339226"/>
                  </a:lnTo>
                  <a:lnTo>
                    <a:pt x="34544" y="378403"/>
                  </a:lnTo>
                  <a:lnTo>
                    <a:pt x="59504" y="413497"/>
                  </a:lnTo>
                  <a:lnTo>
                    <a:pt x="89997" y="443799"/>
                  </a:lnTo>
                  <a:lnTo>
                    <a:pt x="125306" y="468601"/>
                  </a:lnTo>
                  <a:lnTo>
                    <a:pt x="164717" y="487194"/>
                  </a:lnTo>
                  <a:lnTo>
                    <a:pt x="207514" y="498870"/>
                  </a:lnTo>
                  <a:lnTo>
                    <a:pt x="252984" y="502920"/>
                  </a:lnTo>
                  <a:lnTo>
                    <a:pt x="298453" y="498870"/>
                  </a:lnTo>
                  <a:lnTo>
                    <a:pt x="341250" y="487194"/>
                  </a:lnTo>
                  <a:lnTo>
                    <a:pt x="380661" y="468601"/>
                  </a:lnTo>
                  <a:lnTo>
                    <a:pt x="415970" y="443799"/>
                  </a:lnTo>
                  <a:lnTo>
                    <a:pt x="446463" y="413497"/>
                  </a:lnTo>
                  <a:lnTo>
                    <a:pt x="471424" y="378403"/>
                  </a:lnTo>
                  <a:lnTo>
                    <a:pt x="490138" y="339226"/>
                  </a:lnTo>
                  <a:lnTo>
                    <a:pt x="501891" y="296676"/>
                  </a:lnTo>
                  <a:lnTo>
                    <a:pt x="505968" y="251460"/>
                  </a:lnTo>
                  <a:lnTo>
                    <a:pt x="501891" y="206243"/>
                  </a:lnTo>
                  <a:lnTo>
                    <a:pt x="490138" y="163693"/>
                  </a:lnTo>
                  <a:lnTo>
                    <a:pt x="471424" y="124516"/>
                  </a:lnTo>
                  <a:lnTo>
                    <a:pt x="446463" y="89422"/>
                  </a:lnTo>
                  <a:lnTo>
                    <a:pt x="415970" y="59120"/>
                  </a:lnTo>
                  <a:lnTo>
                    <a:pt x="380661" y="34318"/>
                  </a:lnTo>
                  <a:lnTo>
                    <a:pt x="341250" y="15725"/>
                  </a:lnTo>
                  <a:lnTo>
                    <a:pt x="298453" y="4049"/>
                  </a:lnTo>
                  <a:lnTo>
                    <a:pt x="252984" y="0"/>
                  </a:lnTo>
                  <a:close/>
                </a:path>
                <a:path w="506095" h="502920">
                  <a:moveTo>
                    <a:pt x="73151" y="288036"/>
                  </a:moveTo>
                  <a:lnTo>
                    <a:pt x="434340" y="288036"/>
                  </a:lnTo>
                </a:path>
                <a:path w="506095" h="502920">
                  <a:moveTo>
                    <a:pt x="252984" y="71628"/>
                  </a:moveTo>
                  <a:lnTo>
                    <a:pt x="252984" y="43281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927725" y="4386834"/>
              <a:ext cx="103505" cy="647700"/>
            </a:xfrm>
            <a:custGeom>
              <a:avLst/>
              <a:gdLst/>
              <a:ahLst/>
              <a:cxnLst/>
              <a:rect l="l" t="t" r="r" b="b"/>
              <a:pathLst>
                <a:path w="103504" h="647700">
                  <a:moveTo>
                    <a:pt x="7112" y="551688"/>
                  </a:moveTo>
                  <a:lnTo>
                    <a:pt x="1015" y="555244"/>
                  </a:lnTo>
                  <a:lnTo>
                    <a:pt x="0" y="559054"/>
                  </a:lnTo>
                  <a:lnTo>
                    <a:pt x="51688" y="647700"/>
                  </a:lnTo>
                  <a:lnTo>
                    <a:pt x="59020" y="635127"/>
                  </a:lnTo>
                  <a:lnTo>
                    <a:pt x="45338" y="635127"/>
                  </a:lnTo>
                  <a:lnTo>
                    <a:pt x="45338" y="611704"/>
                  </a:lnTo>
                  <a:lnTo>
                    <a:pt x="10922" y="552704"/>
                  </a:lnTo>
                  <a:lnTo>
                    <a:pt x="7112" y="551688"/>
                  </a:lnTo>
                  <a:close/>
                </a:path>
                <a:path w="103504" h="647700">
                  <a:moveTo>
                    <a:pt x="45338" y="611704"/>
                  </a:moveTo>
                  <a:lnTo>
                    <a:pt x="45338" y="635127"/>
                  </a:lnTo>
                  <a:lnTo>
                    <a:pt x="58038" y="635127"/>
                  </a:lnTo>
                  <a:lnTo>
                    <a:pt x="58038" y="631952"/>
                  </a:lnTo>
                  <a:lnTo>
                    <a:pt x="46227" y="631952"/>
                  </a:lnTo>
                  <a:lnTo>
                    <a:pt x="51688" y="622590"/>
                  </a:lnTo>
                  <a:lnTo>
                    <a:pt x="45338" y="611704"/>
                  </a:lnTo>
                  <a:close/>
                </a:path>
                <a:path w="103504" h="647700">
                  <a:moveTo>
                    <a:pt x="96265" y="551688"/>
                  </a:moveTo>
                  <a:lnTo>
                    <a:pt x="92455" y="552704"/>
                  </a:lnTo>
                  <a:lnTo>
                    <a:pt x="58038" y="611704"/>
                  </a:lnTo>
                  <a:lnTo>
                    <a:pt x="58038" y="635127"/>
                  </a:lnTo>
                  <a:lnTo>
                    <a:pt x="59020" y="635127"/>
                  </a:lnTo>
                  <a:lnTo>
                    <a:pt x="103377" y="559054"/>
                  </a:lnTo>
                  <a:lnTo>
                    <a:pt x="102362" y="555244"/>
                  </a:lnTo>
                  <a:lnTo>
                    <a:pt x="96265" y="551688"/>
                  </a:lnTo>
                  <a:close/>
                </a:path>
                <a:path w="103504" h="647700">
                  <a:moveTo>
                    <a:pt x="51688" y="622590"/>
                  </a:moveTo>
                  <a:lnTo>
                    <a:pt x="46227" y="631952"/>
                  </a:lnTo>
                  <a:lnTo>
                    <a:pt x="57150" y="631952"/>
                  </a:lnTo>
                  <a:lnTo>
                    <a:pt x="51688" y="622590"/>
                  </a:lnTo>
                  <a:close/>
                </a:path>
                <a:path w="103504" h="647700">
                  <a:moveTo>
                    <a:pt x="58038" y="611704"/>
                  </a:moveTo>
                  <a:lnTo>
                    <a:pt x="51688" y="622590"/>
                  </a:lnTo>
                  <a:lnTo>
                    <a:pt x="57150" y="631952"/>
                  </a:lnTo>
                  <a:lnTo>
                    <a:pt x="58038" y="631952"/>
                  </a:lnTo>
                  <a:lnTo>
                    <a:pt x="58038" y="611704"/>
                  </a:lnTo>
                  <a:close/>
                </a:path>
                <a:path w="103504" h="647700">
                  <a:moveTo>
                    <a:pt x="58038" y="0"/>
                  </a:moveTo>
                  <a:lnTo>
                    <a:pt x="45338" y="0"/>
                  </a:lnTo>
                  <a:lnTo>
                    <a:pt x="45338" y="611704"/>
                  </a:lnTo>
                  <a:lnTo>
                    <a:pt x="51688" y="622590"/>
                  </a:lnTo>
                  <a:lnTo>
                    <a:pt x="58038" y="611704"/>
                  </a:lnTo>
                  <a:lnTo>
                    <a:pt x="58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8160257" y="5033645"/>
            <a:ext cx="2200275" cy="363220"/>
            <a:chOff x="8160257" y="5033645"/>
            <a:chExt cx="2200275" cy="363220"/>
          </a:xfrm>
        </p:grpSpPr>
        <p:sp>
          <p:nvSpPr>
            <p:cNvPr id="17" name="object 17"/>
            <p:cNvSpPr/>
            <p:nvPr/>
          </p:nvSpPr>
          <p:spPr>
            <a:xfrm>
              <a:off x="8160257" y="5199253"/>
              <a:ext cx="1120140" cy="103505"/>
            </a:xfrm>
            <a:custGeom>
              <a:avLst/>
              <a:gdLst/>
              <a:ahLst/>
              <a:cxnLst/>
              <a:rect l="l" t="t" r="r" b="b"/>
              <a:pathLst>
                <a:path w="1120140" h="103504">
                  <a:moveTo>
                    <a:pt x="1095030" y="51689"/>
                  </a:moveTo>
                  <a:lnTo>
                    <a:pt x="1025144" y="92456"/>
                  </a:lnTo>
                  <a:lnTo>
                    <a:pt x="1024127" y="96266"/>
                  </a:lnTo>
                  <a:lnTo>
                    <a:pt x="1027684" y="102362"/>
                  </a:lnTo>
                  <a:lnTo>
                    <a:pt x="1031494" y="103378"/>
                  </a:lnTo>
                  <a:lnTo>
                    <a:pt x="1109249" y="58039"/>
                  </a:lnTo>
                  <a:lnTo>
                    <a:pt x="1107567" y="58039"/>
                  </a:lnTo>
                  <a:lnTo>
                    <a:pt x="1107567" y="57150"/>
                  </a:lnTo>
                  <a:lnTo>
                    <a:pt x="1104392" y="57150"/>
                  </a:lnTo>
                  <a:lnTo>
                    <a:pt x="1095030" y="51689"/>
                  </a:lnTo>
                  <a:close/>
                </a:path>
                <a:path w="1120140" h="103504">
                  <a:moveTo>
                    <a:pt x="1084144" y="45339"/>
                  </a:moveTo>
                  <a:lnTo>
                    <a:pt x="0" y="45339"/>
                  </a:lnTo>
                  <a:lnTo>
                    <a:pt x="0" y="58039"/>
                  </a:lnTo>
                  <a:lnTo>
                    <a:pt x="1084144" y="58039"/>
                  </a:lnTo>
                  <a:lnTo>
                    <a:pt x="1095030" y="51689"/>
                  </a:lnTo>
                  <a:lnTo>
                    <a:pt x="1084144" y="45339"/>
                  </a:lnTo>
                  <a:close/>
                </a:path>
                <a:path w="1120140" h="103504">
                  <a:moveTo>
                    <a:pt x="1109249" y="45339"/>
                  </a:moveTo>
                  <a:lnTo>
                    <a:pt x="1107567" y="45339"/>
                  </a:lnTo>
                  <a:lnTo>
                    <a:pt x="1107567" y="58039"/>
                  </a:lnTo>
                  <a:lnTo>
                    <a:pt x="1109249" y="58039"/>
                  </a:lnTo>
                  <a:lnTo>
                    <a:pt x="1120140" y="51689"/>
                  </a:lnTo>
                  <a:lnTo>
                    <a:pt x="1109249" y="45339"/>
                  </a:lnTo>
                  <a:close/>
                </a:path>
                <a:path w="1120140" h="103504">
                  <a:moveTo>
                    <a:pt x="1104392" y="46228"/>
                  </a:moveTo>
                  <a:lnTo>
                    <a:pt x="1095030" y="51689"/>
                  </a:lnTo>
                  <a:lnTo>
                    <a:pt x="1104392" y="57150"/>
                  </a:lnTo>
                  <a:lnTo>
                    <a:pt x="1104392" y="46228"/>
                  </a:lnTo>
                  <a:close/>
                </a:path>
                <a:path w="1120140" h="103504">
                  <a:moveTo>
                    <a:pt x="1107567" y="46228"/>
                  </a:moveTo>
                  <a:lnTo>
                    <a:pt x="1104392" y="46228"/>
                  </a:lnTo>
                  <a:lnTo>
                    <a:pt x="1104392" y="57150"/>
                  </a:lnTo>
                  <a:lnTo>
                    <a:pt x="1107567" y="57150"/>
                  </a:lnTo>
                  <a:lnTo>
                    <a:pt x="1107567" y="46228"/>
                  </a:lnTo>
                  <a:close/>
                </a:path>
                <a:path w="1120140" h="103504">
                  <a:moveTo>
                    <a:pt x="1031494" y="0"/>
                  </a:moveTo>
                  <a:lnTo>
                    <a:pt x="1027684" y="1016"/>
                  </a:lnTo>
                  <a:lnTo>
                    <a:pt x="1024127" y="7112"/>
                  </a:lnTo>
                  <a:lnTo>
                    <a:pt x="1025144" y="10922"/>
                  </a:lnTo>
                  <a:lnTo>
                    <a:pt x="1095030" y="51689"/>
                  </a:lnTo>
                  <a:lnTo>
                    <a:pt x="1104392" y="46228"/>
                  </a:lnTo>
                  <a:lnTo>
                    <a:pt x="1107567" y="46228"/>
                  </a:lnTo>
                  <a:lnTo>
                    <a:pt x="1107567" y="45339"/>
                  </a:lnTo>
                  <a:lnTo>
                    <a:pt x="1109249" y="45339"/>
                  </a:lnTo>
                  <a:lnTo>
                    <a:pt x="103149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80397" y="5034534"/>
              <a:ext cx="1079500" cy="361315"/>
            </a:xfrm>
            <a:custGeom>
              <a:avLst/>
              <a:gdLst/>
              <a:ahLst/>
              <a:cxnLst/>
              <a:rect l="l" t="t" r="r" b="b"/>
              <a:pathLst>
                <a:path w="1079500" h="361314">
                  <a:moveTo>
                    <a:pt x="539496" y="0"/>
                  </a:moveTo>
                  <a:lnTo>
                    <a:pt x="471825" y="1407"/>
                  </a:lnTo>
                  <a:lnTo>
                    <a:pt x="406662" y="5518"/>
                  </a:lnTo>
                  <a:lnTo>
                    <a:pt x="344512" y="12161"/>
                  </a:lnTo>
                  <a:lnTo>
                    <a:pt x="285882" y="21168"/>
                  </a:lnTo>
                  <a:lnTo>
                    <a:pt x="231276" y="32368"/>
                  </a:lnTo>
                  <a:lnTo>
                    <a:pt x="181200" y="45593"/>
                  </a:lnTo>
                  <a:lnTo>
                    <a:pt x="136161" y="60672"/>
                  </a:lnTo>
                  <a:lnTo>
                    <a:pt x="96663" y="77436"/>
                  </a:lnTo>
                  <a:lnTo>
                    <a:pt x="63213" y="95715"/>
                  </a:lnTo>
                  <a:lnTo>
                    <a:pt x="16477" y="136141"/>
                  </a:lnTo>
                  <a:lnTo>
                    <a:pt x="0" y="180594"/>
                  </a:lnTo>
                  <a:lnTo>
                    <a:pt x="4203" y="203238"/>
                  </a:lnTo>
                  <a:lnTo>
                    <a:pt x="36315" y="245847"/>
                  </a:lnTo>
                  <a:lnTo>
                    <a:pt x="96663" y="283751"/>
                  </a:lnTo>
                  <a:lnTo>
                    <a:pt x="136161" y="300515"/>
                  </a:lnTo>
                  <a:lnTo>
                    <a:pt x="181200" y="315594"/>
                  </a:lnTo>
                  <a:lnTo>
                    <a:pt x="231276" y="328819"/>
                  </a:lnTo>
                  <a:lnTo>
                    <a:pt x="285882" y="340019"/>
                  </a:lnTo>
                  <a:lnTo>
                    <a:pt x="344512" y="349026"/>
                  </a:lnTo>
                  <a:lnTo>
                    <a:pt x="406662" y="355669"/>
                  </a:lnTo>
                  <a:lnTo>
                    <a:pt x="471825" y="359780"/>
                  </a:lnTo>
                  <a:lnTo>
                    <a:pt x="539496" y="361188"/>
                  </a:lnTo>
                  <a:lnTo>
                    <a:pt x="607166" y="359780"/>
                  </a:lnTo>
                  <a:lnTo>
                    <a:pt x="672329" y="355669"/>
                  </a:lnTo>
                  <a:lnTo>
                    <a:pt x="734479" y="349026"/>
                  </a:lnTo>
                  <a:lnTo>
                    <a:pt x="793109" y="340019"/>
                  </a:lnTo>
                  <a:lnTo>
                    <a:pt x="847715" y="328819"/>
                  </a:lnTo>
                  <a:lnTo>
                    <a:pt x="897791" y="315594"/>
                  </a:lnTo>
                  <a:lnTo>
                    <a:pt x="942830" y="300515"/>
                  </a:lnTo>
                  <a:lnTo>
                    <a:pt x="982328" y="283751"/>
                  </a:lnTo>
                  <a:lnTo>
                    <a:pt x="1015778" y="265472"/>
                  </a:lnTo>
                  <a:lnTo>
                    <a:pt x="1062514" y="225046"/>
                  </a:lnTo>
                  <a:lnTo>
                    <a:pt x="1078992" y="180594"/>
                  </a:lnTo>
                  <a:lnTo>
                    <a:pt x="1074788" y="157949"/>
                  </a:lnTo>
                  <a:lnTo>
                    <a:pt x="1042676" y="115340"/>
                  </a:lnTo>
                  <a:lnTo>
                    <a:pt x="982328" y="77436"/>
                  </a:lnTo>
                  <a:lnTo>
                    <a:pt x="942830" y="60672"/>
                  </a:lnTo>
                  <a:lnTo>
                    <a:pt x="897791" y="45593"/>
                  </a:lnTo>
                  <a:lnTo>
                    <a:pt x="847715" y="32368"/>
                  </a:lnTo>
                  <a:lnTo>
                    <a:pt x="793109" y="21168"/>
                  </a:lnTo>
                  <a:lnTo>
                    <a:pt x="734479" y="12161"/>
                  </a:lnTo>
                  <a:lnTo>
                    <a:pt x="672329" y="5518"/>
                  </a:lnTo>
                  <a:lnTo>
                    <a:pt x="607166" y="1407"/>
                  </a:lnTo>
                  <a:lnTo>
                    <a:pt x="53949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80397" y="5034534"/>
              <a:ext cx="1079500" cy="361315"/>
            </a:xfrm>
            <a:custGeom>
              <a:avLst/>
              <a:gdLst/>
              <a:ahLst/>
              <a:cxnLst/>
              <a:rect l="l" t="t" r="r" b="b"/>
              <a:pathLst>
                <a:path w="1079500" h="361314">
                  <a:moveTo>
                    <a:pt x="539496" y="0"/>
                  </a:moveTo>
                  <a:lnTo>
                    <a:pt x="471825" y="1407"/>
                  </a:lnTo>
                  <a:lnTo>
                    <a:pt x="406662" y="5518"/>
                  </a:lnTo>
                  <a:lnTo>
                    <a:pt x="344512" y="12161"/>
                  </a:lnTo>
                  <a:lnTo>
                    <a:pt x="285882" y="21168"/>
                  </a:lnTo>
                  <a:lnTo>
                    <a:pt x="231276" y="32368"/>
                  </a:lnTo>
                  <a:lnTo>
                    <a:pt x="181200" y="45593"/>
                  </a:lnTo>
                  <a:lnTo>
                    <a:pt x="136161" y="60672"/>
                  </a:lnTo>
                  <a:lnTo>
                    <a:pt x="96663" y="77436"/>
                  </a:lnTo>
                  <a:lnTo>
                    <a:pt x="63213" y="95715"/>
                  </a:lnTo>
                  <a:lnTo>
                    <a:pt x="16477" y="136141"/>
                  </a:lnTo>
                  <a:lnTo>
                    <a:pt x="0" y="180594"/>
                  </a:lnTo>
                  <a:lnTo>
                    <a:pt x="4203" y="203238"/>
                  </a:lnTo>
                  <a:lnTo>
                    <a:pt x="36315" y="245847"/>
                  </a:lnTo>
                  <a:lnTo>
                    <a:pt x="96663" y="283751"/>
                  </a:lnTo>
                  <a:lnTo>
                    <a:pt x="136161" y="300515"/>
                  </a:lnTo>
                  <a:lnTo>
                    <a:pt x="181200" y="315594"/>
                  </a:lnTo>
                  <a:lnTo>
                    <a:pt x="231276" y="328819"/>
                  </a:lnTo>
                  <a:lnTo>
                    <a:pt x="285882" y="340019"/>
                  </a:lnTo>
                  <a:lnTo>
                    <a:pt x="344512" y="349026"/>
                  </a:lnTo>
                  <a:lnTo>
                    <a:pt x="406662" y="355669"/>
                  </a:lnTo>
                  <a:lnTo>
                    <a:pt x="471825" y="359780"/>
                  </a:lnTo>
                  <a:lnTo>
                    <a:pt x="539496" y="361188"/>
                  </a:lnTo>
                  <a:lnTo>
                    <a:pt x="607166" y="359780"/>
                  </a:lnTo>
                  <a:lnTo>
                    <a:pt x="672329" y="355669"/>
                  </a:lnTo>
                  <a:lnTo>
                    <a:pt x="734479" y="349026"/>
                  </a:lnTo>
                  <a:lnTo>
                    <a:pt x="793109" y="340019"/>
                  </a:lnTo>
                  <a:lnTo>
                    <a:pt x="847715" y="328819"/>
                  </a:lnTo>
                  <a:lnTo>
                    <a:pt x="897791" y="315594"/>
                  </a:lnTo>
                  <a:lnTo>
                    <a:pt x="942830" y="300515"/>
                  </a:lnTo>
                  <a:lnTo>
                    <a:pt x="982328" y="283751"/>
                  </a:lnTo>
                  <a:lnTo>
                    <a:pt x="1015778" y="265472"/>
                  </a:lnTo>
                  <a:lnTo>
                    <a:pt x="1062514" y="225046"/>
                  </a:lnTo>
                  <a:lnTo>
                    <a:pt x="1078992" y="180594"/>
                  </a:lnTo>
                  <a:lnTo>
                    <a:pt x="1074788" y="157949"/>
                  </a:lnTo>
                  <a:lnTo>
                    <a:pt x="1042676" y="115340"/>
                  </a:lnTo>
                  <a:lnTo>
                    <a:pt x="982328" y="77436"/>
                  </a:lnTo>
                  <a:lnTo>
                    <a:pt x="942830" y="60672"/>
                  </a:lnTo>
                  <a:lnTo>
                    <a:pt x="897791" y="45593"/>
                  </a:lnTo>
                  <a:lnTo>
                    <a:pt x="847715" y="32368"/>
                  </a:lnTo>
                  <a:lnTo>
                    <a:pt x="793109" y="21168"/>
                  </a:lnTo>
                  <a:lnTo>
                    <a:pt x="734479" y="12161"/>
                  </a:lnTo>
                  <a:lnTo>
                    <a:pt x="672329" y="5518"/>
                  </a:lnTo>
                  <a:lnTo>
                    <a:pt x="607166" y="1407"/>
                  </a:lnTo>
                  <a:lnTo>
                    <a:pt x="539496" y="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9518650" y="5062220"/>
            <a:ext cx="601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55" dirty="0">
                <a:solidFill>
                  <a:srgbClr val="005392"/>
                </a:solidFill>
                <a:latin typeface="Cambria"/>
                <a:cs typeface="Cambria"/>
              </a:rPr>
              <a:t>v</a:t>
            </a:r>
            <a:r>
              <a:rPr sz="1800" spc="12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lue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01539" y="3870197"/>
            <a:ext cx="10515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50" dirty="0">
                <a:solidFill>
                  <a:schemeClr val="accent1"/>
                </a:solidFill>
                <a:latin typeface="Cambria"/>
                <a:cs typeface="Cambria"/>
              </a:rPr>
              <a:t>off</a:t>
            </a:r>
            <a:r>
              <a:rPr sz="3200" spc="60" dirty="0">
                <a:solidFill>
                  <a:schemeClr val="accent1"/>
                </a:solidFill>
                <a:latin typeface="Cambria"/>
                <a:cs typeface="Cambria"/>
              </a:rPr>
              <a:t>s</a:t>
            </a:r>
            <a:r>
              <a:rPr sz="3200" spc="100" dirty="0">
                <a:solidFill>
                  <a:schemeClr val="accent1"/>
                </a:solidFill>
                <a:latin typeface="Cambria"/>
                <a:cs typeface="Cambria"/>
              </a:rPr>
              <a:t>et</a:t>
            </a:r>
            <a:endParaRPr sz="3200" dirty="0">
              <a:solidFill>
                <a:schemeClr val="accent1"/>
              </a:solidFill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15105" y="3588765"/>
            <a:ext cx="4343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55" dirty="0">
                <a:latin typeface="Cambria"/>
                <a:cs typeface="Cambria"/>
              </a:rPr>
              <a:t>r1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8166" y="4664455"/>
            <a:ext cx="65913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35" dirty="0">
                <a:latin typeface="Cambria"/>
                <a:cs typeface="Cambria"/>
              </a:rPr>
              <a:t>r15</a:t>
            </a:r>
            <a:endParaRPr sz="3200">
              <a:latin typeface="Cambria"/>
              <a:cs typeface="Cambri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408934" y="1157731"/>
            <a:ext cx="85775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7685" marR="221615" indent="-515620">
              <a:lnSpc>
                <a:spcPct val="100000"/>
              </a:lnSpc>
              <a:spcBef>
                <a:spcPts val="95"/>
              </a:spcBef>
              <a:buAutoNum type="arabicParenBoth"/>
              <a:tabLst>
                <a:tab pos="528320" algn="l"/>
              </a:tabLst>
            </a:pP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Read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005392"/>
                </a:solidFill>
                <a:latin typeface="Cambria"/>
                <a:cs typeface="Cambria"/>
              </a:rPr>
              <a:t>of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40" dirty="0">
                <a:solidFill>
                  <a:srgbClr val="005392"/>
                </a:solidFill>
                <a:latin typeface="Cambria"/>
                <a:cs typeface="Cambria"/>
              </a:rPr>
              <a:t>r1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5392"/>
                </a:solidFill>
                <a:latin typeface="Cambria"/>
                <a:cs typeface="Cambria"/>
              </a:rPr>
              <a:t>from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register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file.</a:t>
            </a:r>
            <a:r>
              <a:rPr sz="2800" spc="204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AF50"/>
                </a:solidFill>
                <a:latin typeface="Cambria"/>
                <a:cs typeface="Cambria"/>
              </a:rPr>
              <a:t>Add</a:t>
            </a:r>
            <a:r>
              <a:rPr sz="2800" spc="17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AF50"/>
                </a:solidFill>
                <a:latin typeface="Cambria"/>
                <a:cs typeface="Cambria"/>
              </a:rPr>
              <a:t>offset</a:t>
            </a:r>
            <a:r>
              <a:rPr sz="2800" spc="155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00AF50"/>
                </a:solidFill>
                <a:latin typeface="Cambria"/>
                <a:cs typeface="Cambria"/>
              </a:rPr>
              <a:t>to </a:t>
            </a:r>
            <a:r>
              <a:rPr sz="2800" spc="-60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00AF50"/>
                </a:solidFill>
                <a:latin typeface="Cambria"/>
                <a:cs typeface="Cambria"/>
              </a:rPr>
              <a:t>it.</a:t>
            </a:r>
            <a:r>
              <a:rPr sz="2800" spc="160" dirty="0">
                <a:solidFill>
                  <a:srgbClr val="00AF50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This</a:t>
            </a:r>
            <a:r>
              <a:rPr sz="2800" spc="1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gives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address</a:t>
            </a:r>
            <a:endParaRPr sz="2800">
              <a:latin typeface="Cambria"/>
              <a:cs typeface="Cambria"/>
            </a:endParaRPr>
          </a:p>
          <a:p>
            <a:pPr marL="527685" indent="-515620">
              <a:lnSpc>
                <a:spcPct val="100000"/>
              </a:lnSpc>
              <a:buAutoNum type="arabicParenBoth"/>
              <a:tabLst>
                <a:tab pos="528320" algn="l"/>
              </a:tabLst>
            </a:pPr>
            <a:r>
              <a:rPr sz="2800" spc="135" dirty="0">
                <a:solidFill>
                  <a:srgbClr val="005392"/>
                </a:solidFill>
                <a:latin typeface="Cambria"/>
                <a:cs typeface="Cambria"/>
              </a:rPr>
              <a:t>Read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800" spc="1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5392"/>
                </a:solidFill>
                <a:latin typeface="Cambria"/>
                <a:cs typeface="Cambria"/>
              </a:rPr>
              <a:t>stored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5392"/>
                </a:solidFill>
                <a:latin typeface="Cambria"/>
                <a:cs typeface="Cambria"/>
              </a:rPr>
              <a:t>in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r>
              <a:rPr sz="2800" spc="160" dirty="0">
                <a:solidFill>
                  <a:srgbClr val="005392"/>
                </a:solidFill>
                <a:latin typeface="Cambria"/>
                <a:cs typeface="Cambria"/>
              </a:rPr>
              <a:t> at</a:t>
            </a:r>
            <a:r>
              <a:rPr sz="2800" spc="150" dirty="0">
                <a:solidFill>
                  <a:srgbClr val="005392"/>
                </a:solidFill>
                <a:latin typeface="Cambria"/>
                <a:cs typeface="Cambria"/>
              </a:rPr>
              <a:t> that</a:t>
            </a:r>
            <a:r>
              <a:rPr sz="2800" spc="1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address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50410" y="2677921"/>
            <a:ext cx="1630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005392"/>
                </a:solidFill>
                <a:latin typeface="Calibri"/>
                <a:cs typeface="Calibri"/>
              </a:rPr>
              <a:t>Let</a:t>
            </a:r>
            <a:r>
              <a:rPr sz="2400" spc="-3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2400" spc="-15" dirty="0">
                <a:solidFill>
                  <a:srgbClr val="005392"/>
                </a:solidFill>
                <a:latin typeface="Calibri"/>
                <a:cs typeface="Calibri"/>
              </a:rPr>
              <a:t>offset</a:t>
            </a:r>
            <a:r>
              <a:rPr sz="2400" spc="-2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5392"/>
                </a:solidFill>
                <a:latin typeface="Calibri"/>
                <a:cs typeface="Calibri"/>
              </a:rPr>
              <a:t>=</a:t>
            </a:r>
            <a:r>
              <a:rPr sz="2400" spc="-3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5392"/>
                </a:solidFill>
                <a:latin typeface="Calibri"/>
                <a:cs typeface="Calibri"/>
              </a:rPr>
              <a:t>9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41591" y="2927349"/>
            <a:ext cx="150495" cy="7569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0955">
              <a:lnSpc>
                <a:spcPct val="100000"/>
              </a:lnSpc>
              <a:spcBef>
                <a:spcPts val="815"/>
              </a:spcBef>
            </a:pP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0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76109" y="4118229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100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43725" y="5184140"/>
            <a:ext cx="3733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460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743568" y="4932933"/>
            <a:ext cx="53149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5392"/>
                </a:solidFill>
                <a:latin typeface="Cambria"/>
                <a:cs typeface="Cambria"/>
              </a:rPr>
              <a:t>8914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42973" y="409414"/>
            <a:ext cx="1190605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100"/>
              </a:spcBef>
            </a:pPr>
            <a:r>
              <a:rPr spc="275" dirty="0"/>
              <a:t>Examples</a:t>
            </a:r>
            <a:r>
              <a:rPr spc="229" dirty="0"/>
              <a:t> </a:t>
            </a:r>
            <a:r>
              <a:rPr spc="185" dirty="0"/>
              <a:t>of</a:t>
            </a:r>
            <a:r>
              <a:rPr spc="240" dirty="0"/>
              <a:t> </a:t>
            </a:r>
            <a:r>
              <a:rPr spc="220" dirty="0"/>
              <a:t>instructions</a:t>
            </a:r>
            <a:r>
              <a:rPr spc="240" dirty="0"/>
              <a:t> </a:t>
            </a:r>
            <a:r>
              <a:rPr spc="254" dirty="0"/>
              <a:t>that</a:t>
            </a:r>
            <a:r>
              <a:rPr spc="240" dirty="0"/>
              <a:t> </a:t>
            </a:r>
            <a:r>
              <a:rPr spc="200" dirty="0"/>
              <a:t>use</a:t>
            </a:r>
            <a:r>
              <a:rPr spc="240" dirty="0"/>
              <a:t> </a:t>
            </a:r>
            <a:r>
              <a:rPr spc="195" dirty="0"/>
              <a:t>those</a:t>
            </a:r>
            <a:r>
              <a:rPr spc="235" dirty="0"/>
              <a:t> </a:t>
            </a:r>
            <a:r>
              <a:rPr spc="190" dirty="0"/>
              <a:t>modes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3393757" y="3433381"/>
            <a:ext cx="651510" cy="1391920"/>
            <a:chOff x="3393757" y="3433381"/>
            <a:chExt cx="651510" cy="1391920"/>
          </a:xfrm>
        </p:grpSpPr>
        <p:sp>
          <p:nvSpPr>
            <p:cNvPr id="5" name="object 5"/>
            <p:cNvSpPr/>
            <p:nvPr/>
          </p:nvSpPr>
          <p:spPr>
            <a:xfrm>
              <a:off x="3396234" y="3435858"/>
              <a:ext cx="646430" cy="242570"/>
            </a:xfrm>
            <a:custGeom>
              <a:avLst/>
              <a:gdLst/>
              <a:ahLst/>
              <a:cxnLst/>
              <a:rect l="l" t="t" r="r" b="b"/>
              <a:pathLst>
                <a:path w="646429" h="242570">
                  <a:moveTo>
                    <a:pt x="646176" y="0"/>
                  </a:moveTo>
                  <a:lnTo>
                    <a:pt x="0" y="0"/>
                  </a:lnTo>
                  <a:lnTo>
                    <a:pt x="0" y="242315"/>
                  </a:lnTo>
                  <a:lnTo>
                    <a:pt x="646176" y="242315"/>
                  </a:lnTo>
                  <a:lnTo>
                    <a:pt x="646176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94710" y="3434334"/>
              <a:ext cx="649605" cy="1390015"/>
            </a:xfrm>
            <a:custGeom>
              <a:avLst/>
              <a:gdLst/>
              <a:ahLst/>
              <a:cxnLst/>
              <a:rect l="l" t="t" r="r" b="b"/>
              <a:pathLst>
                <a:path w="649604" h="1390014">
                  <a:moveTo>
                    <a:pt x="0" y="1389888"/>
                  </a:moveTo>
                  <a:lnTo>
                    <a:pt x="649224" y="1389888"/>
                  </a:lnTo>
                  <a:lnTo>
                    <a:pt x="649224" y="0"/>
                  </a:lnTo>
                  <a:lnTo>
                    <a:pt x="0" y="0"/>
                  </a:lnTo>
                  <a:lnTo>
                    <a:pt x="0" y="1389888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3394709" y="3435096"/>
            <a:ext cx="649605" cy="243204"/>
          </a:xfrm>
          <a:prstGeom prst="rect">
            <a:avLst/>
          </a:prstGeom>
          <a:ln w="3301">
            <a:solidFill>
              <a:srgbClr val="15111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89865">
              <a:lnSpc>
                <a:spcPts val="1914"/>
              </a:lnSpc>
            </a:pPr>
            <a:r>
              <a:rPr sz="1900" spc="20" dirty="0">
                <a:solidFill>
                  <a:srgbClr val="005392"/>
                </a:solidFill>
                <a:latin typeface="Cambria"/>
                <a:cs typeface="Cambria"/>
              </a:rPr>
              <a:t>r1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962465" y="2994469"/>
            <a:ext cx="2940685" cy="3025775"/>
            <a:chOff x="2962465" y="2994469"/>
            <a:chExt cx="2940685" cy="3025775"/>
          </a:xfrm>
        </p:grpSpPr>
        <p:sp>
          <p:nvSpPr>
            <p:cNvPr id="9" name="object 9"/>
            <p:cNvSpPr/>
            <p:nvPr/>
          </p:nvSpPr>
          <p:spPr>
            <a:xfrm>
              <a:off x="4991861" y="2995422"/>
              <a:ext cx="652780" cy="2623185"/>
            </a:xfrm>
            <a:custGeom>
              <a:avLst/>
              <a:gdLst/>
              <a:ahLst/>
              <a:cxnLst/>
              <a:rect l="l" t="t" r="r" b="b"/>
              <a:pathLst>
                <a:path w="652779" h="2623185">
                  <a:moveTo>
                    <a:pt x="0" y="2622804"/>
                  </a:moveTo>
                  <a:lnTo>
                    <a:pt x="652272" y="2622804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2622804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988813" y="4024122"/>
              <a:ext cx="657225" cy="140335"/>
            </a:xfrm>
            <a:custGeom>
              <a:avLst/>
              <a:gdLst/>
              <a:ahLst/>
              <a:cxnLst/>
              <a:rect l="l" t="t" r="r" b="b"/>
              <a:pathLst>
                <a:path w="657225" h="140335">
                  <a:moveTo>
                    <a:pt x="656843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56843" y="140207"/>
                  </a:lnTo>
                  <a:lnTo>
                    <a:pt x="656843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988813" y="4024122"/>
              <a:ext cx="657225" cy="140335"/>
            </a:xfrm>
            <a:custGeom>
              <a:avLst/>
              <a:gdLst/>
              <a:ahLst/>
              <a:cxnLst/>
              <a:rect l="l" t="t" r="r" b="b"/>
              <a:pathLst>
                <a:path w="657225" h="140335">
                  <a:moveTo>
                    <a:pt x="0" y="140207"/>
                  </a:moveTo>
                  <a:lnTo>
                    <a:pt x="656843" y="140207"/>
                  </a:lnTo>
                  <a:lnTo>
                    <a:pt x="656843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429505" y="3435858"/>
              <a:ext cx="0" cy="218440"/>
            </a:xfrm>
            <a:custGeom>
              <a:avLst/>
              <a:gdLst/>
              <a:ahLst/>
              <a:cxnLst/>
              <a:rect l="l" t="t" r="r" b="b"/>
              <a:pathLst>
                <a:path h="218439">
                  <a:moveTo>
                    <a:pt x="0" y="0"/>
                  </a:moveTo>
                  <a:lnTo>
                    <a:pt x="0" y="217931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399025" y="3551682"/>
              <a:ext cx="59690" cy="102235"/>
            </a:xfrm>
            <a:custGeom>
              <a:avLst/>
              <a:gdLst/>
              <a:ahLst/>
              <a:cxnLst/>
              <a:rect l="l" t="t" r="r" b="b"/>
              <a:pathLst>
                <a:path w="59689" h="102235">
                  <a:moveTo>
                    <a:pt x="59436" y="0"/>
                  </a:moveTo>
                  <a:lnTo>
                    <a:pt x="30479" y="29844"/>
                  </a:lnTo>
                  <a:lnTo>
                    <a:pt x="0" y="0"/>
                  </a:lnTo>
                  <a:lnTo>
                    <a:pt x="30479" y="102107"/>
                  </a:lnTo>
                  <a:lnTo>
                    <a:pt x="594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63417" y="3551682"/>
              <a:ext cx="2938780" cy="2467610"/>
            </a:xfrm>
            <a:custGeom>
              <a:avLst/>
              <a:gdLst/>
              <a:ahLst/>
              <a:cxnLst/>
              <a:rect l="l" t="t" r="r" b="b"/>
              <a:pathLst>
                <a:path w="2938779" h="2467610">
                  <a:moveTo>
                    <a:pt x="1466087" y="29844"/>
                  </a:moveTo>
                  <a:lnTo>
                    <a:pt x="1435608" y="0"/>
                  </a:lnTo>
                  <a:lnTo>
                    <a:pt x="1466087" y="102107"/>
                  </a:lnTo>
                  <a:lnTo>
                    <a:pt x="1495044" y="0"/>
                  </a:lnTo>
                  <a:lnTo>
                    <a:pt x="1466087" y="29844"/>
                  </a:lnTo>
                  <a:close/>
                </a:path>
                <a:path w="2938779" h="2467610">
                  <a:moveTo>
                    <a:pt x="2801620" y="739647"/>
                  </a:moveTo>
                  <a:lnTo>
                    <a:pt x="2938272" y="739647"/>
                  </a:lnTo>
                  <a:lnTo>
                    <a:pt x="2938272" y="2467355"/>
                  </a:lnTo>
                  <a:lnTo>
                    <a:pt x="0" y="2467355"/>
                  </a:lnTo>
                  <a:lnTo>
                    <a:pt x="15493" y="19812"/>
                  </a:lnTo>
                  <a:lnTo>
                    <a:pt x="432689" y="198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45993" y="3527933"/>
              <a:ext cx="151130" cy="85597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393186" y="3678174"/>
              <a:ext cx="645160" cy="242570"/>
            </a:xfrm>
            <a:custGeom>
              <a:avLst/>
              <a:gdLst/>
              <a:ahLst/>
              <a:cxnLst/>
              <a:rect l="l" t="t" r="r" b="b"/>
              <a:pathLst>
                <a:path w="645160" h="242570">
                  <a:moveTo>
                    <a:pt x="0" y="242315"/>
                  </a:moveTo>
                  <a:lnTo>
                    <a:pt x="644651" y="242315"/>
                  </a:lnTo>
                  <a:lnTo>
                    <a:pt x="644651" y="0"/>
                  </a:lnTo>
                  <a:lnTo>
                    <a:pt x="0" y="0"/>
                  </a:lnTo>
                  <a:lnTo>
                    <a:pt x="0" y="242315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396360" y="3679063"/>
            <a:ext cx="647065" cy="240665"/>
          </a:xfrm>
          <a:prstGeom prst="rect">
            <a:avLst/>
          </a:prstGeom>
          <a:solidFill>
            <a:srgbClr val="C1EAEF"/>
          </a:solidFill>
        </p:spPr>
        <p:txBody>
          <a:bodyPr vert="horz" wrap="square" lIns="0" tIns="0" rIns="0" bIns="0" rtlCol="0">
            <a:spAutoFit/>
          </a:bodyPr>
          <a:lstStyle/>
          <a:p>
            <a:pPr marL="185420">
              <a:lnSpc>
                <a:spcPts val="1895"/>
              </a:lnSpc>
            </a:pPr>
            <a:r>
              <a:rPr sz="1900" spc="20" dirty="0">
                <a:solidFill>
                  <a:srgbClr val="005392"/>
                </a:solidFill>
                <a:latin typeface="Cambria"/>
                <a:cs typeface="Cambria"/>
              </a:rPr>
              <a:t>r2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276980" y="2927095"/>
            <a:ext cx="755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solidFill>
                  <a:srgbClr val="005392"/>
                </a:solidFill>
                <a:latin typeface="Cambria"/>
                <a:cs typeface="Cambria"/>
              </a:rPr>
              <a:t>re</a:t>
            </a:r>
            <a:r>
              <a:rPr sz="1600" spc="60" dirty="0">
                <a:solidFill>
                  <a:srgbClr val="005392"/>
                </a:solidFill>
                <a:latin typeface="Cambria"/>
                <a:cs typeface="Cambria"/>
              </a:rPr>
              <a:t>g</a:t>
            </a:r>
            <a:r>
              <a:rPr sz="1600" spc="5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1600" spc="30" dirty="0">
                <a:solidFill>
                  <a:srgbClr val="005392"/>
                </a:solidFill>
                <a:latin typeface="Cambria"/>
                <a:cs typeface="Cambria"/>
              </a:rPr>
              <a:t>t</a:t>
            </a:r>
            <a:r>
              <a:rPr sz="1600" spc="60" dirty="0">
                <a:solidFill>
                  <a:srgbClr val="005392"/>
                </a:solidFill>
                <a:latin typeface="Cambria"/>
                <a:cs typeface="Cambria"/>
              </a:rPr>
              <a:t>e</a:t>
            </a:r>
            <a:r>
              <a:rPr sz="1600" spc="45" dirty="0">
                <a:solidFill>
                  <a:srgbClr val="005392"/>
                </a:solidFill>
                <a:latin typeface="Cambria"/>
                <a:cs typeface="Cambria"/>
              </a:rPr>
              <a:t>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505580" y="3176397"/>
            <a:ext cx="321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5" dirty="0">
                <a:solidFill>
                  <a:srgbClr val="005392"/>
                </a:solidFill>
                <a:latin typeface="Cambria"/>
                <a:cs typeface="Cambria"/>
              </a:rPr>
              <a:t>file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392804" y="2055263"/>
            <a:ext cx="2329815" cy="915669"/>
          </a:xfrm>
          <a:prstGeom prst="rect">
            <a:avLst/>
          </a:prstGeom>
        </p:spPr>
        <p:txBody>
          <a:bodyPr vert="horz" wrap="square" lIns="0" tIns="1809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25"/>
              </a:spcBef>
            </a:pPr>
            <a:r>
              <a:rPr sz="2400" spc="55" dirty="0">
                <a:solidFill>
                  <a:srgbClr val="005392"/>
                </a:solidFill>
                <a:latin typeface="Cambria"/>
                <a:cs typeface="Cambria"/>
              </a:rPr>
              <a:t>lw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5392"/>
                </a:solidFill>
                <a:latin typeface="Cambria"/>
                <a:cs typeface="Cambria"/>
              </a:rPr>
              <a:t>r1,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005392"/>
                </a:solidFill>
                <a:latin typeface="Cambria"/>
                <a:cs typeface="Cambria"/>
              </a:rPr>
              <a:t>10(r2)</a:t>
            </a:r>
            <a:endParaRPr sz="240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880"/>
              </a:spcBef>
            </a:pPr>
            <a:r>
              <a:rPr sz="1600" spc="35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034790" y="3669665"/>
            <a:ext cx="1717039" cy="913130"/>
            <a:chOff x="4034790" y="3669665"/>
            <a:chExt cx="1717039" cy="913130"/>
          </a:xfrm>
        </p:grpSpPr>
        <p:sp>
          <p:nvSpPr>
            <p:cNvPr id="22" name="object 22"/>
            <p:cNvSpPr/>
            <p:nvPr/>
          </p:nvSpPr>
          <p:spPr>
            <a:xfrm>
              <a:off x="4988814" y="4161282"/>
              <a:ext cx="657225" cy="139065"/>
            </a:xfrm>
            <a:custGeom>
              <a:avLst/>
              <a:gdLst/>
              <a:ahLst/>
              <a:cxnLst/>
              <a:rect l="l" t="t" r="r" b="b"/>
              <a:pathLst>
                <a:path w="657225" h="139064">
                  <a:moveTo>
                    <a:pt x="656843" y="0"/>
                  </a:moveTo>
                  <a:lnTo>
                    <a:pt x="0" y="0"/>
                  </a:lnTo>
                  <a:lnTo>
                    <a:pt x="0" y="138683"/>
                  </a:lnTo>
                  <a:lnTo>
                    <a:pt x="656843" y="138683"/>
                  </a:lnTo>
                  <a:lnTo>
                    <a:pt x="656843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988814" y="4161282"/>
              <a:ext cx="657225" cy="139065"/>
            </a:xfrm>
            <a:custGeom>
              <a:avLst/>
              <a:gdLst/>
              <a:ahLst/>
              <a:cxnLst/>
              <a:rect l="l" t="t" r="r" b="b"/>
              <a:pathLst>
                <a:path w="657225" h="139064">
                  <a:moveTo>
                    <a:pt x="0" y="138683"/>
                  </a:moveTo>
                  <a:lnTo>
                    <a:pt x="656843" y="138683"/>
                  </a:lnTo>
                  <a:lnTo>
                    <a:pt x="656843" y="0"/>
                  </a:lnTo>
                  <a:lnTo>
                    <a:pt x="0" y="0"/>
                  </a:lnTo>
                  <a:lnTo>
                    <a:pt x="0" y="138683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993386" y="4304538"/>
              <a:ext cx="649605" cy="140335"/>
            </a:xfrm>
            <a:custGeom>
              <a:avLst/>
              <a:gdLst/>
              <a:ahLst/>
              <a:cxnLst/>
              <a:rect l="l" t="t" r="r" b="b"/>
              <a:pathLst>
                <a:path w="649604" h="140335">
                  <a:moveTo>
                    <a:pt x="649224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49224" y="140207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993386" y="4304538"/>
              <a:ext cx="649605" cy="140335"/>
            </a:xfrm>
            <a:custGeom>
              <a:avLst/>
              <a:gdLst/>
              <a:ahLst/>
              <a:cxnLst/>
              <a:rect l="l" t="t" r="r" b="b"/>
              <a:pathLst>
                <a:path w="649604" h="140335">
                  <a:moveTo>
                    <a:pt x="0" y="140207"/>
                  </a:moveTo>
                  <a:lnTo>
                    <a:pt x="649224" y="140207"/>
                  </a:lnTo>
                  <a:lnTo>
                    <a:pt x="649224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991862" y="4441698"/>
              <a:ext cx="649605" cy="140335"/>
            </a:xfrm>
            <a:custGeom>
              <a:avLst/>
              <a:gdLst/>
              <a:ahLst/>
              <a:cxnLst/>
              <a:rect l="l" t="t" r="r" b="b"/>
              <a:pathLst>
                <a:path w="649604" h="140335">
                  <a:moveTo>
                    <a:pt x="649224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49224" y="140207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991862" y="4441698"/>
              <a:ext cx="649605" cy="140335"/>
            </a:xfrm>
            <a:custGeom>
              <a:avLst/>
              <a:gdLst/>
              <a:ahLst/>
              <a:cxnLst/>
              <a:rect l="l" t="t" r="r" b="b"/>
              <a:pathLst>
                <a:path w="649604" h="140335">
                  <a:moveTo>
                    <a:pt x="0" y="140207"/>
                  </a:moveTo>
                  <a:lnTo>
                    <a:pt x="649224" y="140207"/>
                  </a:lnTo>
                  <a:lnTo>
                    <a:pt x="649224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034790" y="3784854"/>
              <a:ext cx="1716405" cy="792480"/>
            </a:xfrm>
            <a:custGeom>
              <a:avLst/>
              <a:gdLst/>
              <a:ahLst/>
              <a:cxnLst/>
              <a:rect l="l" t="t" r="r" b="b"/>
              <a:pathLst>
                <a:path w="1716404" h="792479">
                  <a:moveTo>
                    <a:pt x="1653539" y="240792"/>
                  </a:moveTo>
                  <a:lnTo>
                    <a:pt x="1716024" y="301498"/>
                  </a:lnTo>
                  <a:lnTo>
                    <a:pt x="1716024" y="735076"/>
                  </a:lnTo>
                  <a:lnTo>
                    <a:pt x="1657477" y="792480"/>
                  </a:lnTo>
                </a:path>
                <a:path w="1716404" h="792479">
                  <a:moveTo>
                    <a:pt x="0" y="0"/>
                  </a:moveTo>
                  <a:lnTo>
                    <a:pt x="227075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158234" y="3754374"/>
              <a:ext cx="104139" cy="58419"/>
            </a:xfrm>
            <a:custGeom>
              <a:avLst/>
              <a:gdLst/>
              <a:ahLst/>
              <a:cxnLst/>
              <a:rect l="l" t="t" r="r" b="b"/>
              <a:pathLst>
                <a:path w="104139" h="58420">
                  <a:moveTo>
                    <a:pt x="0" y="0"/>
                  </a:moveTo>
                  <a:lnTo>
                    <a:pt x="28701" y="29718"/>
                  </a:lnTo>
                  <a:lnTo>
                    <a:pt x="0" y="57912"/>
                  </a:lnTo>
                  <a:lnTo>
                    <a:pt x="103631" y="297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158234" y="3754374"/>
              <a:ext cx="104139" cy="58419"/>
            </a:xfrm>
            <a:custGeom>
              <a:avLst/>
              <a:gdLst/>
              <a:ahLst/>
              <a:cxnLst/>
              <a:rect l="l" t="t" r="r" b="b"/>
              <a:pathLst>
                <a:path w="104139" h="58420">
                  <a:moveTo>
                    <a:pt x="28701" y="29718"/>
                  </a:moveTo>
                  <a:lnTo>
                    <a:pt x="0" y="57912"/>
                  </a:lnTo>
                  <a:lnTo>
                    <a:pt x="103631" y="29718"/>
                  </a:lnTo>
                  <a:lnTo>
                    <a:pt x="0" y="0"/>
                  </a:lnTo>
                  <a:lnTo>
                    <a:pt x="28701" y="2971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261866" y="3670554"/>
              <a:ext cx="268605" cy="259079"/>
            </a:xfrm>
            <a:custGeom>
              <a:avLst/>
              <a:gdLst/>
              <a:ahLst/>
              <a:cxnLst/>
              <a:rect l="l" t="t" r="r" b="b"/>
              <a:pathLst>
                <a:path w="268604" h="259079">
                  <a:moveTo>
                    <a:pt x="134112" y="0"/>
                  </a:moveTo>
                  <a:lnTo>
                    <a:pt x="91732" y="6608"/>
                  </a:lnTo>
                  <a:lnTo>
                    <a:pt x="54918" y="25005"/>
                  </a:lnTo>
                  <a:lnTo>
                    <a:pt x="25883" y="53053"/>
                  </a:lnTo>
                  <a:lnTo>
                    <a:pt x="6839" y="88611"/>
                  </a:lnTo>
                  <a:lnTo>
                    <a:pt x="0" y="129540"/>
                  </a:lnTo>
                  <a:lnTo>
                    <a:pt x="6839" y="170468"/>
                  </a:lnTo>
                  <a:lnTo>
                    <a:pt x="25883" y="206026"/>
                  </a:lnTo>
                  <a:lnTo>
                    <a:pt x="54918" y="234074"/>
                  </a:lnTo>
                  <a:lnTo>
                    <a:pt x="91732" y="252471"/>
                  </a:lnTo>
                  <a:lnTo>
                    <a:pt x="134112" y="259080"/>
                  </a:lnTo>
                  <a:lnTo>
                    <a:pt x="176491" y="252471"/>
                  </a:lnTo>
                  <a:lnTo>
                    <a:pt x="213305" y="234074"/>
                  </a:lnTo>
                  <a:lnTo>
                    <a:pt x="242340" y="206026"/>
                  </a:lnTo>
                  <a:lnTo>
                    <a:pt x="261384" y="170468"/>
                  </a:lnTo>
                  <a:lnTo>
                    <a:pt x="268224" y="129540"/>
                  </a:lnTo>
                  <a:lnTo>
                    <a:pt x="261384" y="88611"/>
                  </a:lnTo>
                  <a:lnTo>
                    <a:pt x="242340" y="53053"/>
                  </a:lnTo>
                  <a:lnTo>
                    <a:pt x="213305" y="25005"/>
                  </a:lnTo>
                  <a:lnTo>
                    <a:pt x="176491" y="6608"/>
                  </a:lnTo>
                  <a:lnTo>
                    <a:pt x="134112" y="0"/>
                  </a:lnTo>
                  <a:close/>
                </a:path>
              </a:pathLst>
            </a:custGeom>
            <a:solidFill>
              <a:srgbClr val="AA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261866" y="3670554"/>
              <a:ext cx="722630" cy="439420"/>
            </a:xfrm>
            <a:custGeom>
              <a:avLst/>
              <a:gdLst/>
              <a:ahLst/>
              <a:cxnLst/>
              <a:rect l="l" t="t" r="r" b="b"/>
              <a:pathLst>
                <a:path w="722629" h="439420">
                  <a:moveTo>
                    <a:pt x="0" y="129540"/>
                  </a:moveTo>
                  <a:lnTo>
                    <a:pt x="6839" y="88611"/>
                  </a:lnTo>
                  <a:lnTo>
                    <a:pt x="25883" y="53053"/>
                  </a:lnTo>
                  <a:lnTo>
                    <a:pt x="54918" y="25005"/>
                  </a:lnTo>
                  <a:lnTo>
                    <a:pt x="91732" y="6608"/>
                  </a:lnTo>
                  <a:lnTo>
                    <a:pt x="134112" y="0"/>
                  </a:lnTo>
                  <a:lnTo>
                    <a:pt x="176491" y="6608"/>
                  </a:lnTo>
                  <a:lnTo>
                    <a:pt x="213305" y="25005"/>
                  </a:lnTo>
                  <a:lnTo>
                    <a:pt x="242340" y="53053"/>
                  </a:lnTo>
                  <a:lnTo>
                    <a:pt x="261384" y="88611"/>
                  </a:lnTo>
                  <a:lnTo>
                    <a:pt x="268224" y="129540"/>
                  </a:lnTo>
                  <a:lnTo>
                    <a:pt x="261384" y="170468"/>
                  </a:lnTo>
                  <a:lnTo>
                    <a:pt x="242340" y="206026"/>
                  </a:lnTo>
                  <a:lnTo>
                    <a:pt x="213305" y="234074"/>
                  </a:lnTo>
                  <a:lnTo>
                    <a:pt x="176491" y="252471"/>
                  </a:lnTo>
                  <a:lnTo>
                    <a:pt x="134112" y="259080"/>
                  </a:lnTo>
                  <a:lnTo>
                    <a:pt x="91732" y="252471"/>
                  </a:lnTo>
                  <a:lnTo>
                    <a:pt x="54918" y="234074"/>
                  </a:lnTo>
                  <a:lnTo>
                    <a:pt x="25883" y="206026"/>
                  </a:lnTo>
                  <a:lnTo>
                    <a:pt x="6839" y="170468"/>
                  </a:lnTo>
                  <a:lnTo>
                    <a:pt x="0" y="129540"/>
                  </a:lnTo>
                  <a:close/>
                </a:path>
                <a:path w="722629" h="439420">
                  <a:moveTo>
                    <a:pt x="144780" y="21336"/>
                  </a:moveTo>
                  <a:lnTo>
                    <a:pt x="144780" y="217932"/>
                  </a:lnTo>
                </a:path>
                <a:path w="722629" h="439420">
                  <a:moveTo>
                    <a:pt x="45720" y="120396"/>
                  </a:moveTo>
                  <a:lnTo>
                    <a:pt x="236220" y="114300"/>
                  </a:lnTo>
                </a:path>
                <a:path w="722629" h="439420">
                  <a:moveTo>
                    <a:pt x="280416" y="114300"/>
                  </a:moveTo>
                  <a:lnTo>
                    <a:pt x="470916" y="114300"/>
                  </a:lnTo>
                  <a:lnTo>
                    <a:pt x="470916" y="438912"/>
                  </a:lnTo>
                  <a:lnTo>
                    <a:pt x="722376" y="4389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34001" y="4065905"/>
              <a:ext cx="151129" cy="8712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234434" y="3169157"/>
            <a:ext cx="405765" cy="266700"/>
          </a:xfrm>
          <a:prstGeom prst="rect">
            <a:avLst/>
          </a:prstGeom>
          <a:solidFill>
            <a:srgbClr val="C1EAEF"/>
          </a:solidFill>
          <a:ln w="3175">
            <a:solidFill>
              <a:srgbClr val="15111D"/>
            </a:solidFill>
          </a:ln>
        </p:spPr>
        <p:txBody>
          <a:bodyPr vert="horz" wrap="square" lIns="0" tIns="31750" rIns="0" bIns="0" rtlCol="0">
            <a:spAutoFit/>
          </a:bodyPr>
          <a:lstStyle/>
          <a:p>
            <a:pPr marL="73025">
              <a:lnSpc>
                <a:spcPts val="1845"/>
              </a:lnSpc>
              <a:spcBef>
                <a:spcPts val="250"/>
              </a:spcBef>
            </a:pPr>
            <a:r>
              <a:rPr sz="1600" dirty="0">
                <a:solidFill>
                  <a:srgbClr val="005392"/>
                </a:solidFill>
                <a:latin typeface="Cambria"/>
                <a:cs typeface="Cambria"/>
              </a:rPr>
              <a:t>10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958393" y="3442525"/>
            <a:ext cx="651510" cy="1393825"/>
            <a:chOff x="6958393" y="3442525"/>
            <a:chExt cx="651510" cy="1393825"/>
          </a:xfrm>
        </p:grpSpPr>
        <p:sp>
          <p:nvSpPr>
            <p:cNvPr id="36" name="object 36"/>
            <p:cNvSpPr/>
            <p:nvPr/>
          </p:nvSpPr>
          <p:spPr>
            <a:xfrm>
              <a:off x="6962394" y="3446526"/>
              <a:ext cx="645160" cy="241300"/>
            </a:xfrm>
            <a:custGeom>
              <a:avLst/>
              <a:gdLst/>
              <a:ahLst/>
              <a:cxnLst/>
              <a:rect l="l" t="t" r="r" b="b"/>
              <a:pathLst>
                <a:path w="645159" h="241300">
                  <a:moveTo>
                    <a:pt x="644651" y="0"/>
                  </a:moveTo>
                  <a:lnTo>
                    <a:pt x="0" y="0"/>
                  </a:lnTo>
                  <a:lnTo>
                    <a:pt x="0" y="240792"/>
                  </a:lnTo>
                  <a:lnTo>
                    <a:pt x="644651" y="240792"/>
                  </a:lnTo>
                  <a:lnTo>
                    <a:pt x="644651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959346" y="3443478"/>
              <a:ext cx="649605" cy="1391920"/>
            </a:xfrm>
            <a:custGeom>
              <a:avLst/>
              <a:gdLst/>
              <a:ahLst/>
              <a:cxnLst/>
              <a:rect l="l" t="t" r="r" b="b"/>
              <a:pathLst>
                <a:path w="649604" h="1391920">
                  <a:moveTo>
                    <a:pt x="3048" y="243840"/>
                  </a:moveTo>
                  <a:lnTo>
                    <a:pt x="647700" y="243840"/>
                  </a:lnTo>
                  <a:lnTo>
                    <a:pt x="647700" y="3048"/>
                  </a:lnTo>
                  <a:lnTo>
                    <a:pt x="3048" y="3048"/>
                  </a:lnTo>
                  <a:lnTo>
                    <a:pt x="3048" y="243840"/>
                  </a:lnTo>
                  <a:close/>
                </a:path>
                <a:path w="649604" h="1391920">
                  <a:moveTo>
                    <a:pt x="0" y="1391412"/>
                  </a:moveTo>
                  <a:lnTo>
                    <a:pt x="649224" y="1391412"/>
                  </a:lnTo>
                  <a:lnTo>
                    <a:pt x="649224" y="0"/>
                  </a:lnTo>
                  <a:lnTo>
                    <a:pt x="0" y="0"/>
                  </a:lnTo>
                  <a:lnTo>
                    <a:pt x="0" y="1391412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961758" y="3420567"/>
            <a:ext cx="645160" cy="314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8595">
              <a:lnSpc>
                <a:spcPct val="100000"/>
              </a:lnSpc>
              <a:spcBef>
                <a:spcPts val="95"/>
              </a:spcBef>
            </a:pPr>
            <a:r>
              <a:rPr sz="1900" spc="25" dirty="0">
                <a:solidFill>
                  <a:srgbClr val="005392"/>
                </a:solidFill>
                <a:latin typeface="Cambria"/>
                <a:cs typeface="Cambria"/>
              </a:rPr>
              <a:t>r1</a:t>
            </a:r>
            <a:endParaRPr sz="1900">
              <a:latin typeface="Cambria"/>
              <a:cs typeface="Cambri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527101" y="3005137"/>
            <a:ext cx="3077845" cy="3027045"/>
            <a:chOff x="6527101" y="3005137"/>
            <a:chExt cx="3077845" cy="3027045"/>
          </a:xfrm>
        </p:grpSpPr>
        <p:sp>
          <p:nvSpPr>
            <p:cNvPr id="40" name="object 40"/>
            <p:cNvSpPr/>
            <p:nvPr/>
          </p:nvSpPr>
          <p:spPr>
            <a:xfrm>
              <a:off x="8556498" y="3006090"/>
              <a:ext cx="652780" cy="2623185"/>
            </a:xfrm>
            <a:custGeom>
              <a:avLst/>
              <a:gdLst/>
              <a:ahLst/>
              <a:cxnLst/>
              <a:rect l="l" t="t" r="r" b="b"/>
              <a:pathLst>
                <a:path w="652779" h="2623185">
                  <a:moveTo>
                    <a:pt x="0" y="2622804"/>
                  </a:moveTo>
                  <a:lnTo>
                    <a:pt x="652272" y="2622804"/>
                  </a:lnTo>
                  <a:lnTo>
                    <a:pt x="652272" y="0"/>
                  </a:lnTo>
                  <a:lnTo>
                    <a:pt x="0" y="0"/>
                  </a:lnTo>
                  <a:lnTo>
                    <a:pt x="0" y="2622804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8554974" y="4034789"/>
              <a:ext cx="655320" cy="140335"/>
            </a:xfrm>
            <a:custGeom>
              <a:avLst/>
              <a:gdLst/>
              <a:ahLst/>
              <a:cxnLst/>
              <a:rect l="l" t="t" r="r" b="b"/>
              <a:pathLst>
                <a:path w="655320" h="140335">
                  <a:moveTo>
                    <a:pt x="655320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55320" y="140207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554974" y="4034789"/>
              <a:ext cx="655320" cy="140335"/>
            </a:xfrm>
            <a:custGeom>
              <a:avLst/>
              <a:gdLst/>
              <a:ahLst/>
              <a:cxnLst/>
              <a:rect l="l" t="t" r="r" b="b"/>
              <a:pathLst>
                <a:path w="655320" h="140335">
                  <a:moveTo>
                    <a:pt x="0" y="140207"/>
                  </a:moveTo>
                  <a:lnTo>
                    <a:pt x="655320" y="140207"/>
                  </a:lnTo>
                  <a:lnTo>
                    <a:pt x="655320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994142" y="3446526"/>
              <a:ext cx="0" cy="219710"/>
            </a:xfrm>
            <a:custGeom>
              <a:avLst/>
              <a:gdLst/>
              <a:ahLst/>
              <a:cxnLst/>
              <a:rect l="l" t="t" r="r" b="b"/>
              <a:pathLst>
                <a:path h="219710">
                  <a:moveTo>
                    <a:pt x="0" y="0"/>
                  </a:moveTo>
                  <a:lnTo>
                    <a:pt x="0" y="219456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963662" y="3562350"/>
              <a:ext cx="60960" cy="104139"/>
            </a:xfrm>
            <a:custGeom>
              <a:avLst/>
              <a:gdLst/>
              <a:ahLst/>
              <a:cxnLst/>
              <a:rect l="l" t="t" r="r" b="b"/>
              <a:pathLst>
                <a:path w="60959" h="104139">
                  <a:moveTo>
                    <a:pt x="60960" y="0"/>
                  </a:moveTo>
                  <a:lnTo>
                    <a:pt x="30480" y="28701"/>
                  </a:lnTo>
                  <a:lnTo>
                    <a:pt x="0" y="0"/>
                  </a:lnTo>
                  <a:lnTo>
                    <a:pt x="30480" y="103631"/>
                  </a:lnTo>
                  <a:lnTo>
                    <a:pt x="609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6528054" y="3562350"/>
              <a:ext cx="3075940" cy="2468880"/>
            </a:xfrm>
            <a:custGeom>
              <a:avLst/>
              <a:gdLst/>
              <a:ahLst/>
              <a:cxnLst/>
              <a:rect l="l" t="t" r="r" b="b"/>
              <a:pathLst>
                <a:path w="3075940" h="2468879">
                  <a:moveTo>
                    <a:pt x="1466088" y="28701"/>
                  </a:moveTo>
                  <a:lnTo>
                    <a:pt x="1435607" y="0"/>
                  </a:lnTo>
                  <a:lnTo>
                    <a:pt x="1466088" y="103631"/>
                  </a:lnTo>
                  <a:lnTo>
                    <a:pt x="1496568" y="0"/>
                  </a:lnTo>
                  <a:lnTo>
                    <a:pt x="1466088" y="28701"/>
                  </a:lnTo>
                  <a:close/>
                </a:path>
                <a:path w="3075940" h="2468879">
                  <a:moveTo>
                    <a:pt x="2802001" y="740029"/>
                  </a:moveTo>
                  <a:lnTo>
                    <a:pt x="3067939" y="740029"/>
                  </a:lnTo>
                  <a:lnTo>
                    <a:pt x="3075431" y="2468880"/>
                  </a:lnTo>
                  <a:lnTo>
                    <a:pt x="0" y="2468880"/>
                  </a:lnTo>
                  <a:lnTo>
                    <a:pt x="15113" y="19812"/>
                  </a:lnTo>
                  <a:lnTo>
                    <a:pt x="432816" y="19812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29801" y="4259452"/>
              <a:ext cx="149606" cy="85597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957822" y="3687318"/>
              <a:ext cx="646430" cy="243840"/>
            </a:xfrm>
            <a:custGeom>
              <a:avLst/>
              <a:gdLst/>
              <a:ahLst/>
              <a:cxnLst/>
              <a:rect l="l" t="t" r="r" b="b"/>
              <a:pathLst>
                <a:path w="646429" h="243839">
                  <a:moveTo>
                    <a:pt x="0" y="243839"/>
                  </a:moveTo>
                  <a:lnTo>
                    <a:pt x="646176" y="243839"/>
                  </a:lnTo>
                  <a:lnTo>
                    <a:pt x="646176" y="0"/>
                  </a:lnTo>
                  <a:lnTo>
                    <a:pt x="0" y="0"/>
                  </a:lnTo>
                  <a:lnTo>
                    <a:pt x="0" y="243839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960996" y="3688207"/>
            <a:ext cx="647065" cy="242570"/>
          </a:xfrm>
          <a:prstGeom prst="rect">
            <a:avLst/>
          </a:prstGeom>
          <a:solidFill>
            <a:srgbClr val="C1EAEF"/>
          </a:solidFill>
        </p:spPr>
        <p:txBody>
          <a:bodyPr vert="horz" wrap="square" lIns="0" tIns="0" rIns="0" bIns="0" rtlCol="0">
            <a:spAutoFit/>
          </a:bodyPr>
          <a:lstStyle/>
          <a:p>
            <a:pPr marL="184785">
              <a:lnSpc>
                <a:spcPts val="1905"/>
              </a:lnSpc>
            </a:pPr>
            <a:r>
              <a:rPr sz="1900" spc="20" dirty="0">
                <a:solidFill>
                  <a:srgbClr val="005392"/>
                </a:solidFill>
                <a:latin typeface="Cambria"/>
                <a:cs typeface="Cambria"/>
              </a:rPr>
              <a:t>r2</a:t>
            </a:r>
            <a:endParaRPr sz="19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843141" y="2938398"/>
            <a:ext cx="75501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30" dirty="0">
                <a:solidFill>
                  <a:srgbClr val="005392"/>
                </a:solidFill>
                <a:latin typeface="Cambria"/>
                <a:cs typeface="Cambria"/>
              </a:rPr>
              <a:t>re</a:t>
            </a:r>
            <a:r>
              <a:rPr sz="1600" spc="60" dirty="0">
                <a:solidFill>
                  <a:srgbClr val="005392"/>
                </a:solidFill>
                <a:latin typeface="Cambria"/>
                <a:cs typeface="Cambria"/>
              </a:rPr>
              <a:t>g</a:t>
            </a:r>
            <a:r>
              <a:rPr sz="1600" spc="5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1600" spc="30" dirty="0">
                <a:solidFill>
                  <a:srgbClr val="005392"/>
                </a:solidFill>
                <a:latin typeface="Cambria"/>
                <a:cs typeface="Cambria"/>
              </a:rPr>
              <a:t>t</a:t>
            </a:r>
            <a:r>
              <a:rPr sz="1600" spc="60" dirty="0">
                <a:solidFill>
                  <a:srgbClr val="005392"/>
                </a:solidFill>
                <a:latin typeface="Cambria"/>
                <a:cs typeface="Cambria"/>
              </a:rPr>
              <a:t>e</a:t>
            </a:r>
            <a:r>
              <a:rPr sz="1600" spc="45" dirty="0">
                <a:solidFill>
                  <a:srgbClr val="005392"/>
                </a:solidFill>
                <a:latin typeface="Cambria"/>
                <a:cs typeface="Cambria"/>
              </a:rPr>
              <a:t>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071741" y="3187699"/>
            <a:ext cx="32194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45" dirty="0">
                <a:solidFill>
                  <a:srgbClr val="005392"/>
                </a:solidFill>
                <a:latin typeface="Cambria"/>
                <a:cs typeface="Cambria"/>
              </a:rPr>
              <a:t>file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57441" y="2034770"/>
            <a:ext cx="2322830" cy="967740"/>
          </a:xfrm>
          <a:prstGeom prst="rect">
            <a:avLst/>
          </a:prstGeom>
        </p:spPr>
        <p:txBody>
          <a:bodyPr vert="horz" wrap="square" lIns="0" tIns="212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75"/>
              </a:spcBef>
            </a:pPr>
            <a:r>
              <a:rPr sz="2400" spc="45" dirty="0">
                <a:solidFill>
                  <a:srgbClr val="005392"/>
                </a:solidFill>
                <a:latin typeface="Cambria"/>
                <a:cs typeface="Cambria"/>
              </a:rPr>
              <a:t>sw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r1,</a:t>
            </a: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-30" dirty="0">
                <a:solidFill>
                  <a:srgbClr val="005392"/>
                </a:solidFill>
                <a:latin typeface="Cambria"/>
                <a:cs typeface="Cambria"/>
              </a:rPr>
              <a:t>10(r2)</a:t>
            </a:r>
            <a:endParaRPr sz="2400">
              <a:latin typeface="Cambria"/>
              <a:cs typeface="Cambria"/>
            </a:endParaRPr>
          </a:p>
          <a:p>
            <a:pPr marL="1546225">
              <a:lnSpc>
                <a:spcPct val="100000"/>
              </a:lnSpc>
              <a:spcBef>
                <a:spcPts val="1040"/>
              </a:spcBef>
            </a:pPr>
            <a:r>
              <a:rPr sz="1600" spc="35" dirty="0">
                <a:solidFill>
                  <a:srgbClr val="005392"/>
                </a:solidFill>
                <a:latin typeface="Cambria"/>
                <a:cs typeface="Cambria"/>
              </a:rPr>
              <a:t>memory</a:t>
            </a:r>
            <a:endParaRPr sz="1600">
              <a:latin typeface="Cambria"/>
              <a:cs typeface="Cambri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7597902" y="3678809"/>
            <a:ext cx="1717039" cy="915035"/>
            <a:chOff x="7597902" y="3678809"/>
            <a:chExt cx="1717039" cy="915035"/>
          </a:xfrm>
        </p:grpSpPr>
        <p:sp>
          <p:nvSpPr>
            <p:cNvPr id="53" name="object 53"/>
            <p:cNvSpPr/>
            <p:nvPr/>
          </p:nvSpPr>
          <p:spPr>
            <a:xfrm>
              <a:off x="8554974" y="4171950"/>
              <a:ext cx="655320" cy="140335"/>
            </a:xfrm>
            <a:custGeom>
              <a:avLst/>
              <a:gdLst/>
              <a:ahLst/>
              <a:cxnLst/>
              <a:rect l="l" t="t" r="r" b="b"/>
              <a:pathLst>
                <a:path w="655320" h="140335">
                  <a:moveTo>
                    <a:pt x="655320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55320" y="140207"/>
                  </a:lnTo>
                  <a:lnTo>
                    <a:pt x="655320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8554974" y="4171950"/>
              <a:ext cx="655320" cy="140335"/>
            </a:xfrm>
            <a:custGeom>
              <a:avLst/>
              <a:gdLst/>
              <a:ahLst/>
              <a:cxnLst/>
              <a:rect l="l" t="t" r="r" b="b"/>
              <a:pathLst>
                <a:path w="655320" h="140335">
                  <a:moveTo>
                    <a:pt x="0" y="140207"/>
                  </a:moveTo>
                  <a:lnTo>
                    <a:pt x="655320" y="140207"/>
                  </a:lnTo>
                  <a:lnTo>
                    <a:pt x="655320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8559546" y="4316730"/>
              <a:ext cx="647700" cy="139065"/>
            </a:xfrm>
            <a:custGeom>
              <a:avLst/>
              <a:gdLst/>
              <a:ahLst/>
              <a:cxnLst/>
              <a:rect l="l" t="t" r="r" b="b"/>
              <a:pathLst>
                <a:path w="647700" h="139064">
                  <a:moveTo>
                    <a:pt x="647700" y="0"/>
                  </a:moveTo>
                  <a:lnTo>
                    <a:pt x="0" y="0"/>
                  </a:lnTo>
                  <a:lnTo>
                    <a:pt x="0" y="138684"/>
                  </a:lnTo>
                  <a:lnTo>
                    <a:pt x="647700" y="138684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8559546" y="4316730"/>
              <a:ext cx="647700" cy="139065"/>
            </a:xfrm>
            <a:custGeom>
              <a:avLst/>
              <a:gdLst/>
              <a:ahLst/>
              <a:cxnLst/>
              <a:rect l="l" t="t" r="r" b="b"/>
              <a:pathLst>
                <a:path w="647700" h="139064">
                  <a:moveTo>
                    <a:pt x="0" y="138684"/>
                  </a:moveTo>
                  <a:lnTo>
                    <a:pt x="647700" y="138684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138684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558022" y="4452366"/>
              <a:ext cx="647700" cy="140335"/>
            </a:xfrm>
            <a:custGeom>
              <a:avLst/>
              <a:gdLst/>
              <a:ahLst/>
              <a:cxnLst/>
              <a:rect l="l" t="t" r="r" b="b"/>
              <a:pathLst>
                <a:path w="647700" h="140335">
                  <a:moveTo>
                    <a:pt x="647700" y="0"/>
                  </a:moveTo>
                  <a:lnTo>
                    <a:pt x="0" y="0"/>
                  </a:lnTo>
                  <a:lnTo>
                    <a:pt x="0" y="140207"/>
                  </a:lnTo>
                  <a:lnTo>
                    <a:pt x="647700" y="140207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C1EA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8558022" y="4452366"/>
              <a:ext cx="647700" cy="140335"/>
            </a:xfrm>
            <a:custGeom>
              <a:avLst/>
              <a:gdLst/>
              <a:ahLst/>
              <a:cxnLst/>
              <a:rect l="l" t="t" r="r" b="b"/>
              <a:pathLst>
                <a:path w="647700" h="140335">
                  <a:moveTo>
                    <a:pt x="0" y="140207"/>
                  </a:moveTo>
                  <a:lnTo>
                    <a:pt x="647700" y="140207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140207"/>
                  </a:lnTo>
                  <a:close/>
                </a:path>
              </a:pathLst>
            </a:custGeom>
            <a:ln w="3175">
              <a:solidFill>
                <a:srgbClr val="1511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597902" y="3793998"/>
              <a:ext cx="1716405" cy="792480"/>
            </a:xfrm>
            <a:custGeom>
              <a:avLst/>
              <a:gdLst/>
              <a:ahLst/>
              <a:cxnLst/>
              <a:rect l="l" t="t" r="r" b="b"/>
              <a:pathLst>
                <a:path w="1716404" h="792479">
                  <a:moveTo>
                    <a:pt x="1656588" y="242315"/>
                  </a:moveTo>
                  <a:lnTo>
                    <a:pt x="1716024" y="302894"/>
                  </a:lnTo>
                  <a:lnTo>
                    <a:pt x="1716024" y="735583"/>
                  </a:lnTo>
                  <a:lnTo>
                    <a:pt x="1660271" y="792479"/>
                  </a:lnTo>
                </a:path>
                <a:path w="1716404" h="792479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7722870" y="3765042"/>
              <a:ext cx="104139" cy="59690"/>
            </a:xfrm>
            <a:custGeom>
              <a:avLst/>
              <a:gdLst/>
              <a:ahLst/>
              <a:cxnLst/>
              <a:rect l="l" t="t" r="r" b="b"/>
              <a:pathLst>
                <a:path w="104140" h="59689">
                  <a:moveTo>
                    <a:pt x="0" y="0"/>
                  </a:moveTo>
                  <a:lnTo>
                    <a:pt x="29845" y="28955"/>
                  </a:lnTo>
                  <a:lnTo>
                    <a:pt x="0" y="59435"/>
                  </a:lnTo>
                  <a:lnTo>
                    <a:pt x="103631" y="2895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722870" y="3765042"/>
              <a:ext cx="104139" cy="59690"/>
            </a:xfrm>
            <a:custGeom>
              <a:avLst/>
              <a:gdLst/>
              <a:ahLst/>
              <a:cxnLst/>
              <a:rect l="l" t="t" r="r" b="b"/>
              <a:pathLst>
                <a:path w="104140" h="59689">
                  <a:moveTo>
                    <a:pt x="29845" y="28955"/>
                  </a:moveTo>
                  <a:lnTo>
                    <a:pt x="0" y="59435"/>
                  </a:lnTo>
                  <a:lnTo>
                    <a:pt x="103631" y="28955"/>
                  </a:lnTo>
                  <a:lnTo>
                    <a:pt x="0" y="0"/>
                  </a:lnTo>
                  <a:lnTo>
                    <a:pt x="29845" y="28955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7826502" y="3679698"/>
              <a:ext cx="266700" cy="260985"/>
            </a:xfrm>
            <a:custGeom>
              <a:avLst/>
              <a:gdLst/>
              <a:ahLst/>
              <a:cxnLst/>
              <a:rect l="l" t="t" r="r" b="b"/>
              <a:pathLst>
                <a:path w="266700" h="260985">
                  <a:moveTo>
                    <a:pt x="133350" y="0"/>
                  </a:moveTo>
                  <a:lnTo>
                    <a:pt x="91196" y="6638"/>
                  </a:lnTo>
                  <a:lnTo>
                    <a:pt x="54589" y="25127"/>
                  </a:lnTo>
                  <a:lnTo>
                    <a:pt x="25725" y="53327"/>
                  </a:lnTo>
                  <a:lnTo>
                    <a:pt x="6797" y="89099"/>
                  </a:lnTo>
                  <a:lnTo>
                    <a:pt x="0" y="130301"/>
                  </a:lnTo>
                  <a:lnTo>
                    <a:pt x="6797" y="171504"/>
                  </a:lnTo>
                  <a:lnTo>
                    <a:pt x="25725" y="207276"/>
                  </a:lnTo>
                  <a:lnTo>
                    <a:pt x="54589" y="235476"/>
                  </a:lnTo>
                  <a:lnTo>
                    <a:pt x="91196" y="253965"/>
                  </a:lnTo>
                  <a:lnTo>
                    <a:pt x="133350" y="260603"/>
                  </a:lnTo>
                  <a:lnTo>
                    <a:pt x="175503" y="253965"/>
                  </a:lnTo>
                  <a:lnTo>
                    <a:pt x="212110" y="235476"/>
                  </a:lnTo>
                  <a:lnTo>
                    <a:pt x="240974" y="207276"/>
                  </a:lnTo>
                  <a:lnTo>
                    <a:pt x="259902" y="171504"/>
                  </a:lnTo>
                  <a:lnTo>
                    <a:pt x="266700" y="130301"/>
                  </a:lnTo>
                  <a:lnTo>
                    <a:pt x="259902" y="89099"/>
                  </a:lnTo>
                  <a:lnTo>
                    <a:pt x="240974" y="53327"/>
                  </a:lnTo>
                  <a:lnTo>
                    <a:pt x="212110" y="25127"/>
                  </a:lnTo>
                  <a:lnTo>
                    <a:pt x="175503" y="6638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AAD3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7826502" y="3679698"/>
              <a:ext cx="721360" cy="441959"/>
            </a:xfrm>
            <a:custGeom>
              <a:avLst/>
              <a:gdLst/>
              <a:ahLst/>
              <a:cxnLst/>
              <a:rect l="l" t="t" r="r" b="b"/>
              <a:pathLst>
                <a:path w="721359" h="441960">
                  <a:moveTo>
                    <a:pt x="0" y="130301"/>
                  </a:moveTo>
                  <a:lnTo>
                    <a:pt x="6797" y="89099"/>
                  </a:lnTo>
                  <a:lnTo>
                    <a:pt x="25725" y="53327"/>
                  </a:lnTo>
                  <a:lnTo>
                    <a:pt x="54589" y="25127"/>
                  </a:lnTo>
                  <a:lnTo>
                    <a:pt x="91196" y="6638"/>
                  </a:lnTo>
                  <a:lnTo>
                    <a:pt x="133350" y="0"/>
                  </a:lnTo>
                  <a:lnTo>
                    <a:pt x="175503" y="6638"/>
                  </a:lnTo>
                  <a:lnTo>
                    <a:pt x="212110" y="25127"/>
                  </a:lnTo>
                  <a:lnTo>
                    <a:pt x="240974" y="53327"/>
                  </a:lnTo>
                  <a:lnTo>
                    <a:pt x="259902" y="89099"/>
                  </a:lnTo>
                  <a:lnTo>
                    <a:pt x="266700" y="130301"/>
                  </a:lnTo>
                  <a:lnTo>
                    <a:pt x="259902" y="171504"/>
                  </a:lnTo>
                  <a:lnTo>
                    <a:pt x="240974" y="207276"/>
                  </a:lnTo>
                  <a:lnTo>
                    <a:pt x="212110" y="235476"/>
                  </a:lnTo>
                  <a:lnTo>
                    <a:pt x="175503" y="253965"/>
                  </a:lnTo>
                  <a:lnTo>
                    <a:pt x="133350" y="260603"/>
                  </a:lnTo>
                  <a:lnTo>
                    <a:pt x="91196" y="253965"/>
                  </a:lnTo>
                  <a:lnTo>
                    <a:pt x="54589" y="235476"/>
                  </a:lnTo>
                  <a:lnTo>
                    <a:pt x="25725" y="207276"/>
                  </a:lnTo>
                  <a:lnTo>
                    <a:pt x="6797" y="171504"/>
                  </a:lnTo>
                  <a:lnTo>
                    <a:pt x="0" y="130301"/>
                  </a:lnTo>
                  <a:close/>
                </a:path>
                <a:path w="721359" h="441960">
                  <a:moveTo>
                    <a:pt x="144779" y="24383"/>
                  </a:moveTo>
                  <a:lnTo>
                    <a:pt x="144779" y="220979"/>
                  </a:lnTo>
                </a:path>
                <a:path w="721359" h="441960">
                  <a:moveTo>
                    <a:pt x="45720" y="121919"/>
                  </a:moveTo>
                  <a:lnTo>
                    <a:pt x="236220" y="114300"/>
                  </a:lnTo>
                </a:path>
                <a:path w="721359" h="441960">
                  <a:moveTo>
                    <a:pt x="281940" y="114300"/>
                  </a:moveTo>
                  <a:lnTo>
                    <a:pt x="471170" y="114300"/>
                  </a:lnTo>
                  <a:lnTo>
                    <a:pt x="471170" y="441959"/>
                  </a:lnTo>
                  <a:lnTo>
                    <a:pt x="720851" y="441959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397113" y="4076573"/>
              <a:ext cx="151130" cy="87121"/>
            </a:xfrm>
            <a:prstGeom prst="rect">
              <a:avLst/>
            </a:prstGeom>
          </p:spPr>
        </p:pic>
      </p:grpSp>
      <p:sp>
        <p:nvSpPr>
          <p:cNvPr id="65" name="object 65"/>
          <p:cNvSpPr txBox="1"/>
          <p:nvPr/>
        </p:nvSpPr>
        <p:spPr>
          <a:xfrm>
            <a:off x="7799069" y="3179826"/>
            <a:ext cx="403860" cy="266065"/>
          </a:xfrm>
          <a:prstGeom prst="rect">
            <a:avLst/>
          </a:prstGeom>
          <a:solidFill>
            <a:srgbClr val="C1EAEF"/>
          </a:solidFill>
          <a:ln w="3175">
            <a:solidFill>
              <a:srgbClr val="15111D"/>
            </a:solidFill>
          </a:ln>
        </p:spPr>
        <p:txBody>
          <a:bodyPr vert="horz" wrap="square" lIns="0" tIns="32384" rIns="0" bIns="0" rtlCol="0">
            <a:spAutoFit/>
          </a:bodyPr>
          <a:lstStyle/>
          <a:p>
            <a:pPr marL="73660">
              <a:lnSpc>
                <a:spcPts val="1839"/>
              </a:lnSpc>
              <a:spcBef>
                <a:spcPts val="254"/>
              </a:spcBef>
            </a:pPr>
            <a:r>
              <a:rPr sz="1600" dirty="0">
                <a:solidFill>
                  <a:srgbClr val="005392"/>
                </a:solidFill>
                <a:latin typeface="Cambria"/>
                <a:cs typeface="Cambria"/>
              </a:rPr>
              <a:t>10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156709" y="6160109"/>
            <a:ext cx="3371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20" dirty="0">
                <a:solidFill>
                  <a:srgbClr val="005392"/>
                </a:solidFill>
                <a:latin typeface="Cambria"/>
                <a:cs typeface="Cambria"/>
              </a:rPr>
              <a:t>(a</a:t>
            </a:r>
            <a:r>
              <a:rPr sz="2000" spc="-100" dirty="0">
                <a:solidFill>
                  <a:srgbClr val="005392"/>
                </a:solidFill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8059293" y="6148527"/>
            <a:ext cx="3371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60" dirty="0">
                <a:solidFill>
                  <a:srgbClr val="005392"/>
                </a:solidFill>
                <a:latin typeface="Cambria"/>
                <a:cs typeface="Cambria"/>
              </a:rPr>
              <a:t>(b)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332943" y="1221740"/>
            <a:ext cx="1053528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125" dirty="0">
                <a:solidFill>
                  <a:srgbClr val="005392"/>
                </a:solidFill>
                <a:latin typeface="Cambria"/>
                <a:cs typeface="Cambria"/>
              </a:rPr>
              <a:t>Load</a:t>
            </a:r>
            <a:r>
              <a:rPr sz="2800" spc="15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005392"/>
                </a:solidFill>
                <a:latin typeface="Cambria"/>
                <a:cs typeface="Cambria"/>
              </a:rPr>
              <a:t>and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5392"/>
                </a:solidFill>
                <a:latin typeface="Cambria"/>
                <a:cs typeface="Cambria"/>
              </a:rPr>
              <a:t>store</a:t>
            </a:r>
            <a:r>
              <a:rPr sz="28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005392"/>
                </a:solidFill>
                <a:latin typeface="Cambria"/>
                <a:cs typeface="Cambria"/>
              </a:rPr>
              <a:t>instructions</a:t>
            </a:r>
            <a:r>
              <a:rPr sz="2800" spc="1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005392"/>
                </a:solidFill>
                <a:latin typeface="Cambria"/>
                <a:cs typeface="Cambria"/>
              </a:rPr>
              <a:t>use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5392"/>
                </a:solidFill>
                <a:latin typeface="Cambria"/>
                <a:cs typeface="Cambria"/>
              </a:rPr>
              <a:t>register</a:t>
            </a:r>
            <a:r>
              <a:rPr sz="2800" spc="15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5392"/>
                </a:solidFill>
                <a:latin typeface="Cambria"/>
                <a:cs typeface="Cambria"/>
              </a:rPr>
              <a:t>indirect</a:t>
            </a:r>
            <a:r>
              <a:rPr sz="2800" spc="1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005392"/>
                </a:solidFill>
                <a:latin typeface="Cambria"/>
                <a:cs typeface="Cambria"/>
              </a:rPr>
              <a:t>and</a:t>
            </a:r>
            <a:r>
              <a:rPr sz="2800" spc="1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5392"/>
                </a:solidFill>
                <a:latin typeface="Cambria"/>
                <a:cs typeface="Cambria"/>
              </a:rPr>
              <a:t>base-offset </a:t>
            </a:r>
            <a:r>
              <a:rPr sz="2800" spc="-6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005392"/>
                </a:solidFill>
                <a:latin typeface="Cambria"/>
                <a:cs typeface="Cambria"/>
              </a:rPr>
              <a:t>addressing</a:t>
            </a:r>
            <a:r>
              <a:rPr sz="2800" spc="1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005392"/>
                </a:solidFill>
                <a:latin typeface="Cambria"/>
                <a:cs typeface="Cambria"/>
              </a:rPr>
              <a:t>modes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491744" y="5229859"/>
            <a:ext cx="146113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005392"/>
                </a:solidFill>
                <a:latin typeface="Calibri"/>
                <a:cs typeface="Calibri"/>
              </a:rPr>
              <a:t>Lw</a:t>
            </a:r>
            <a:r>
              <a:rPr sz="1800" spc="-1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=</a:t>
            </a:r>
            <a:r>
              <a:rPr sz="1800" spc="-2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5392"/>
                </a:solidFill>
                <a:latin typeface="Calibri"/>
                <a:cs typeface="Calibri"/>
              </a:rPr>
              <a:t>load</a:t>
            </a:r>
            <a:r>
              <a:rPr sz="1800" spc="-10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5392"/>
                </a:solidFill>
                <a:latin typeface="Calibri"/>
                <a:cs typeface="Calibri"/>
              </a:rPr>
              <a:t>word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800" spc="-10" dirty="0">
                <a:solidFill>
                  <a:srgbClr val="005392"/>
                </a:solidFill>
                <a:latin typeface="Calibri"/>
                <a:cs typeface="Calibri"/>
              </a:rPr>
              <a:t>Sw=</a:t>
            </a:r>
            <a:r>
              <a:rPr sz="1800" spc="-3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5392"/>
                </a:solidFill>
                <a:latin typeface="Calibri"/>
                <a:cs typeface="Calibri"/>
              </a:rPr>
              <a:t>store</a:t>
            </a:r>
            <a:r>
              <a:rPr sz="1800" spc="-35" dirty="0">
                <a:solidFill>
                  <a:srgbClr val="005392"/>
                </a:solidFill>
                <a:latin typeface="Calibri"/>
                <a:cs typeface="Calibri"/>
              </a:rPr>
              <a:t> </a:t>
            </a:r>
            <a:r>
              <a:rPr sz="1800" spc="-15" dirty="0">
                <a:solidFill>
                  <a:srgbClr val="005392"/>
                </a:solidFill>
                <a:latin typeface="Calibri"/>
                <a:cs typeface="Calibri"/>
              </a:rPr>
              <a:t>word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6939" y="670636"/>
            <a:ext cx="42437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80" dirty="0">
                <a:solidFill>
                  <a:srgbClr val="1B4078"/>
                </a:solidFill>
              </a:rPr>
              <a:t>Solved</a:t>
            </a:r>
            <a:r>
              <a:rPr sz="4000" spc="210" dirty="0">
                <a:solidFill>
                  <a:srgbClr val="1B4078"/>
                </a:solidFill>
              </a:rPr>
              <a:t> </a:t>
            </a:r>
            <a:r>
              <a:rPr sz="4000" spc="325" dirty="0">
                <a:solidFill>
                  <a:srgbClr val="1B4078"/>
                </a:solidFill>
              </a:rPr>
              <a:t>Example</a:t>
            </a:r>
            <a:endParaRPr sz="40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261" y="606330"/>
            <a:ext cx="5649775" cy="428299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8739" y="1567941"/>
            <a:ext cx="11638280" cy="5043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51170">
              <a:lnSpc>
                <a:spcPct val="100000"/>
              </a:lnSpc>
              <a:spcBef>
                <a:spcPts val="100"/>
              </a:spcBef>
            </a:pP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Consider</a:t>
            </a:r>
            <a:r>
              <a:rPr sz="2400" spc="1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0" dirty="0">
                <a:solidFill>
                  <a:srgbClr val="333333"/>
                </a:solidFill>
                <a:latin typeface="Cambria"/>
                <a:cs typeface="Cambria"/>
              </a:rPr>
              <a:t>below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instructions</a:t>
            </a:r>
            <a:r>
              <a:rPr sz="2400" spc="1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that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are </a:t>
            </a: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333333"/>
                </a:solidFill>
                <a:latin typeface="Cambria"/>
                <a:cs typeface="Cambria"/>
              </a:rPr>
              <a:t>executed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333333"/>
                </a:solidFill>
                <a:latin typeface="Cambria"/>
                <a:cs typeface="Cambria"/>
              </a:rPr>
              <a:t>when</a:t>
            </a:r>
            <a:r>
              <a:rPr sz="2400" spc="11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333333"/>
                </a:solidFill>
                <a:latin typeface="Cambria"/>
                <a:cs typeface="Cambria"/>
              </a:rPr>
              <a:t>state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4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400" spc="1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333333"/>
                </a:solidFill>
                <a:latin typeface="Cambria"/>
                <a:cs typeface="Cambria"/>
              </a:rPr>
              <a:t>file</a:t>
            </a:r>
            <a:r>
              <a:rPr sz="2400" spc="1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33333"/>
                </a:solidFill>
                <a:latin typeface="Cambria"/>
                <a:cs typeface="Cambria"/>
              </a:rPr>
              <a:t>and </a:t>
            </a:r>
            <a:r>
              <a:rPr sz="2400" spc="-51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333333"/>
                </a:solidFill>
                <a:latin typeface="Cambria"/>
                <a:cs typeface="Cambria"/>
              </a:rPr>
              <a:t>memory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given</a:t>
            </a:r>
            <a:r>
              <a:rPr sz="2400" spc="1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here.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400" spc="70" dirty="0">
                <a:solidFill>
                  <a:srgbClr val="006FC0"/>
                </a:solidFill>
                <a:latin typeface="Cambria"/>
                <a:cs typeface="Cambria"/>
              </a:rPr>
              <a:t>ld</a:t>
            </a:r>
            <a:r>
              <a:rPr sz="2400" spc="10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x6,</a:t>
            </a:r>
            <a:r>
              <a:rPr sz="2400" spc="12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Cambria"/>
                <a:cs typeface="Cambria"/>
              </a:rPr>
              <a:t>24(x10)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400" spc="65" dirty="0">
                <a:solidFill>
                  <a:srgbClr val="006FC0"/>
                </a:solidFill>
                <a:latin typeface="Cambria"/>
                <a:cs typeface="Cambria"/>
              </a:rPr>
              <a:t>sd</a:t>
            </a:r>
            <a:r>
              <a:rPr sz="2400" spc="95" dirty="0">
                <a:solidFill>
                  <a:srgbClr val="006FC0"/>
                </a:solidFill>
                <a:latin typeface="Cambria"/>
                <a:cs typeface="Cambria"/>
              </a:rPr>
              <a:t> x5,</a:t>
            </a:r>
            <a:r>
              <a:rPr sz="2400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400" spc="-20" dirty="0">
                <a:solidFill>
                  <a:srgbClr val="006FC0"/>
                </a:solidFill>
                <a:latin typeface="Cambria"/>
                <a:cs typeface="Cambria"/>
              </a:rPr>
              <a:t>16(x10)</a:t>
            </a:r>
            <a:endParaRPr sz="2400" dirty="0">
              <a:latin typeface="Cambria"/>
              <a:cs typeface="Cambria"/>
            </a:endParaRPr>
          </a:p>
          <a:p>
            <a:pPr marL="12700" marR="5897245">
              <a:lnSpc>
                <a:spcPct val="100000"/>
              </a:lnSpc>
              <a:spcBef>
                <a:spcPts val="994"/>
              </a:spcBef>
            </a:pPr>
            <a:r>
              <a:rPr sz="2400" spc="95" dirty="0">
                <a:solidFill>
                  <a:srgbClr val="333333"/>
                </a:solidFill>
                <a:latin typeface="Cambria"/>
                <a:cs typeface="Cambria"/>
              </a:rPr>
              <a:t>Show</a:t>
            </a:r>
            <a:r>
              <a:rPr sz="2400" spc="114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333333"/>
                </a:solidFill>
                <a:latin typeface="Cambria"/>
                <a:cs typeface="Cambria"/>
              </a:rPr>
              <a:t>only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changed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333333"/>
                </a:solidFill>
                <a:latin typeface="Cambria"/>
                <a:cs typeface="Cambria"/>
              </a:rPr>
              <a:t>values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2400" spc="1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275" dirty="0">
                <a:solidFill>
                  <a:srgbClr val="333333"/>
                </a:solidFill>
                <a:latin typeface="Cambria"/>
                <a:cs typeface="Cambria"/>
              </a:rPr>
              <a:t>RF</a:t>
            </a:r>
            <a:r>
              <a:rPr sz="24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333333"/>
                </a:solidFill>
                <a:latin typeface="Cambria"/>
                <a:cs typeface="Cambria"/>
              </a:rPr>
              <a:t>and </a:t>
            </a:r>
            <a:r>
              <a:rPr sz="2400" spc="-509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333333"/>
                </a:solidFill>
                <a:latin typeface="Cambria"/>
                <a:cs typeface="Cambria"/>
              </a:rPr>
              <a:t>memory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after</a:t>
            </a:r>
            <a:r>
              <a:rPr sz="24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333333"/>
                </a:solidFill>
                <a:latin typeface="Cambria"/>
                <a:cs typeface="Cambria"/>
              </a:rPr>
              <a:t>these</a:t>
            </a:r>
            <a:r>
              <a:rPr sz="24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instructions</a:t>
            </a:r>
            <a:r>
              <a:rPr sz="2400" spc="11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333333"/>
                </a:solidFill>
                <a:latin typeface="Cambria"/>
                <a:cs typeface="Cambria"/>
              </a:rPr>
              <a:t>are </a:t>
            </a:r>
            <a:r>
              <a:rPr sz="2400" spc="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333333"/>
                </a:solidFill>
                <a:latin typeface="Cambria"/>
                <a:cs typeface="Cambria"/>
              </a:rPr>
              <a:t>executed.</a:t>
            </a:r>
            <a:endParaRPr sz="2400" dirty="0">
              <a:latin typeface="Cambria"/>
              <a:cs typeface="Cambria"/>
            </a:endParaRPr>
          </a:p>
          <a:p>
            <a:pPr marL="12700" marR="5080">
              <a:lnSpc>
                <a:spcPct val="100000"/>
              </a:lnSpc>
              <a:spcBef>
                <a:spcPts val="1950"/>
              </a:spcBef>
            </a:pPr>
            <a:r>
              <a:rPr sz="2400" spc="85" dirty="0">
                <a:solidFill>
                  <a:srgbClr val="0000FF"/>
                </a:solidFill>
                <a:latin typeface="Cambria"/>
                <a:cs typeface="Cambria"/>
              </a:rPr>
              <a:t>Solution:</a:t>
            </a:r>
            <a:r>
              <a:rPr sz="2400" spc="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40" dirty="0">
                <a:solidFill>
                  <a:srgbClr val="0000FF"/>
                </a:solidFill>
                <a:latin typeface="Cambria"/>
                <a:cs typeface="Cambria"/>
              </a:rPr>
              <a:t>x10+24</a:t>
            </a:r>
            <a:r>
              <a:rPr sz="2400" spc="16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00FF"/>
                </a:solidFill>
                <a:latin typeface="Cambria"/>
                <a:cs typeface="Cambria"/>
              </a:rPr>
              <a:t>is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000FF"/>
                </a:solidFill>
                <a:latin typeface="Cambria"/>
                <a:cs typeface="Cambria"/>
              </a:rPr>
              <a:t>1040.</a:t>
            </a:r>
            <a:r>
              <a:rPr sz="24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ld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00FF"/>
                </a:solidFill>
                <a:latin typeface="Cambria"/>
                <a:cs typeface="Cambria"/>
              </a:rPr>
              <a:t>instruction</a:t>
            </a:r>
            <a:r>
              <a:rPr sz="2400" spc="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will</a:t>
            </a:r>
            <a:r>
              <a:rPr sz="2400" spc="114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000FF"/>
                </a:solidFill>
                <a:latin typeface="Cambria"/>
                <a:cs typeface="Cambria"/>
              </a:rPr>
              <a:t>load</a:t>
            </a:r>
            <a:r>
              <a:rPr sz="24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000FF"/>
                </a:solidFill>
                <a:latin typeface="Cambria"/>
                <a:cs typeface="Cambria"/>
              </a:rPr>
              <a:t>from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FF"/>
                </a:solidFill>
                <a:latin typeface="Cambria"/>
                <a:cs typeface="Cambria"/>
              </a:rPr>
              <a:t>1040</a:t>
            </a:r>
            <a:r>
              <a:rPr sz="24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00FF"/>
                </a:solidFill>
                <a:latin typeface="Cambria"/>
                <a:cs typeface="Cambria"/>
              </a:rPr>
              <a:t>and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000FF"/>
                </a:solidFill>
                <a:latin typeface="Cambria"/>
                <a:cs typeface="Cambria"/>
              </a:rPr>
              <a:t>store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that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00FF"/>
                </a:solidFill>
                <a:latin typeface="Cambria"/>
                <a:cs typeface="Cambria"/>
              </a:rPr>
              <a:t>value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00FF"/>
                </a:solidFill>
                <a:latin typeface="Cambria"/>
                <a:cs typeface="Cambria"/>
              </a:rPr>
              <a:t>in </a:t>
            </a:r>
            <a:r>
              <a:rPr sz="2400" spc="-51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register</a:t>
            </a:r>
            <a:r>
              <a:rPr sz="2400" spc="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00FF"/>
                </a:solidFill>
                <a:latin typeface="Cambria"/>
                <a:cs typeface="Cambria"/>
              </a:rPr>
              <a:t>x6.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So,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00FF"/>
                </a:solidFill>
                <a:latin typeface="Cambria"/>
                <a:cs typeface="Cambria"/>
              </a:rPr>
              <a:t>x6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will</a:t>
            </a:r>
            <a:r>
              <a:rPr sz="2400" spc="10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0000FF"/>
                </a:solidFill>
                <a:latin typeface="Cambria"/>
                <a:cs typeface="Cambria"/>
              </a:rPr>
              <a:t>become</a:t>
            </a:r>
            <a:r>
              <a:rPr sz="24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FF"/>
                </a:solidFill>
                <a:latin typeface="Cambria"/>
                <a:cs typeface="Cambria"/>
              </a:rPr>
              <a:t>67891234</a:t>
            </a:r>
            <a:endParaRPr sz="2400" dirty="0">
              <a:latin typeface="Cambria"/>
              <a:cs typeface="Cambria"/>
            </a:endParaRPr>
          </a:p>
          <a:p>
            <a:pPr marL="12700" marR="407670">
              <a:lnSpc>
                <a:spcPct val="100000"/>
              </a:lnSpc>
            </a:pPr>
            <a:r>
              <a:rPr sz="2400" spc="40" dirty="0">
                <a:solidFill>
                  <a:srgbClr val="0000FF"/>
                </a:solidFill>
                <a:latin typeface="Cambria"/>
                <a:cs typeface="Cambria"/>
              </a:rPr>
              <a:t>x10+16</a:t>
            </a:r>
            <a:r>
              <a:rPr sz="24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00FF"/>
                </a:solidFill>
                <a:latin typeface="Cambria"/>
                <a:cs typeface="Cambria"/>
              </a:rPr>
              <a:t>is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000FF"/>
                </a:solidFill>
                <a:latin typeface="Cambria"/>
                <a:cs typeface="Cambria"/>
              </a:rPr>
              <a:t>1032.</a:t>
            </a:r>
            <a:r>
              <a:rPr sz="24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00FF"/>
                </a:solidFill>
                <a:latin typeface="Cambria"/>
                <a:cs typeface="Cambria"/>
              </a:rPr>
              <a:t>sd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00FF"/>
                </a:solidFill>
                <a:latin typeface="Cambria"/>
                <a:cs typeface="Cambria"/>
              </a:rPr>
              <a:t>instruction</a:t>
            </a:r>
            <a:r>
              <a:rPr sz="2400" spc="11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will</a:t>
            </a:r>
            <a:r>
              <a:rPr sz="2400" spc="114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000FF"/>
                </a:solidFill>
                <a:latin typeface="Cambria"/>
                <a:cs typeface="Cambria"/>
              </a:rPr>
              <a:t>store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00FF"/>
                </a:solidFill>
                <a:latin typeface="Cambria"/>
                <a:cs typeface="Cambria"/>
              </a:rPr>
              <a:t>the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00FF"/>
                </a:solidFill>
                <a:latin typeface="Cambria"/>
                <a:cs typeface="Cambria"/>
              </a:rPr>
              <a:t>value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Cambria"/>
                <a:cs typeface="Cambria"/>
              </a:rPr>
              <a:t>of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000FF"/>
                </a:solidFill>
                <a:latin typeface="Cambria"/>
                <a:cs typeface="Cambria"/>
              </a:rPr>
              <a:t>x5</a:t>
            </a:r>
            <a:r>
              <a:rPr sz="24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35" dirty="0">
                <a:solidFill>
                  <a:srgbClr val="0000FF"/>
                </a:solidFill>
                <a:latin typeface="Cambria"/>
                <a:cs typeface="Cambria"/>
              </a:rPr>
              <a:t>at</a:t>
            </a:r>
            <a:r>
              <a:rPr sz="24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00FF"/>
                </a:solidFill>
                <a:latin typeface="Cambria"/>
                <a:cs typeface="Cambria"/>
              </a:rPr>
              <a:t>address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000FF"/>
                </a:solidFill>
                <a:latin typeface="Cambria"/>
                <a:cs typeface="Cambria"/>
              </a:rPr>
              <a:t>1032.</a:t>
            </a:r>
            <a:r>
              <a:rPr sz="24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14" dirty="0">
                <a:solidFill>
                  <a:srgbClr val="0000FF"/>
                </a:solidFill>
                <a:latin typeface="Cambria"/>
                <a:cs typeface="Cambria"/>
              </a:rPr>
              <a:t>Hence, </a:t>
            </a:r>
            <a:r>
              <a:rPr sz="2400" spc="-509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00FF"/>
                </a:solidFill>
                <a:latin typeface="Cambria"/>
                <a:cs typeface="Cambria"/>
              </a:rPr>
              <a:t>memory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00FF"/>
                </a:solidFill>
                <a:latin typeface="Cambria"/>
                <a:cs typeface="Cambria"/>
              </a:rPr>
              <a:t>address</a:t>
            </a:r>
            <a:r>
              <a:rPr sz="2400" spc="12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FF"/>
                </a:solidFill>
                <a:latin typeface="Cambria"/>
                <a:cs typeface="Cambria"/>
              </a:rPr>
              <a:t>1032</a:t>
            </a:r>
            <a:r>
              <a:rPr sz="24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will</a:t>
            </a:r>
            <a:r>
              <a:rPr sz="2400" spc="10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00FF"/>
                </a:solidFill>
                <a:latin typeface="Cambria"/>
                <a:cs typeface="Cambria"/>
              </a:rPr>
              <a:t>change</a:t>
            </a:r>
            <a:r>
              <a:rPr sz="2400" spc="13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20" dirty="0">
                <a:solidFill>
                  <a:srgbClr val="0000FF"/>
                </a:solidFill>
                <a:latin typeface="Cambria"/>
                <a:cs typeface="Cambria"/>
              </a:rPr>
              <a:t>to</a:t>
            </a:r>
            <a:r>
              <a:rPr sz="24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00FF"/>
                </a:solidFill>
                <a:latin typeface="Cambria"/>
                <a:cs typeface="Cambria"/>
              </a:rPr>
              <a:t>3897409</a:t>
            </a:r>
            <a:endParaRPr sz="24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5">
            <a:extLst>
              <a:ext uri="{FF2B5EF4-FFF2-40B4-BE49-F238E27FC236}">
                <a16:creationId xmlns:a16="http://schemas.microsoft.com/office/drawing/2014/main" id="{F8B63D12-8F88-5480-FD41-2B5267E1D3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Arithmetic Operations</a:t>
            </a:r>
            <a:endParaRPr lang="en-AU" altLang="en-US" dirty="0"/>
          </a:p>
        </p:txBody>
      </p:sp>
      <p:sp>
        <p:nvSpPr>
          <p:cNvPr id="11268" name="Rectangle 6">
            <a:extLst>
              <a:ext uri="{FF2B5EF4-FFF2-40B4-BE49-F238E27FC236}">
                <a16:creationId xmlns:a16="http://schemas.microsoft.com/office/drawing/2014/main" id="{7E4B01E6-6860-841E-70EF-D11AF08F1F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Add and subtract, three operands</a:t>
            </a:r>
          </a:p>
          <a:p>
            <a:pPr lvl="1" eaLnBrk="1" hangingPunct="1"/>
            <a:r>
              <a:rPr lang="en-US" altLang="en-US" dirty="0"/>
              <a:t>Two sources and one destination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add a, b, c  // a gets b + c</a:t>
            </a:r>
          </a:p>
          <a:p>
            <a:pPr eaLnBrk="1" hangingPunct="1"/>
            <a:r>
              <a:rPr lang="en-US" altLang="en-US" dirty="0"/>
              <a:t>All arithmetic operations have this form</a:t>
            </a:r>
          </a:p>
          <a:p>
            <a:pPr eaLnBrk="1" hangingPunct="1"/>
            <a:r>
              <a:rPr lang="en-US" altLang="en-US" i="1" dirty="0">
                <a:highlight>
                  <a:srgbClr val="FFFF00"/>
                </a:highlight>
              </a:rPr>
              <a:t>Design Principle 1:</a:t>
            </a:r>
            <a:r>
              <a:rPr lang="en-US" altLang="en-US" dirty="0">
                <a:highlight>
                  <a:srgbClr val="FFFF00"/>
                </a:highlight>
              </a:rPr>
              <a:t> Simplicity favors regularity</a:t>
            </a:r>
          </a:p>
          <a:p>
            <a:pPr lvl="1" eaLnBrk="1" hangingPunct="1"/>
            <a:r>
              <a:rPr lang="en-US" altLang="en-US" dirty="0">
                <a:highlight>
                  <a:srgbClr val="FFFF00"/>
                </a:highlight>
              </a:rPr>
              <a:t>Regularity makes implementation simpler</a:t>
            </a:r>
          </a:p>
          <a:p>
            <a:pPr lvl="1" eaLnBrk="1" hangingPunct="1"/>
            <a:r>
              <a:rPr lang="en-US" altLang="en-US" dirty="0">
                <a:highlight>
                  <a:srgbClr val="FFFF00"/>
                </a:highlight>
              </a:rPr>
              <a:t>Simplicity enables higher performance at lower cost</a:t>
            </a:r>
            <a:endParaRPr lang="en-AU" altLang="en-US" dirty="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A8296FB6-F070-09A5-C583-419CF3AD9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Arithmetic Example</a:t>
            </a:r>
            <a:endParaRPr lang="en-AU" altLang="en-US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24FEC813-B4B3-FDAA-3CED-D99AC89A2E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f = (g + h) - (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 + j);</a:t>
            </a:r>
          </a:p>
          <a:p>
            <a:pPr eaLnBrk="1" hangingPunct="1"/>
            <a:r>
              <a:rPr lang="en-US" altLang="en-US" dirty="0"/>
              <a:t>Compiled RISC-V code:</a:t>
            </a:r>
          </a:p>
          <a:p>
            <a:pPr eaLnBrk="1" hangingPunct="1"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add t0, g, h   // temp t0 = g + h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add t1, 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, j   // temp t1 = 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 + j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sub f, t0, t1  // f = t0 - t1</a:t>
            </a:r>
            <a:endParaRPr lang="en-AU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5">
            <a:extLst>
              <a:ext uri="{FF2B5EF4-FFF2-40B4-BE49-F238E27FC236}">
                <a16:creationId xmlns:a16="http://schemas.microsoft.com/office/drawing/2014/main" id="{79C828E9-B49A-888F-F4E9-0C2B21D04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 Operands</a:t>
            </a:r>
            <a:endParaRPr lang="en-AU" altLang="en-US"/>
          </a:p>
        </p:txBody>
      </p:sp>
      <p:sp>
        <p:nvSpPr>
          <p:cNvPr id="15364" name="Rectangle 6">
            <a:extLst>
              <a:ext uri="{FF2B5EF4-FFF2-40B4-BE49-F238E27FC236}">
                <a16:creationId xmlns:a16="http://schemas.microsoft.com/office/drawing/2014/main" id="{F1EC0B35-74C8-B42C-1AEE-3CF9ACE959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Arithmetic instructions use register</a:t>
            </a:r>
            <a:br>
              <a:rPr lang="en-US" altLang="en-US" dirty="0"/>
            </a:br>
            <a:r>
              <a:rPr lang="en-US" altLang="en-US" dirty="0"/>
              <a:t>operands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RISC-V has a count of </a:t>
            </a:r>
            <a:r>
              <a:rPr lang="en-US" altLang="en-US" dirty="0">
                <a:solidFill>
                  <a:schemeClr val="accent1"/>
                </a:solidFill>
              </a:rPr>
              <a:t>32 registers having a width</a:t>
            </a:r>
            <a:r>
              <a:rPr lang="en-US" altLang="en-US" dirty="0"/>
              <a:t> (64-bit or 32bit)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Use for frequently accessed data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64-bit data is called a “</a:t>
            </a:r>
            <a:r>
              <a:rPr lang="en-US" altLang="en-US" dirty="0">
                <a:solidFill>
                  <a:schemeClr val="accent1"/>
                </a:solidFill>
              </a:rPr>
              <a:t>double word</a:t>
            </a:r>
            <a:r>
              <a:rPr lang="en-US" altLang="en-US" dirty="0"/>
              <a:t>”</a:t>
            </a:r>
          </a:p>
          <a:p>
            <a:pPr lvl="2" eaLnBrk="1" hangingPunct="1">
              <a:lnSpc>
                <a:spcPct val="90000"/>
              </a:lnSpc>
              <a:defRPr/>
            </a:pPr>
            <a:r>
              <a:rPr lang="en-US" altLang="en-US" dirty="0"/>
              <a:t>32 x 64-bit/32-bit general purpose registers x0 to x31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32-bit data is called a “</a:t>
            </a:r>
            <a:r>
              <a:rPr lang="en-US" altLang="en-US" dirty="0">
                <a:solidFill>
                  <a:schemeClr val="accent1"/>
                </a:solidFill>
              </a:rPr>
              <a:t>word</a:t>
            </a:r>
            <a:r>
              <a:rPr lang="en-US" altLang="en-US" dirty="0"/>
              <a:t>”</a:t>
            </a:r>
          </a:p>
          <a:p>
            <a:pPr marL="0" indent="0">
              <a:buNone/>
              <a:defRPr/>
            </a:pPr>
            <a:endParaRPr lang="en-US" altLang="en-US" i="1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i="1" dirty="0">
                <a:highlight>
                  <a:srgbClr val="FFFF00"/>
                </a:highlight>
              </a:rPr>
              <a:t>Design Principle 2:</a:t>
            </a:r>
            <a:r>
              <a:rPr lang="en-US" altLang="en-US" dirty="0">
                <a:highlight>
                  <a:srgbClr val="FFFF00"/>
                </a:highlight>
              </a:rPr>
              <a:t> Smaller is faster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>
                <a:highlight>
                  <a:srgbClr val="FFFF00"/>
                </a:highlight>
              </a:rPr>
              <a:t>Compact flash main memory: millions of locations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0AF9524F-20B4-4358-1623-7EE128574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RISC-V Registers</a:t>
            </a:r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A9DE5926-4EA6-3349-B15D-940CB8AAB6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400" dirty="0"/>
              <a:t>x0: the constant value 0</a:t>
            </a:r>
          </a:p>
          <a:p>
            <a:r>
              <a:rPr lang="en-US" altLang="en-US" sz="2400" dirty="0"/>
              <a:t>x1: return address</a:t>
            </a:r>
          </a:p>
          <a:p>
            <a:r>
              <a:rPr lang="en-US" altLang="en-US" sz="2400" dirty="0"/>
              <a:t>x2: stack pointer</a:t>
            </a:r>
          </a:p>
          <a:p>
            <a:r>
              <a:rPr lang="en-US" altLang="en-US" sz="2400" dirty="0"/>
              <a:t>x3: global pointer</a:t>
            </a:r>
          </a:p>
          <a:p>
            <a:r>
              <a:rPr lang="en-US" altLang="en-US" sz="2400" dirty="0"/>
              <a:t>x4: thread pointer</a:t>
            </a:r>
          </a:p>
          <a:p>
            <a:r>
              <a:rPr lang="en-US" altLang="en-US" sz="2400" dirty="0"/>
              <a:t>x5 – x7, x28 – x31: temporaries</a:t>
            </a:r>
          </a:p>
          <a:p>
            <a:r>
              <a:rPr lang="en-US" altLang="en-US" sz="2400" dirty="0"/>
              <a:t>x8: frame pointer</a:t>
            </a:r>
          </a:p>
          <a:p>
            <a:r>
              <a:rPr lang="en-US" altLang="en-US" sz="2400" dirty="0"/>
              <a:t>x9, x18 – x27: saved registers</a:t>
            </a:r>
          </a:p>
          <a:p>
            <a:r>
              <a:rPr lang="en-US" altLang="en-US" sz="2400" dirty="0"/>
              <a:t>x10 – x11: function arguments/results</a:t>
            </a:r>
          </a:p>
          <a:p>
            <a:r>
              <a:rPr lang="en-US" altLang="en-US" sz="2400" dirty="0"/>
              <a:t>x12 – x17: function arguments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33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81532" y="1340866"/>
            <a:ext cx="5320665" cy="37439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45134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RV32I/64I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have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32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Integer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Registers</a:t>
            </a:r>
            <a:endParaRPr sz="2200" dirty="0">
              <a:latin typeface="Calibri"/>
              <a:cs typeface="Calibri"/>
            </a:endParaRPr>
          </a:p>
          <a:p>
            <a:pPr marL="1066800" marR="332740" lvl="1" indent="-445134">
              <a:lnSpc>
                <a:spcPts val="2380"/>
              </a:lnSpc>
              <a:spcBef>
                <a:spcPts val="165"/>
              </a:spcBef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Optional 32</a:t>
            </a:r>
            <a:r>
              <a:rPr sz="2200" spc="-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FP</a:t>
            </a:r>
            <a:r>
              <a:rPr sz="22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registers</a:t>
            </a:r>
            <a:r>
              <a:rPr sz="2200" spc="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with</a:t>
            </a: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the</a:t>
            </a: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F </a:t>
            </a:r>
            <a:r>
              <a:rPr sz="2200" spc="-48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and</a:t>
            </a:r>
            <a:r>
              <a:rPr sz="2200" spc="-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D extensions</a:t>
            </a:r>
            <a:endParaRPr sz="2200" dirty="0">
              <a:latin typeface="Calibri"/>
              <a:cs typeface="Calibri"/>
            </a:endParaRPr>
          </a:p>
          <a:p>
            <a:pPr marL="1066800" lvl="1" indent="-445134">
              <a:lnSpc>
                <a:spcPts val="2205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RV32E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reduces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the</a:t>
            </a:r>
            <a:r>
              <a:rPr sz="2200" spc="1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register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file to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16</a:t>
            </a:r>
            <a:endParaRPr sz="2200" dirty="0">
              <a:latin typeface="Calibri"/>
              <a:cs typeface="Calibri"/>
            </a:endParaRPr>
          </a:p>
          <a:p>
            <a:pPr marL="1066800" marR="15875">
              <a:lnSpc>
                <a:spcPts val="2380"/>
              </a:lnSpc>
              <a:spcBef>
                <a:spcPts val="165"/>
              </a:spcBef>
            </a:pP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integer</a:t>
            </a:r>
            <a:r>
              <a:rPr sz="2200" spc="2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registers</a:t>
            </a:r>
            <a:r>
              <a:rPr sz="2200" spc="1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area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constrained </a:t>
            </a:r>
            <a:r>
              <a:rPr sz="2200" spc="-48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embedded</a:t>
            </a:r>
            <a:r>
              <a:rPr sz="2200" spc="2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10" dirty="0">
                <a:solidFill>
                  <a:srgbClr val="797979"/>
                </a:solidFill>
                <a:latin typeface="Calibri"/>
                <a:cs typeface="Calibri"/>
              </a:rPr>
              <a:t>devices</a:t>
            </a:r>
            <a:endParaRPr sz="2200" dirty="0">
              <a:latin typeface="Calibri"/>
              <a:cs typeface="Calibri"/>
            </a:endParaRPr>
          </a:p>
          <a:p>
            <a:pPr marL="457200" indent="-445134">
              <a:lnSpc>
                <a:spcPts val="2205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Width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of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Registers</a:t>
            </a:r>
            <a:r>
              <a:rPr sz="22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determined</a:t>
            </a:r>
            <a:r>
              <a:rPr sz="22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by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ISA</a:t>
            </a:r>
            <a:endParaRPr sz="2200" dirty="0">
              <a:latin typeface="Calibri"/>
              <a:cs typeface="Calibri"/>
            </a:endParaRPr>
          </a:p>
          <a:p>
            <a:pPr marL="457200" indent="-445134">
              <a:lnSpc>
                <a:spcPts val="2375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RISC-V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Application</a:t>
            </a:r>
            <a:r>
              <a:rPr sz="22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Binary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Interface</a:t>
            </a:r>
            <a:r>
              <a:rPr sz="2200" b="1" spc="7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(</a:t>
            </a:r>
            <a:r>
              <a:rPr sz="2200" b="1" spc="-5" dirty="0">
                <a:solidFill>
                  <a:schemeClr val="accent1"/>
                </a:solidFill>
                <a:latin typeface="Calibri"/>
                <a:cs typeface="Calibri"/>
              </a:rPr>
              <a:t>ABI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)</a:t>
            </a:r>
            <a:endParaRPr sz="2200" dirty="0">
              <a:latin typeface="Calibri"/>
              <a:cs typeface="Calibri"/>
            </a:endParaRPr>
          </a:p>
          <a:p>
            <a:pPr marL="457200">
              <a:lnSpc>
                <a:spcPts val="2375"/>
              </a:lnSpc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defines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standard</a:t>
            </a:r>
            <a:r>
              <a:rPr sz="22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functions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registers</a:t>
            </a:r>
            <a:endParaRPr sz="2200" dirty="0">
              <a:latin typeface="Calibri"/>
              <a:cs typeface="Calibri"/>
            </a:endParaRPr>
          </a:p>
          <a:p>
            <a:pPr marL="1066800" lvl="1" indent="-445134">
              <a:lnSpc>
                <a:spcPts val="2375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Allows</a:t>
            </a:r>
            <a:r>
              <a:rPr sz="2200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for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software</a:t>
            </a:r>
            <a:r>
              <a:rPr sz="2200" spc="5" dirty="0">
                <a:solidFill>
                  <a:srgbClr val="797979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797979"/>
                </a:solidFill>
                <a:latin typeface="Calibri"/>
                <a:cs typeface="Calibri"/>
              </a:rPr>
              <a:t>interoperability</a:t>
            </a:r>
            <a:endParaRPr sz="2200" dirty="0">
              <a:latin typeface="Calibri"/>
              <a:cs typeface="Calibri"/>
            </a:endParaRPr>
          </a:p>
          <a:p>
            <a:pPr marL="457200" marR="5080" indent="-445134">
              <a:lnSpc>
                <a:spcPts val="2380"/>
              </a:lnSpc>
              <a:spcBef>
                <a:spcPts val="165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Development</a:t>
            </a:r>
            <a:r>
              <a:rPr sz="22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tools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usually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use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ABI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names </a:t>
            </a:r>
            <a:r>
              <a:rPr sz="2200" b="1" spc="-48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simplicity</a:t>
            </a:r>
            <a:endParaRPr sz="22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484873" y="1351407"/>
          <a:ext cx="5375272" cy="435880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99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20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86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Register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ABI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Saver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167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x0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zero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Hard-wired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zero</a:t>
                      </a:r>
                      <a:endParaRPr sz="15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ra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Return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address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sp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Stack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pointer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x3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gp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Global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pointer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x4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tp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Thread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pointer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-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x5-7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t0-2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Temporaries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x8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s0/fp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Saved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register/Frame</a:t>
                      </a:r>
                      <a:r>
                        <a:rPr sz="15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pointer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x9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s1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Saved</a:t>
                      </a:r>
                      <a:r>
                        <a:rPr sz="15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register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x10-11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a0-1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Function</a:t>
                      </a:r>
                      <a:r>
                        <a:rPr sz="15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Arguments/return</a:t>
                      </a:r>
                      <a:endParaRPr sz="1500">
                        <a:latin typeface="Calibri"/>
                        <a:cs typeface="Calibri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values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x12-17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a2-7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Function</a:t>
                      </a:r>
                      <a:r>
                        <a:rPr sz="15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dirty="0">
                          <a:latin typeface="Calibri"/>
                          <a:cs typeface="Calibri"/>
                        </a:rPr>
                        <a:t>arguments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Caller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x18-27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s2-11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Saved</a:t>
                      </a:r>
                      <a:r>
                        <a:rPr sz="15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500" spc="-5" dirty="0">
                          <a:latin typeface="Calibri"/>
                          <a:cs typeface="Calibri"/>
                        </a:rPr>
                        <a:t>registers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Callee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009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10" dirty="0">
                          <a:latin typeface="Calibri"/>
                          <a:cs typeface="Calibri"/>
                        </a:rPr>
                        <a:t>x28-31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t3-6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spc="-5" dirty="0">
                          <a:latin typeface="Calibri"/>
                          <a:cs typeface="Calibri"/>
                        </a:rPr>
                        <a:t>Temporaries</a:t>
                      </a:r>
                      <a:endParaRPr sz="15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500" dirty="0">
                          <a:latin typeface="Calibri"/>
                          <a:cs typeface="Calibri"/>
                        </a:rPr>
                        <a:t>Caller</a:t>
                      </a:r>
                    </a:p>
                  </a:txBody>
                  <a:tcPr marL="0" marR="0" marT="3429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50817318-3F01-837D-A161-89E26F59A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en-US" dirty="0"/>
              <a:t>RISC-V Registers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5210F-F666-3AFC-ED0A-15855862D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291F54-019F-7F33-9803-B7AEBA7EA8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800" b="1" dirty="0"/>
              <a:t>Register x0 </a:t>
            </a:r>
            <a:r>
              <a:rPr lang="en-US" sz="1800" b="0" i="0" u="none" strike="noStrike" baseline="0" dirty="0"/>
              <a:t>RISC-V dedicates register x0 to be hard-wired to the value </a:t>
            </a:r>
            <a:r>
              <a:rPr lang="en-US" sz="1800" b="1" i="0" u="none" strike="noStrike" baseline="0" dirty="0"/>
              <a:t>zero.</a:t>
            </a:r>
          </a:p>
          <a:p>
            <a:pPr algn="l"/>
            <a:r>
              <a:rPr lang="en-US" sz="1800" b="1" dirty="0"/>
              <a:t>R</a:t>
            </a:r>
            <a:r>
              <a:rPr lang="en-US" sz="1800" b="1" i="0" u="none" strike="noStrike" baseline="0" dirty="0"/>
              <a:t>eturn address </a:t>
            </a:r>
            <a:r>
              <a:rPr lang="en-US" sz="1800" b="0" i="0" u="none" strike="noStrike" baseline="0" dirty="0"/>
              <a:t>A link to the calling site that allows a procedure to return to the proper address; in RISC-V it is stored in register x1.</a:t>
            </a:r>
          </a:p>
          <a:p>
            <a:pPr algn="l"/>
            <a:r>
              <a:rPr lang="en-US" sz="1800" b="1" dirty="0"/>
              <a:t>P</a:t>
            </a:r>
            <a:r>
              <a:rPr lang="en-US" sz="1800" b="1" i="0" u="none" strike="noStrike" baseline="0" dirty="0"/>
              <a:t>rogram counter(PC) </a:t>
            </a:r>
            <a:r>
              <a:rPr lang="en-US" sz="1800" b="0" i="0" u="none" strike="noStrike" baseline="0" dirty="0"/>
              <a:t>The register containing the address of the instruction in the program being executed.</a:t>
            </a:r>
          </a:p>
          <a:p>
            <a:pPr algn="l"/>
            <a:r>
              <a:rPr lang="en-US" sz="1800" b="1" dirty="0"/>
              <a:t>S</a:t>
            </a:r>
            <a:r>
              <a:rPr lang="en-US" sz="1800" b="1" i="0" u="none" strike="noStrike" baseline="0" dirty="0"/>
              <a:t>tack pointer </a:t>
            </a:r>
            <a:r>
              <a:rPr lang="en-US" sz="1800" b="0" i="0" u="none" strike="noStrike" baseline="0" dirty="0"/>
              <a:t>A value denoting the most recently allocated address in a stack that shows where registers should be spilled or where old register values can be found. In RISC-V, it is register </a:t>
            </a:r>
            <a:r>
              <a:rPr lang="en-US" sz="1800" b="0" i="0" u="none" strike="noStrike" baseline="0" dirty="0" err="1"/>
              <a:t>sp</a:t>
            </a:r>
            <a:r>
              <a:rPr lang="en-US" sz="1800" b="0" i="0" u="none" strike="noStrike" baseline="0" dirty="0"/>
              <a:t>, or x2.</a:t>
            </a:r>
          </a:p>
          <a:p>
            <a:pPr algn="l"/>
            <a:r>
              <a:rPr lang="en-US" sz="1800" b="1" dirty="0"/>
              <a:t>G</a:t>
            </a:r>
            <a:r>
              <a:rPr lang="en-US" sz="1800" b="1" i="0" u="none" strike="noStrike" baseline="0" dirty="0"/>
              <a:t>lobal pointer </a:t>
            </a:r>
            <a:r>
              <a:rPr lang="en-US" sz="1800" b="0" i="0" u="none" strike="noStrike" baseline="0" dirty="0"/>
              <a:t>The register that is reserved to point to the static area where static variables are stored.</a:t>
            </a:r>
          </a:p>
          <a:p>
            <a:pPr algn="l"/>
            <a:r>
              <a:rPr lang="en-US" sz="1800" b="1" dirty="0"/>
              <a:t>F</a:t>
            </a:r>
            <a:r>
              <a:rPr lang="en-US" sz="1800" b="1" i="0" u="none" strike="noStrike" baseline="0" dirty="0"/>
              <a:t>rame pointer </a:t>
            </a:r>
            <a:r>
              <a:rPr lang="en-US" sz="1800" b="0" i="0" u="none" strike="noStrike" baseline="0" dirty="0"/>
              <a:t>A value denoting the location of the saved registers and local variables for a given procedure.</a:t>
            </a:r>
          </a:p>
          <a:p>
            <a:pPr marL="12700" marR="137795" algn="just">
              <a:lnSpc>
                <a:spcPct val="100200"/>
              </a:lnSpc>
              <a:spcBef>
                <a:spcPts val="90"/>
              </a:spcBef>
            </a:pPr>
            <a:r>
              <a:rPr lang="en-US" sz="1800" b="1" dirty="0"/>
              <a:t>Argument registers: </a:t>
            </a:r>
            <a:r>
              <a:rPr lang="en-US" sz="1800" dirty="0"/>
              <a:t>x10 to x17 are used to pass arguments  to a function. Before calling a function, arguments are copied  to these registers. If more than 8 arguments need to be passed, we use the stack.</a:t>
            </a:r>
            <a:endParaRPr lang="en-US" sz="1800" dirty="0">
              <a:cs typeface="Cambria"/>
            </a:endParaRPr>
          </a:p>
          <a:p>
            <a:pPr marL="12700" marR="497840">
              <a:lnSpc>
                <a:spcPct val="100400"/>
              </a:lnSpc>
            </a:pPr>
            <a:r>
              <a:rPr lang="en-US" sz="1800" b="1" dirty="0"/>
              <a:t>Temporary registers </a:t>
            </a:r>
            <a:r>
              <a:rPr lang="en-US" sz="1800" dirty="0">
                <a:solidFill>
                  <a:srgbClr val="333333"/>
                </a:solidFill>
                <a:cs typeface="Cambria"/>
              </a:rPr>
              <a:t>(</a:t>
            </a:r>
            <a:r>
              <a:rPr lang="en-US" sz="1800" dirty="0"/>
              <a:t>t0 to t6): used to hold intermediate  values during instruction or function execution.</a:t>
            </a:r>
          </a:p>
          <a:p>
            <a:pPr marL="12700" marR="497840">
              <a:lnSpc>
                <a:spcPct val="100400"/>
              </a:lnSpc>
            </a:pPr>
            <a:r>
              <a:rPr lang="en-US" sz="1800" dirty="0"/>
              <a:t> </a:t>
            </a:r>
            <a:r>
              <a:rPr lang="en-US" sz="1800" b="1" dirty="0"/>
              <a:t>Thread-pointer</a:t>
            </a:r>
            <a:r>
              <a:rPr lang="en-US" sz="1800" dirty="0"/>
              <a:t> register, </a:t>
            </a:r>
            <a:r>
              <a:rPr lang="en-US" sz="1800" dirty="0" err="1"/>
              <a:t>tp</a:t>
            </a:r>
            <a:r>
              <a:rPr lang="en-US" sz="1800" dirty="0"/>
              <a:t>, that is designed for thread-local data.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709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4">
            <a:extLst>
              <a:ext uri="{FF2B5EF4-FFF2-40B4-BE49-F238E27FC236}">
                <a16:creationId xmlns:a16="http://schemas.microsoft.com/office/drawing/2014/main" id="{F305F4AD-759C-BA51-6FE0-B84BFF5238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 Operand Example</a:t>
            </a:r>
            <a:endParaRPr lang="en-AU" altLang="en-US"/>
          </a:p>
        </p:txBody>
      </p:sp>
      <p:sp>
        <p:nvSpPr>
          <p:cNvPr id="18436" name="Rectangle 5">
            <a:extLst>
              <a:ext uri="{FF2B5EF4-FFF2-40B4-BE49-F238E27FC236}">
                <a16:creationId xmlns:a16="http://schemas.microsoft.com/office/drawing/2014/main" id="{357370CA-D3AE-B5C9-F560-4018431733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f = (g + h) - (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 + j);</a:t>
            </a:r>
          </a:p>
          <a:p>
            <a:pPr lvl="1" eaLnBrk="1" hangingPunct="1"/>
            <a:r>
              <a:rPr lang="en-US" altLang="en-US" dirty="0"/>
              <a:t>f, …, j in x19, x20, …, x23</a:t>
            </a:r>
          </a:p>
          <a:p>
            <a:pPr lvl="1"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Compiled RISC-V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add x5, x20, x21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add x6, x22, x23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sub x19, x5, x6</a:t>
            </a:r>
            <a:endParaRPr lang="en-AU" altLang="en-US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4">
            <a:extLst>
              <a:ext uri="{FF2B5EF4-FFF2-40B4-BE49-F238E27FC236}">
                <a16:creationId xmlns:a16="http://schemas.microsoft.com/office/drawing/2014/main" id="{E1B46CFB-6127-5E32-B0E7-5B7D7BB0B8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Operands</a:t>
            </a:r>
            <a:endParaRPr lang="en-AU" altLang="en-US"/>
          </a:p>
        </p:txBody>
      </p:sp>
      <p:sp>
        <p:nvSpPr>
          <p:cNvPr id="20484" name="Rectangle 5">
            <a:extLst>
              <a:ext uri="{FF2B5EF4-FFF2-40B4-BE49-F238E27FC236}">
                <a16:creationId xmlns:a16="http://schemas.microsoft.com/office/drawing/2014/main" id="{85B18AC4-5234-8E31-9B45-6041B9C672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/>
              <a:t>Main memory used for composite data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Arrays, structures, dynamic data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To apply arithmetic operations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Load values from memory into registers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Store result from register to memory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Memory is byte addressed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Each address identifies an 8-bit byte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RISC-V is Little Endian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Least-significant byte at least address of a word</a:t>
            </a:r>
          </a:p>
          <a:p>
            <a:pPr lvl="1" eaLnBrk="1" hangingPunct="1">
              <a:lnSpc>
                <a:spcPct val="80000"/>
              </a:lnSpc>
            </a:pPr>
            <a:r>
              <a:rPr lang="en-AU" altLang="en-US" i="1"/>
              <a:t>c.f.</a:t>
            </a:r>
            <a:r>
              <a:rPr lang="en-AU" altLang="en-US"/>
              <a:t> Big Endian: most-significant byte at least address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/>
              <a:t>RISC-V does not require words to be aligned in memory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/>
              <a:t>Unlike some other ISAs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0C0945-DA6F-7225-E96A-D063494FBAD9}"/>
              </a:ext>
            </a:extLst>
          </p:cNvPr>
          <p:cNvSpPr txBox="1"/>
          <p:nvPr/>
        </p:nvSpPr>
        <p:spPr>
          <a:xfrm>
            <a:off x="7720553" y="886120"/>
            <a:ext cx="42514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What is XLEN in RISC-V?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RISC-V is little-endian and comes in 32 and 64 bit </a:t>
            </a:r>
            <a:r>
              <a:rPr lang="en-US" b="0" i="0" dirty="0" err="1">
                <a:solidFill>
                  <a:srgbClr val="4D5156"/>
                </a:solidFill>
                <a:effectLst/>
                <a:latin typeface="Google Sans"/>
              </a:rPr>
              <a:t>flavours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 In keeping with the RISC-V documents,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the </a:t>
            </a:r>
            <a:r>
              <a:rPr lang="en-US" b="0" i="0" dirty="0" err="1">
                <a:solidFill>
                  <a:srgbClr val="040C28"/>
                </a:solidFill>
                <a:effectLst/>
                <a:latin typeface="Google Sans"/>
              </a:rPr>
              <a:t>flavour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(either 32 or 64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) is called XLEN in further slides at few places where it matters.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4">
            <a:extLst>
              <a:ext uri="{FF2B5EF4-FFF2-40B4-BE49-F238E27FC236}">
                <a16:creationId xmlns:a16="http://schemas.microsoft.com/office/drawing/2014/main" id="{32E5CA7F-FDDD-971D-978B-97D4D5CAD5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Memory Operand Example</a:t>
            </a:r>
            <a:endParaRPr lang="en-AU" altLang="en-US"/>
          </a:p>
        </p:txBody>
      </p:sp>
      <p:sp>
        <p:nvSpPr>
          <p:cNvPr id="22532" name="Rectangle 5">
            <a:extLst>
              <a:ext uri="{FF2B5EF4-FFF2-40B4-BE49-F238E27FC236}">
                <a16:creationId xmlns:a16="http://schemas.microsoft.com/office/drawing/2014/main" id="{7F172A21-F10A-F195-2D21-F0973CF0F2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A[12] = h + A[8];</a:t>
            </a:r>
          </a:p>
          <a:p>
            <a:pPr lvl="1" eaLnBrk="1" hangingPunct="1"/>
            <a:r>
              <a:rPr lang="en-US" altLang="en-US" dirty="0"/>
              <a:t>h in x21, base address of A in x22</a:t>
            </a:r>
          </a:p>
          <a:p>
            <a:pPr eaLnBrk="1" hangingPunct="1"/>
            <a:r>
              <a:rPr lang="en-US" altLang="en-US" dirty="0"/>
              <a:t>Compiled RISC-V code:</a:t>
            </a:r>
          </a:p>
          <a:p>
            <a:pPr lvl="1" eaLnBrk="1" hangingPunct="1"/>
            <a:r>
              <a:rPr lang="en-US" altLang="en-US" dirty="0"/>
              <a:t>Index 8 requires offset of 32</a:t>
            </a:r>
          </a:p>
          <a:p>
            <a:pPr lvl="2" eaLnBrk="1" hangingPunct="1"/>
            <a:r>
              <a:rPr lang="en-US" altLang="en-US" dirty="0"/>
              <a:t>4 bytes per word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 err="1">
                <a:latin typeface="Lucida Console" panose="020B0609040504020204" pitchFamily="49" charset="0"/>
              </a:rPr>
              <a:t>ld</a:t>
            </a:r>
            <a:r>
              <a:rPr lang="en-US" altLang="en-US" sz="2400" dirty="0">
                <a:latin typeface="Lucida Console" panose="020B0609040504020204" pitchFamily="49" charset="0"/>
              </a:rPr>
              <a:t>		x9, 32(x22)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add		x9, x21, x9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 err="1">
                <a:latin typeface="Lucida Console" panose="020B0609040504020204" pitchFamily="49" charset="0"/>
              </a:rPr>
              <a:t>sd</a:t>
            </a:r>
            <a:r>
              <a:rPr lang="en-US" altLang="en-US" sz="2400" dirty="0">
                <a:latin typeface="Lucida Console" panose="020B0609040504020204" pitchFamily="49" charset="0"/>
              </a:rPr>
              <a:t>		x9, 48(x22)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4">
            <a:extLst>
              <a:ext uri="{FF2B5EF4-FFF2-40B4-BE49-F238E27FC236}">
                <a16:creationId xmlns:a16="http://schemas.microsoft.com/office/drawing/2014/main" id="{92C7020B-1D54-FB58-D00D-DEFA5D1063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Registers vs. Memory</a:t>
            </a:r>
            <a:endParaRPr lang="en-AU" altLang="en-US"/>
          </a:p>
        </p:txBody>
      </p:sp>
      <p:sp>
        <p:nvSpPr>
          <p:cNvPr id="24580" name="Rectangle 5">
            <a:extLst>
              <a:ext uri="{FF2B5EF4-FFF2-40B4-BE49-F238E27FC236}">
                <a16:creationId xmlns:a16="http://schemas.microsoft.com/office/drawing/2014/main" id="{C766AE17-8E8D-69EC-DAC1-1A85F24CF4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Registers are faster to access than memory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Operating on memory data requires loads and stores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More instructions to be executed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Compiler must use registers for variables as much as possible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Only spill to memory for less frequently used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Register optimization is important!</a:t>
            </a:r>
            <a:endParaRPr lang="en-AU" alt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B1BC1-E640-CF83-561A-D9F1806641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Although the RISC-V registers in this course are 32 bits wide, the RISC-V architects conceived multiple variants of the ISA. </a:t>
            </a:r>
          </a:p>
          <a:p>
            <a:r>
              <a:rPr lang="en-US" dirty="0"/>
              <a:t>In addition to this variant, known as RV32, a variant named RV64 has 64-bit registers, whose larger addresses make RV64 better suited to processors for servers and smart phones.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C1CEBA3-9AC7-DD37-EFE8-A2BFE77E2F04}"/>
              </a:ext>
            </a:extLst>
          </p:cNvPr>
          <p:cNvSpPr txBox="1">
            <a:spLocks noChangeArrowheads="1"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dirty="0"/>
              <a:t>RV32 and RV64</a:t>
            </a:r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6654479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4">
            <a:extLst>
              <a:ext uri="{FF2B5EF4-FFF2-40B4-BE49-F238E27FC236}">
                <a16:creationId xmlns:a16="http://schemas.microsoft.com/office/drawing/2014/main" id="{EE92B2A8-DB55-232B-94CB-D0BF27CBF4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Immediate Operands</a:t>
            </a:r>
            <a:endParaRPr lang="en-AU" altLang="en-US" dirty="0"/>
          </a:p>
        </p:txBody>
      </p:sp>
      <p:sp>
        <p:nvSpPr>
          <p:cNvPr id="26628" name="Rectangle 5">
            <a:extLst>
              <a:ext uri="{FF2B5EF4-FFF2-40B4-BE49-F238E27FC236}">
                <a16:creationId xmlns:a16="http://schemas.microsoft.com/office/drawing/2014/main" id="{6112B987-0DA0-9A6B-2846-B97468507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Constant data specified in an instruction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</a:t>
            </a:r>
            <a:r>
              <a:rPr lang="en-US" altLang="en-US" dirty="0" err="1">
                <a:latin typeface="Lucida Console" panose="020B0609040504020204" pitchFamily="49" charset="0"/>
              </a:rPr>
              <a:t>addi</a:t>
            </a:r>
            <a:r>
              <a:rPr lang="en-US" altLang="en-US" dirty="0">
                <a:latin typeface="Lucida Console" panose="020B0609040504020204" pitchFamily="49" charset="0"/>
              </a:rPr>
              <a:t> x22, x22, 4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Make the common case fast</a:t>
            </a:r>
          </a:p>
          <a:p>
            <a:pPr lvl="1" eaLnBrk="1" hangingPunct="1"/>
            <a:r>
              <a:rPr lang="en-US" altLang="en-US" dirty="0"/>
              <a:t>Small constants are common</a:t>
            </a:r>
          </a:p>
          <a:p>
            <a:pPr lvl="1" eaLnBrk="1" hangingPunct="1"/>
            <a:r>
              <a:rPr lang="en-US" altLang="en-US" dirty="0"/>
              <a:t>Immediate operand avoids a load instruction</a:t>
            </a:r>
            <a:endParaRPr lang="en-AU" altLang="en-U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317" y="506679"/>
            <a:ext cx="342011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260" dirty="0"/>
              <a:t>Example</a:t>
            </a:r>
            <a:r>
              <a:rPr sz="3200" spc="155" dirty="0"/>
              <a:t> </a:t>
            </a:r>
            <a:r>
              <a:rPr sz="3200" spc="200" dirty="0"/>
              <a:t>on</a:t>
            </a:r>
            <a:r>
              <a:rPr sz="3200" spc="160" dirty="0"/>
              <a:t> </a:t>
            </a:r>
            <a:r>
              <a:rPr sz="3200" spc="229" dirty="0"/>
              <a:t>add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496925" y="1235100"/>
            <a:ext cx="4540250" cy="106489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-5" dirty="0">
                <a:solidFill>
                  <a:srgbClr val="333333"/>
                </a:solidFill>
                <a:latin typeface="Lucida Console"/>
                <a:cs typeface="Lucida Console"/>
              </a:rPr>
              <a:t>Mapping</a:t>
            </a:r>
            <a:r>
              <a:rPr sz="2800" spc="-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Lucida Console"/>
                <a:cs typeface="Lucida Console"/>
              </a:rPr>
              <a:t>of</a:t>
            </a:r>
            <a:r>
              <a:rPr sz="2800" spc="-25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Lucida Console"/>
                <a:cs typeface="Lucida Console"/>
              </a:rPr>
              <a:t>variables</a:t>
            </a:r>
            <a:endParaRPr sz="2800">
              <a:latin typeface="Lucida Console"/>
              <a:cs typeface="Lucida Console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i</a:t>
            </a:r>
            <a:r>
              <a:rPr sz="2800" spc="45" dirty="0">
                <a:solidFill>
                  <a:srgbClr val="333333"/>
                </a:solidFill>
                <a:latin typeface="Wingdings"/>
                <a:cs typeface="Wingdings"/>
              </a:rPr>
              <a:t></a:t>
            </a:r>
            <a:r>
              <a:rPr sz="2800" spc="55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x19,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g</a:t>
            </a:r>
            <a:r>
              <a:rPr sz="2800" spc="55" dirty="0">
                <a:solidFill>
                  <a:srgbClr val="333333"/>
                </a:solidFill>
                <a:latin typeface="Wingdings"/>
                <a:cs typeface="Wingdings"/>
              </a:rPr>
              <a:t></a:t>
            </a:r>
            <a:r>
              <a:rPr sz="2800" spc="50" dirty="0">
                <a:solidFill>
                  <a:srgbClr val="333333"/>
                </a:solidFill>
                <a:latin typeface="Times New Roman"/>
                <a:cs typeface="Times New Roman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x20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25575" y="1328673"/>
            <a:ext cx="2811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solidFill>
                  <a:srgbClr val="333333"/>
                </a:solidFill>
                <a:latin typeface="Lucida Console"/>
                <a:cs typeface="Lucida Console"/>
              </a:rPr>
              <a:t>to</a:t>
            </a:r>
            <a:r>
              <a:rPr sz="2800" spc="-60" dirty="0">
                <a:solidFill>
                  <a:srgbClr val="333333"/>
                </a:solidFill>
                <a:latin typeface="Lucida Console"/>
                <a:cs typeface="Lucida Console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Lucida Console"/>
                <a:cs typeface="Lucida Console"/>
              </a:rPr>
              <a:t>registers:</a:t>
            </a:r>
            <a:endParaRPr sz="2800">
              <a:latin typeface="Lucida Console"/>
              <a:cs typeface="Lucida Console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079285" y="3422879"/>
          <a:ext cx="8127365" cy="20217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89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5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4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b="1" spc="370" dirty="0">
                          <a:solidFill>
                            <a:srgbClr val="4471C4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sz="1800" b="1" spc="90" dirty="0">
                          <a:solidFill>
                            <a:srgbClr val="4471C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105" dirty="0">
                          <a:solidFill>
                            <a:srgbClr val="4471C4"/>
                          </a:solidFill>
                          <a:latin typeface="Cambria"/>
                          <a:cs typeface="Cambria"/>
                        </a:rPr>
                        <a:t>code</a:t>
                      </a:r>
                      <a:r>
                        <a:rPr sz="1800" b="1" spc="100" dirty="0">
                          <a:solidFill>
                            <a:srgbClr val="4471C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b="1" spc="75" dirty="0">
                          <a:solidFill>
                            <a:srgbClr val="4471C4"/>
                          </a:solidFill>
                          <a:latin typeface="Cambria"/>
                          <a:cs typeface="Cambria"/>
                        </a:rPr>
                        <a:t>(simplified)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RISC-V</a:t>
                      </a:r>
                      <a:r>
                        <a:rPr sz="1800" b="1" spc="-4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i++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8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i++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addi</a:t>
                      </a:r>
                      <a:r>
                        <a:rPr sz="1800" spc="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g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++i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0465" marR="117157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i++  </a:t>
                      </a: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g=i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1015" marR="490220" indent="2540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addi</a:t>
                      </a:r>
                      <a:r>
                        <a:rPr sz="1800" spc="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1 </a:t>
                      </a:r>
                      <a:r>
                        <a:rPr sz="1800" spc="-3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add</a:t>
                      </a:r>
                      <a:r>
                        <a:rPr sz="1800" spc="9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x20,</a:t>
                      </a: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g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9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=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8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i++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80465" marR="1171575" indent="-635" algn="ct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g=i </a:t>
                      </a:r>
                      <a:r>
                        <a:rPr sz="1800" spc="-38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i++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27050" marR="490220" indent="-26034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add</a:t>
                      </a:r>
                      <a:r>
                        <a:rPr sz="1800" spc="9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x20,</a:t>
                      </a: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x0 </a:t>
                      </a:r>
                      <a:r>
                        <a:rPr sz="1800" spc="-3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addi</a:t>
                      </a:r>
                      <a:r>
                        <a:rPr sz="1800" spc="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5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x19,</a:t>
                      </a: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00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416" y="666699"/>
            <a:ext cx="85667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525" dirty="0"/>
              <a:t>LI</a:t>
            </a:r>
            <a:r>
              <a:rPr spc="250" dirty="0"/>
              <a:t> </a:t>
            </a:r>
            <a:r>
              <a:rPr spc="300" dirty="0"/>
              <a:t>and</a:t>
            </a:r>
            <a:r>
              <a:rPr spc="240" dirty="0"/>
              <a:t> </a:t>
            </a:r>
            <a:r>
              <a:rPr spc="515" dirty="0"/>
              <a:t>MV</a:t>
            </a:r>
            <a:r>
              <a:rPr spc="254" dirty="0"/>
              <a:t> </a:t>
            </a:r>
            <a:r>
              <a:rPr spc="155" dirty="0"/>
              <a:t>(pseudo)</a:t>
            </a:r>
            <a:r>
              <a:rPr spc="254" dirty="0"/>
              <a:t> </a:t>
            </a:r>
            <a:r>
              <a:rPr spc="240" dirty="0"/>
              <a:t>instructions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416" y="1742973"/>
            <a:ext cx="10675620" cy="104965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Load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Immediate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(LI)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loads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170" dirty="0">
                <a:solidFill>
                  <a:srgbClr val="333333"/>
                </a:solidFill>
                <a:latin typeface="Cambria"/>
                <a:cs typeface="Cambria"/>
              </a:rPr>
              <a:t>rd</a:t>
            </a:r>
            <a:r>
              <a:rPr sz="2800" i="1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with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an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333333"/>
                </a:solidFill>
                <a:latin typeface="Cambria"/>
                <a:cs typeface="Cambria"/>
              </a:rPr>
              <a:t>immediate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333333"/>
                </a:solidFill>
                <a:latin typeface="Cambria"/>
                <a:cs typeface="Cambria"/>
              </a:rPr>
              <a:t>value</a:t>
            </a: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67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Syntax: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li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333333"/>
                </a:solidFill>
                <a:latin typeface="Cambria"/>
                <a:cs typeface="Cambria"/>
              </a:rPr>
              <a:t>rd,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imm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5416" y="2766530"/>
            <a:ext cx="1951989" cy="10477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10" dirty="0">
                <a:solidFill>
                  <a:srgbClr val="006FC0"/>
                </a:solidFill>
                <a:latin typeface="Cambria"/>
                <a:cs typeface="Cambria"/>
              </a:rPr>
              <a:t>li</a:t>
            </a:r>
            <a:r>
              <a:rPr sz="2800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006FC0"/>
                </a:solidFill>
                <a:latin typeface="Cambria"/>
                <a:cs typeface="Cambria"/>
              </a:rPr>
              <a:t>t0,</a:t>
            </a:r>
            <a:r>
              <a:rPr sz="2800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006FC0"/>
                </a:solidFill>
                <a:latin typeface="Cambria"/>
                <a:cs typeface="Cambria"/>
              </a:rPr>
              <a:t>0x4A</a:t>
            </a: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20" dirty="0">
                <a:solidFill>
                  <a:srgbClr val="006FC0"/>
                </a:solidFill>
                <a:latin typeface="Cambria"/>
                <a:cs typeface="Cambria"/>
              </a:rPr>
              <a:t>mv</a:t>
            </a:r>
            <a:r>
              <a:rPr sz="2800" spc="12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Cambria"/>
                <a:cs typeface="Cambria"/>
              </a:rPr>
              <a:t>t1,</a:t>
            </a:r>
            <a:r>
              <a:rPr sz="2800" spc="11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006FC0"/>
                </a:solidFill>
                <a:latin typeface="Cambria"/>
                <a:cs typeface="Cambria"/>
              </a:rPr>
              <a:t>t0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00958" y="2766530"/>
            <a:ext cx="7062470" cy="104775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42545">
              <a:lnSpc>
                <a:spcPct val="100000"/>
              </a:lnSpc>
              <a:spcBef>
                <a:spcPts val="765"/>
              </a:spcBef>
            </a:pPr>
            <a:r>
              <a:rPr sz="2800" spc="-180" dirty="0">
                <a:solidFill>
                  <a:srgbClr val="333333"/>
                </a:solidFill>
                <a:latin typeface="Cambria"/>
                <a:cs typeface="Cambria"/>
              </a:rPr>
              <a:t>#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0" dirty="0">
                <a:solidFill>
                  <a:srgbClr val="333333"/>
                </a:solidFill>
                <a:latin typeface="Cambria"/>
                <a:cs typeface="Cambria"/>
              </a:rPr>
              <a:t>Load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t0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with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value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60"/>
              </a:spcBef>
            </a:pPr>
            <a:r>
              <a:rPr sz="2800" spc="-180" dirty="0">
                <a:solidFill>
                  <a:srgbClr val="333333"/>
                </a:solidFill>
                <a:latin typeface="Cambria"/>
                <a:cs typeface="Cambria"/>
              </a:rPr>
              <a:t>#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Copy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contents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t0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t1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5416" y="3874389"/>
            <a:ext cx="87585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Pseudo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instructions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are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similar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macros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C/C++.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475333" y="5237964"/>
          <a:ext cx="5418454" cy="1112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4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RISC-V</a:t>
                      </a:r>
                      <a:r>
                        <a:rPr sz="1800" b="1" spc="-4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pPr marL="527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v=</a:t>
                      </a:r>
                      <a:r>
                        <a:rPr sz="1800" spc="-4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li</a:t>
                      </a:r>
                      <a:r>
                        <a:rPr sz="1800" spc="6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t0,</a:t>
                      </a:r>
                      <a:r>
                        <a:rPr sz="1800" spc="8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10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v=r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7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mv</a:t>
                      </a:r>
                      <a:r>
                        <a:rPr sz="1800" spc="6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7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t0,</a:t>
                      </a:r>
                      <a:r>
                        <a:rPr sz="1800" spc="85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1800" spc="40" dirty="0">
                          <a:solidFill>
                            <a:srgbClr val="005392"/>
                          </a:solidFill>
                          <a:latin typeface="Cambria"/>
                          <a:cs typeface="Cambria"/>
                        </a:rPr>
                        <a:t>t1</a:t>
                      </a:r>
                      <a:endParaRPr sz="1800">
                        <a:latin typeface="Cambria"/>
                        <a:cs typeface="Cambria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2565907" y="4762957"/>
            <a:ext cx="54463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Assuming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v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r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are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stored</a:t>
            </a:r>
            <a:r>
              <a:rPr sz="18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t0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and t1, 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respectively.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17">
            <a:extLst>
              <a:ext uri="{FF2B5EF4-FFF2-40B4-BE49-F238E27FC236}">
                <a16:creationId xmlns:a16="http://schemas.microsoft.com/office/drawing/2014/main" id="{74DFD00E-186B-6AF3-5E6E-5616BE6F0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RISC-V R-format Instructions</a:t>
            </a:r>
            <a:endParaRPr lang="en-AU" altLang="en-US"/>
          </a:p>
        </p:txBody>
      </p:sp>
      <p:sp>
        <p:nvSpPr>
          <p:cNvPr id="43012" name="Rectangle 18">
            <a:extLst>
              <a:ext uri="{FF2B5EF4-FFF2-40B4-BE49-F238E27FC236}">
                <a16:creationId xmlns:a16="http://schemas.microsoft.com/office/drawing/2014/main" id="{1F1374AA-8CA3-465B-23D9-E45C1706DD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2276476"/>
            <a:ext cx="8270875" cy="3960813"/>
          </a:xfrm>
        </p:spPr>
        <p:txBody>
          <a:bodyPr/>
          <a:lstStyle/>
          <a:p>
            <a:pPr eaLnBrk="1" hangingPunct="1"/>
            <a:r>
              <a:rPr lang="en-US" altLang="en-US"/>
              <a:t>Instruction fields</a:t>
            </a:r>
          </a:p>
          <a:p>
            <a:pPr lvl="1" eaLnBrk="1" hangingPunct="1"/>
            <a:r>
              <a:rPr lang="en-US" altLang="en-US"/>
              <a:t>opcode: operation code</a:t>
            </a:r>
          </a:p>
          <a:p>
            <a:pPr lvl="1" eaLnBrk="1" hangingPunct="1"/>
            <a:r>
              <a:rPr lang="en-US" altLang="en-US"/>
              <a:t>rd: destination register number</a:t>
            </a:r>
          </a:p>
          <a:p>
            <a:pPr lvl="1" eaLnBrk="1" hangingPunct="1"/>
            <a:r>
              <a:rPr lang="en-US" altLang="en-US"/>
              <a:t>funct3: 3-bit function code (additional opcode)</a:t>
            </a:r>
          </a:p>
          <a:p>
            <a:pPr lvl="1" eaLnBrk="1" hangingPunct="1"/>
            <a:r>
              <a:rPr lang="en-US" altLang="en-US"/>
              <a:t>rs1: the first source register number</a:t>
            </a:r>
          </a:p>
          <a:p>
            <a:pPr lvl="1" eaLnBrk="1" hangingPunct="1"/>
            <a:r>
              <a:rPr lang="en-US" altLang="en-US"/>
              <a:t>rs2: the second source register number</a:t>
            </a:r>
          </a:p>
          <a:p>
            <a:pPr lvl="1" eaLnBrk="1" hangingPunct="1"/>
            <a:r>
              <a:rPr lang="en-US" altLang="en-US"/>
              <a:t>funct7: 7-bit function code (additional opcode)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AU" altLang="en-US"/>
          </a:p>
        </p:txBody>
      </p:sp>
      <p:grpSp>
        <p:nvGrpSpPr>
          <p:cNvPr id="43013" name="Group 2">
            <a:extLst>
              <a:ext uri="{FF2B5EF4-FFF2-40B4-BE49-F238E27FC236}">
                <a16:creationId xmlns:a16="http://schemas.microsoft.com/office/drawing/2014/main" id="{DB5820A8-2715-192A-E3CF-82F4CCD439BB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1392239"/>
            <a:ext cx="6772275" cy="776287"/>
            <a:chOff x="1331640" y="1391533"/>
            <a:chExt cx="6771978" cy="777698"/>
          </a:xfrm>
        </p:grpSpPr>
        <p:sp>
          <p:nvSpPr>
            <p:cNvPr id="43014" name="Text Box 5">
              <a:extLst>
                <a:ext uri="{FF2B5EF4-FFF2-40B4-BE49-F238E27FC236}">
                  <a16:creationId xmlns:a16="http://schemas.microsoft.com/office/drawing/2014/main" id="{E85EBACF-C39D-2887-B49B-05360C6C1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funct7</a:t>
              </a:r>
              <a:endParaRPr lang="en-AU" altLang="en-US" sz="2000"/>
            </a:p>
          </p:txBody>
        </p:sp>
        <p:sp>
          <p:nvSpPr>
            <p:cNvPr id="43015" name="Text Box 6">
              <a:extLst>
                <a:ext uri="{FF2B5EF4-FFF2-40B4-BE49-F238E27FC236}">
                  <a16:creationId xmlns:a16="http://schemas.microsoft.com/office/drawing/2014/main" id="{147BA7E1-378A-BC29-63E9-5F6F18ADDD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43016" name="Text Box 7">
              <a:extLst>
                <a:ext uri="{FF2B5EF4-FFF2-40B4-BE49-F238E27FC236}">
                  <a16:creationId xmlns:a16="http://schemas.microsoft.com/office/drawing/2014/main" id="{91CCF0AC-4CFA-E5AC-9B0C-7EAD588DEC1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43017" name="Text Box 8">
              <a:extLst>
                <a:ext uri="{FF2B5EF4-FFF2-40B4-BE49-F238E27FC236}">
                  <a16:creationId xmlns:a16="http://schemas.microsoft.com/office/drawing/2014/main" id="{2D56FE2E-CCCE-A633-0C73-588D722970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43018" name="Text Box 9">
              <a:extLst>
                <a:ext uri="{FF2B5EF4-FFF2-40B4-BE49-F238E27FC236}">
                  <a16:creationId xmlns:a16="http://schemas.microsoft.com/office/drawing/2014/main" id="{ABA70047-3EA5-72B6-2BFA-A68AF12DE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43019" name="Text Box 10">
              <a:extLst>
                <a:ext uri="{FF2B5EF4-FFF2-40B4-BE49-F238E27FC236}">
                  <a16:creationId xmlns:a16="http://schemas.microsoft.com/office/drawing/2014/main" id="{3A419F83-DB32-4921-D779-F7F1584D1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43020" name="Text Box 11">
              <a:extLst>
                <a:ext uri="{FF2B5EF4-FFF2-40B4-BE49-F238E27FC236}">
                  <a16:creationId xmlns:a16="http://schemas.microsoft.com/office/drawing/2014/main" id="{5CFF6A60-3006-DC5F-7B2B-67F028826F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3021" name="Text Box 12">
              <a:extLst>
                <a:ext uri="{FF2B5EF4-FFF2-40B4-BE49-F238E27FC236}">
                  <a16:creationId xmlns:a16="http://schemas.microsoft.com/office/drawing/2014/main" id="{2022F098-60A8-0CCD-F8CF-BDC4FD2312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3022" name="Text Box 13">
              <a:extLst>
                <a:ext uri="{FF2B5EF4-FFF2-40B4-BE49-F238E27FC236}">
                  <a16:creationId xmlns:a16="http://schemas.microsoft.com/office/drawing/2014/main" id="{5970C0DF-D9A1-70F3-63EF-EAAA4EF92E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3" name="Text Box 14">
              <a:extLst>
                <a:ext uri="{FF2B5EF4-FFF2-40B4-BE49-F238E27FC236}">
                  <a16:creationId xmlns:a16="http://schemas.microsoft.com/office/drawing/2014/main" id="{A447B9AE-FCF1-5780-371A-4D1932F805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4" name="Text Box 15">
              <a:extLst>
                <a:ext uri="{FF2B5EF4-FFF2-40B4-BE49-F238E27FC236}">
                  <a16:creationId xmlns:a16="http://schemas.microsoft.com/office/drawing/2014/main" id="{AAF0DBF4-658B-E362-8C34-554CC23110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3025" name="Text Box 16">
              <a:extLst>
                <a:ext uri="{FF2B5EF4-FFF2-40B4-BE49-F238E27FC236}">
                  <a16:creationId xmlns:a16="http://schemas.microsoft.com/office/drawing/2014/main" id="{B0E3CFF7-6A7E-8898-492E-5BE5F175A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6">
            <a:extLst>
              <a:ext uri="{FF2B5EF4-FFF2-40B4-BE49-F238E27FC236}">
                <a16:creationId xmlns:a16="http://schemas.microsoft.com/office/drawing/2014/main" id="{85709F7F-689C-0F07-8169-5E111C9E96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R-format Example</a:t>
            </a:r>
            <a:endParaRPr lang="en-AU" altLang="en-US"/>
          </a:p>
        </p:txBody>
      </p:sp>
      <p:sp>
        <p:nvSpPr>
          <p:cNvPr id="45060" name="Rectangle 37">
            <a:extLst>
              <a:ext uri="{FF2B5EF4-FFF2-40B4-BE49-F238E27FC236}">
                <a16:creationId xmlns:a16="http://schemas.microsoft.com/office/drawing/2014/main" id="{83C79F73-2773-7D78-19D0-157B28499E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2492375"/>
            <a:ext cx="8270875" cy="649288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latin typeface="Lucida Console" panose="020B0609040504020204" pitchFamily="49" charset="0"/>
              </a:rPr>
              <a:t>	add x9,x20,x21</a:t>
            </a:r>
          </a:p>
        </p:txBody>
      </p:sp>
      <p:sp>
        <p:nvSpPr>
          <p:cNvPr id="45061" name="Rectangle 35">
            <a:extLst>
              <a:ext uri="{FF2B5EF4-FFF2-40B4-BE49-F238E27FC236}">
                <a16:creationId xmlns:a16="http://schemas.microsoft.com/office/drawing/2014/main" id="{9E9FE82F-37B1-4D0C-AE2C-9AEA4319C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0914" y="4583114"/>
            <a:ext cx="7259637" cy="1417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0000 0001 0101 1010 0000 0100 1011 0011</a:t>
            </a:r>
            <a:r>
              <a:rPr lang="en-US" altLang="en-US" sz="2400" baseline="-25000"/>
              <a:t>two</a:t>
            </a:r>
            <a:r>
              <a:rPr lang="en-US" altLang="en-US" sz="2400"/>
              <a:t> =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/>
              <a:t>015A04B3</a:t>
            </a:r>
            <a:r>
              <a:rPr lang="en-US" altLang="en-US" sz="2400" baseline="-25000"/>
              <a:t>16</a:t>
            </a:r>
            <a:endParaRPr lang="en-AU" altLang="en-US" sz="2400"/>
          </a:p>
        </p:txBody>
      </p:sp>
      <p:grpSp>
        <p:nvGrpSpPr>
          <p:cNvPr id="45062" name="Group 26">
            <a:extLst>
              <a:ext uri="{FF2B5EF4-FFF2-40B4-BE49-F238E27FC236}">
                <a16:creationId xmlns:a16="http://schemas.microsoft.com/office/drawing/2014/main" id="{9D9B4077-D94D-8574-9C82-01795370CF17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1392239"/>
            <a:ext cx="6772275" cy="776287"/>
            <a:chOff x="1331640" y="1391533"/>
            <a:chExt cx="6771978" cy="777698"/>
          </a:xfrm>
        </p:grpSpPr>
        <p:sp>
          <p:nvSpPr>
            <p:cNvPr id="45075" name="Text Box 5">
              <a:extLst>
                <a:ext uri="{FF2B5EF4-FFF2-40B4-BE49-F238E27FC236}">
                  <a16:creationId xmlns:a16="http://schemas.microsoft.com/office/drawing/2014/main" id="{2C9481FD-9287-515F-5D89-BECCCD6026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funct7</a:t>
              </a:r>
              <a:endParaRPr lang="en-AU" altLang="en-US" sz="2000"/>
            </a:p>
          </p:txBody>
        </p:sp>
        <p:sp>
          <p:nvSpPr>
            <p:cNvPr id="45076" name="Text Box 6">
              <a:extLst>
                <a:ext uri="{FF2B5EF4-FFF2-40B4-BE49-F238E27FC236}">
                  <a16:creationId xmlns:a16="http://schemas.microsoft.com/office/drawing/2014/main" id="{A6BB9AD3-4C3F-6D28-1314-82C78963D3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45077" name="Text Box 7">
              <a:extLst>
                <a:ext uri="{FF2B5EF4-FFF2-40B4-BE49-F238E27FC236}">
                  <a16:creationId xmlns:a16="http://schemas.microsoft.com/office/drawing/2014/main" id="{740DDE10-6B23-FB85-2C09-5A5905AF4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45078" name="Text Box 8">
              <a:extLst>
                <a:ext uri="{FF2B5EF4-FFF2-40B4-BE49-F238E27FC236}">
                  <a16:creationId xmlns:a16="http://schemas.microsoft.com/office/drawing/2014/main" id="{06430A87-1538-88EC-43BB-C4B94F2F4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45079" name="Text Box 9">
              <a:extLst>
                <a:ext uri="{FF2B5EF4-FFF2-40B4-BE49-F238E27FC236}">
                  <a16:creationId xmlns:a16="http://schemas.microsoft.com/office/drawing/2014/main" id="{B0F20A9E-8813-84A1-75B2-9B69ADDE42F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45080" name="Text Box 10">
              <a:extLst>
                <a:ext uri="{FF2B5EF4-FFF2-40B4-BE49-F238E27FC236}">
                  <a16:creationId xmlns:a16="http://schemas.microsoft.com/office/drawing/2014/main" id="{4381DBEE-52EF-A17E-0507-F6D76B9030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45081" name="Text Box 11">
              <a:extLst>
                <a:ext uri="{FF2B5EF4-FFF2-40B4-BE49-F238E27FC236}">
                  <a16:creationId xmlns:a16="http://schemas.microsoft.com/office/drawing/2014/main" id="{B87858BE-565E-5F56-C679-85499250B9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5082" name="Text Box 12">
              <a:extLst>
                <a:ext uri="{FF2B5EF4-FFF2-40B4-BE49-F238E27FC236}">
                  <a16:creationId xmlns:a16="http://schemas.microsoft.com/office/drawing/2014/main" id="{20905965-6C2D-BCEC-D6EE-D58B028DD7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5083" name="Text Box 13">
              <a:extLst>
                <a:ext uri="{FF2B5EF4-FFF2-40B4-BE49-F238E27FC236}">
                  <a16:creationId xmlns:a16="http://schemas.microsoft.com/office/drawing/2014/main" id="{2FEE1E3A-44AD-1E1B-1A44-CFAA1D306D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5084" name="Text Box 14">
              <a:extLst>
                <a:ext uri="{FF2B5EF4-FFF2-40B4-BE49-F238E27FC236}">
                  <a16:creationId xmlns:a16="http://schemas.microsoft.com/office/drawing/2014/main" id="{D23544FC-87D9-F050-1D70-AC1A8DA9AF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5085" name="Text Box 15">
              <a:extLst>
                <a:ext uri="{FF2B5EF4-FFF2-40B4-BE49-F238E27FC236}">
                  <a16:creationId xmlns:a16="http://schemas.microsoft.com/office/drawing/2014/main" id="{5458E269-CC11-3860-FD23-371D80B5A6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5086" name="Text Box 16">
              <a:extLst>
                <a:ext uri="{FF2B5EF4-FFF2-40B4-BE49-F238E27FC236}">
                  <a16:creationId xmlns:a16="http://schemas.microsoft.com/office/drawing/2014/main" id="{03C4C0CD-331D-01D0-3FD3-94184E5E1C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45063" name="Text Box 5">
            <a:extLst>
              <a:ext uri="{FF2B5EF4-FFF2-40B4-BE49-F238E27FC236}">
                <a16:creationId xmlns:a16="http://schemas.microsoft.com/office/drawing/2014/main" id="{182C6FCB-C742-AD08-8BA0-B1B0998C06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3224214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</a:t>
            </a:r>
            <a:endParaRPr lang="en-AU" altLang="en-US" sz="2000"/>
          </a:p>
        </p:txBody>
      </p:sp>
      <p:sp>
        <p:nvSpPr>
          <p:cNvPr id="45064" name="Text Box 6">
            <a:extLst>
              <a:ext uri="{FF2B5EF4-FFF2-40B4-BE49-F238E27FC236}">
                <a16:creationId xmlns:a16="http://schemas.microsoft.com/office/drawing/2014/main" id="{BF68F468-D0B3-7C0B-BC24-89095FAF62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224214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21</a:t>
            </a:r>
            <a:endParaRPr lang="en-AU" altLang="en-US" sz="2000"/>
          </a:p>
        </p:txBody>
      </p:sp>
      <p:sp>
        <p:nvSpPr>
          <p:cNvPr id="45065" name="Text Box 7">
            <a:extLst>
              <a:ext uri="{FF2B5EF4-FFF2-40B4-BE49-F238E27FC236}">
                <a16:creationId xmlns:a16="http://schemas.microsoft.com/office/drawing/2014/main" id="{365F6B78-665F-A307-9004-28D1A42C26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3224214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20</a:t>
            </a:r>
            <a:endParaRPr lang="en-AU" altLang="en-US" sz="2000"/>
          </a:p>
        </p:txBody>
      </p:sp>
      <p:sp>
        <p:nvSpPr>
          <p:cNvPr id="45066" name="Text Box 8">
            <a:extLst>
              <a:ext uri="{FF2B5EF4-FFF2-40B4-BE49-F238E27FC236}">
                <a16:creationId xmlns:a16="http://schemas.microsoft.com/office/drawing/2014/main" id="{62C6D863-036F-3B6C-CECB-DBDFEE4D9B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3224214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9</a:t>
            </a:r>
            <a:endParaRPr lang="en-AU" altLang="en-US" sz="2000"/>
          </a:p>
        </p:txBody>
      </p:sp>
      <p:sp>
        <p:nvSpPr>
          <p:cNvPr id="45067" name="Text Box 9">
            <a:extLst>
              <a:ext uri="{FF2B5EF4-FFF2-40B4-BE49-F238E27FC236}">
                <a16:creationId xmlns:a16="http://schemas.microsoft.com/office/drawing/2014/main" id="{2DD6E905-8E23-DFD2-58D6-9CDE3017AD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3224214"/>
            <a:ext cx="93662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</a:t>
            </a:r>
            <a:endParaRPr lang="en-AU" altLang="en-US" sz="2000"/>
          </a:p>
        </p:txBody>
      </p:sp>
      <p:sp>
        <p:nvSpPr>
          <p:cNvPr id="45068" name="Text Box 10">
            <a:extLst>
              <a:ext uri="{FF2B5EF4-FFF2-40B4-BE49-F238E27FC236}">
                <a16:creationId xmlns:a16="http://schemas.microsoft.com/office/drawing/2014/main" id="{20C78C80-F987-C996-2945-C63BBEBA29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3224214"/>
            <a:ext cx="1296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51</a:t>
            </a:r>
            <a:endParaRPr lang="en-AU" altLang="en-US" sz="2000"/>
          </a:p>
        </p:txBody>
      </p:sp>
      <p:sp>
        <p:nvSpPr>
          <p:cNvPr id="45069" name="Text Box 5">
            <a:extLst>
              <a:ext uri="{FF2B5EF4-FFF2-40B4-BE49-F238E27FC236}">
                <a16:creationId xmlns:a16="http://schemas.microsoft.com/office/drawing/2014/main" id="{0EF6FD3D-47FA-D97B-7793-BF4068986D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5914" y="3887789"/>
            <a:ext cx="1296987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0000000</a:t>
            </a:r>
            <a:endParaRPr lang="en-AU" altLang="en-US" sz="2000"/>
          </a:p>
        </p:txBody>
      </p:sp>
      <p:sp>
        <p:nvSpPr>
          <p:cNvPr id="45070" name="Text Box 6">
            <a:extLst>
              <a:ext uri="{FF2B5EF4-FFF2-40B4-BE49-F238E27FC236}">
                <a16:creationId xmlns:a16="http://schemas.microsoft.com/office/drawing/2014/main" id="{65BDCB45-6475-B99C-0FAB-F12F9F8B58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887789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10101</a:t>
            </a:r>
            <a:endParaRPr lang="en-AU" altLang="en-US" sz="2000"/>
          </a:p>
        </p:txBody>
      </p:sp>
      <p:sp>
        <p:nvSpPr>
          <p:cNvPr id="45071" name="Text Box 7">
            <a:extLst>
              <a:ext uri="{FF2B5EF4-FFF2-40B4-BE49-F238E27FC236}">
                <a16:creationId xmlns:a16="http://schemas.microsoft.com/office/drawing/2014/main" id="{FFB2D0AF-715E-ABB9-025B-B75107FF18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3887789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10100</a:t>
            </a:r>
            <a:endParaRPr lang="en-AU" altLang="en-US" sz="2000"/>
          </a:p>
        </p:txBody>
      </p:sp>
      <p:sp>
        <p:nvSpPr>
          <p:cNvPr id="45072" name="Text Box 8">
            <a:extLst>
              <a:ext uri="{FF2B5EF4-FFF2-40B4-BE49-F238E27FC236}">
                <a16:creationId xmlns:a16="http://schemas.microsoft.com/office/drawing/2014/main" id="{ED67F4D2-871F-0423-274D-266C07BDAB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3887789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01001</a:t>
            </a:r>
            <a:endParaRPr lang="en-AU" altLang="en-US" sz="2000"/>
          </a:p>
        </p:txBody>
      </p:sp>
      <p:sp>
        <p:nvSpPr>
          <p:cNvPr id="45073" name="Text Box 9">
            <a:extLst>
              <a:ext uri="{FF2B5EF4-FFF2-40B4-BE49-F238E27FC236}">
                <a16:creationId xmlns:a16="http://schemas.microsoft.com/office/drawing/2014/main" id="{9CD8950A-289F-F69A-9D1B-824D6D09D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3887789"/>
            <a:ext cx="93662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000</a:t>
            </a:r>
            <a:endParaRPr lang="en-AU" altLang="en-US" sz="2000"/>
          </a:p>
        </p:txBody>
      </p:sp>
      <p:sp>
        <p:nvSpPr>
          <p:cNvPr id="45074" name="Text Box 10">
            <a:extLst>
              <a:ext uri="{FF2B5EF4-FFF2-40B4-BE49-F238E27FC236}">
                <a16:creationId xmlns:a16="http://schemas.microsoft.com/office/drawing/2014/main" id="{C4C17ADF-10A5-5AF4-73D5-8A580DE62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3887789"/>
            <a:ext cx="1296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0110011</a:t>
            </a:r>
            <a:endParaRPr lang="en-AU" altLang="en-US" sz="20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6">
            <a:extLst>
              <a:ext uri="{FF2B5EF4-FFF2-40B4-BE49-F238E27FC236}">
                <a16:creationId xmlns:a16="http://schemas.microsoft.com/office/drawing/2014/main" id="{F665396C-A199-313B-1195-68A20075A5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RISC-V I-format Instructions</a:t>
            </a:r>
            <a:endParaRPr lang="en-AU" altLang="en-US"/>
          </a:p>
        </p:txBody>
      </p:sp>
      <p:sp>
        <p:nvSpPr>
          <p:cNvPr id="47108" name="Rectangle 27">
            <a:extLst>
              <a:ext uri="{FF2B5EF4-FFF2-40B4-BE49-F238E27FC236}">
                <a16:creationId xmlns:a16="http://schemas.microsoft.com/office/drawing/2014/main" id="{6C7D1B4A-BE63-D1F5-2A2E-A46C887B61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/>
              <a:t>Immediate arithmetic and load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rs1: source or base address register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immediate: constant operand, or offset added to base address</a:t>
            </a:r>
            <a:endParaRPr lang="en-US" altLang="en-US" sz="1600"/>
          </a:p>
          <a:p>
            <a:pPr lvl="2" eaLnBrk="1" hangingPunct="1">
              <a:lnSpc>
                <a:spcPct val="90000"/>
              </a:lnSpc>
            </a:pPr>
            <a:r>
              <a:rPr lang="en-US" altLang="en-US" sz="1800"/>
              <a:t>2s-complement, sign extended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i="1"/>
              <a:t>Design Principle 3:</a:t>
            </a:r>
            <a:r>
              <a:rPr lang="en-US" altLang="en-US" sz="2400"/>
              <a:t> Good design demands good compromises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Different formats complicate decoding, but allow 32-bit instructions uniformly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/>
              <a:t>Keep formats as similar as possible</a:t>
            </a:r>
            <a:endParaRPr lang="en-US" altLang="en-US"/>
          </a:p>
        </p:txBody>
      </p:sp>
      <p:grpSp>
        <p:nvGrpSpPr>
          <p:cNvPr id="47109" name="Group 1">
            <a:extLst>
              <a:ext uri="{FF2B5EF4-FFF2-40B4-BE49-F238E27FC236}">
                <a16:creationId xmlns:a16="http://schemas.microsoft.com/office/drawing/2014/main" id="{5B722B30-E3BE-4B37-F6E8-CC12E999418E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1392239"/>
            <a:ext cx="6772275" cy="776287"/>
            <a:chOff x="1331640" y="1391533"/>
            <a:chExt cx="6771978" cy="777698"/>
          </a:xfrm>
        </p:grpSpPr>
        <p:sp>
          <p:nvSpPr>
            <p:cNvPr id="47110" name="Text Box 5">
              <a:extLst>
                <a:ext uri="{FF2B5EF4-FFF2-40B4-BE49-F238E27FC236}">
                  <a16:creationId xmlns:a16="http://schemas.microsoft.com/office/drawing/2014/main" id="{D424876A-D31A-B24F-14E9-86ACEDB1C2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2374899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immediate</a:t>
              </a:r>
              <a:endParaRPr lang="en-AU" altLang="en-US" sz="2000"/>
            </a:p>
          </p:txBody>
        </p:sp>
        <p:sp>
          <p:nvSpPr>
            <p:cNvPr id="47111" name="Text Box 7">
              <a:extLst>
                <a:ext uri="{FF2B5EF4-FFF2-40B4-BE49-F238E27FC236}">
                  <a16:creationId xmlns:a16="http://schemas.microsoft.com/office/drawing/2014/main" id="{685FF28D-E751-9A6A-72C2-98B58515B6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47112" name="Text Box 8">
              <a:extLst>
                <a:ext uri="{FF2B5EF4-FFF2-40B4-BE49-F238E27FC236}">
                  <a16:creationId xmlns:a16="http://schemas.microsoft.com/office/drawing/2014/main" id="{6E313E7D-7A68-C1EF-168D-AF2FD0CBF3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rd</a:t>
              </a:r>
              <a:endParaRPr lang="en-AU" altLang="en-US" sz="2000"/>
            </a:p>
          </p:txBody>
        </p:sp>
        <p:sp>
          <p:nvSpPr>
            <p:cNvPr id="47113" name="Text Box 9">
              <a:extLst>
                <a:ext uri="{FF2B5EF4-FFF2-40B4-BE49-F238E27FC236}">
                  <a16:creationId xmlns:a16="http://schemas.microsoft.com/office/drawing/2014/main" id="{99739525-4B50-C951-DA6F-DD53A518CA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47114" name="Text Box 10">
              <a:extLst>
                <a:ext uri="{FF2B5EF4-FFF2-40B4-BE49-F238E27FC236}">
                  <a16:creationId xmlns:a16="http://schemas.microsoft.com/office/drawing/2014/main" id="{8AE649FB-E5C4-5BAE-5C75-363848CF4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47115" name="Text Box 11">
              <a:extLst>
                <a:ext uri="{FF2B5EF4-FFF2-40B4-BE49-F238E27FC236}">
                  <a16:creationId xmlns:a16="http://schemas.microsoft.com/office/drawing/2014/main" id="{5BE3B0FE-66B6-2947-5007-F8A2C936C6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78304" y="1828096"/>
              <a:ext cx="7889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12 bits</a:t>
              </a:r>
              <a:endParaRPr lang="en-AU" altLang="en-US" sz="1600"/>
            </a:p>
          </p:txBody>
        </p:sp>
        <p:sp>
          <p:nvSpPr>
            <p:cNvPr id="47116" name="Text Box 12">
              <a:extLst>
                <a:ext uri="{FF2B5EF4-FFF2-40B4-BE49-F238E27FC236}">
                  <a16:creationId xmlns:a16="http://schemas.microsoft.com/office/drawing/2014/main" id="{DE120055-F270-1B15-6142-E82A0659B0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7117" name="Text Box 14">
              <a:extLst>
                <a:ext uri="{FF2B5EF4-FFF2-40B4-BE49-F238E27FC236}">
                  <a16:creationId xmlns:a16="http://schemas.microsoft.com/office/drawing/2014/main" id="{D6F5D2EF-A7FF-4428-6743-9A096BBFE4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7118" name="Text Box 15">
              <a:extLst>
                <a:ext uri="{FF2B5EF4-FFF2-40B4-BE49-F238E27FC236}">
                  <a16:creationId xmlns:a16="http://schemas.microsoft.com/office/drawing/2014/main" id="{1434ACA0-4932-5B07-849E-AA9128EAEC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7119" name="Text Box 16">
              <a:extLst>
                <a:ext uri="{FF2B5EF4-FFF2-40B4-BE49-F238E27FC236}">
                  <a16:creationId xmlns:a16="http://schemas.microsoft.com/office/drawing/2014/main" id="{84E47730-2FC2-3C18-847A-99BE8A29E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6">
            <a:extLst>
              <a:ext uri="{FF2B5EF4-FFF2-40B4-BE49-F238E27FC236}">
                <a16:creationId xmlns:a16="http://schemas.microsoft.com/office/drawing/2014/main" id="{7B0BB430-CA41-C081-5EA9-19F4A70A91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RISC-V S-format Instructions</a:t>
            </a:r>
            <a:endParaRPr lang="en-AU" altLang="en-US" dirty="0"/>
          </a:p>
        </p:txBody>
      </p:sp>
      <p:sp>
        <p:nvSpPr>
          <p:cNvPr id="49156" name="Rectangle 27">
            <a:extLst>
              <a:ext uri="{FF2B5EF4-FFF2-40B4-BE49-F238E27FC236}">
                <a16:creationId xmlns:a16="http://schemas.microsoft.com/office/drawing/2014/main" id="{3B6D8F8E-E20A-365F-DF03-E146A5F106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Different immediate format for store instructions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rs1: base address register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rs2: source operand register number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immediate: offset added to base address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1800" dirty="0"/>
              <a:t>Split so that rs1 and rs2 fields always in the same place</a:t>
            </a:r>
          </a:p>
        </p:txBody>
      </p:sp>
      <p:grpSp>
        <p:nvGrpSpPr>
          <p:cNvPr id="49157" name="Group 15">
            <a:extLst>
              <a:ext uri="{FF2B5EF4-FFF2-40B4-BE49-F238E27FC236}">
                <a16:creationId xmlns:a16="http://schemas.microsoft.com/office/drawing/2014/main" id="{B0870D1D-CC1F-C671-08A8-81118F57F1C0}"/>
              </a:ext>
            </a:extLst>
          </p:cNvPr>
          <p:cNvGrpSpPr>
            <a:grpSpLocks/>
          </p:cNvGrpSpPr>
          <p:nvPr/>
        </p:nvGrpSpPr>
        <p:grpSpPr bwMode="auto">
          <a:xfrm>
            <a:off x="2855914" y="1392239"/>
            <a:ext cx="6772275" cy="776287"/>
            <a:chOff x="1331640" y="1391533"/>
            <a:chExt cx="6771978" cy="777698"/>
          </a:xfrm>
        </p:grpSpPr>
        <p:sp>
          <p:nvSpPr>
            <p:cNvPr id="49160" name="Text Box 5">
              <a:extLst>
                <a:ext uri="{FF2B5EF4-FFF2-40B4-BE49-F238E27FC236}">
                  <a16:creationId xmlns:a16="http://schemas.microsoft.com/office/drawing/2014/main" id="{E4689944-28C1-E2EE-497C-C8A6E034F6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1640" y="1391533"/>
              <a:ext cx="1295398" cy="421389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/>
                <a:t> </a:t>
              </a:r>
              <a:endParaRPr lang="en-AU" altLang="en-US" sz="2000"/>
            </a:p>
          </p:txBody>
        </p:sp>
        <p:sp>
          <p:nvSpPr>
            <p:cNvPr id="49161" name="Text Box 6">
              <a:extLst>
                <a:ext uri="{FF2B5EF4-FFF2-40B4-BE49-F238E27FC236}">
                  <a16:creationId xmlns:a16="http://schemas.microsoft.com/office/drawing/2014/main" id="{D1D3302E-D52C-2C02-D994-640B60CAA8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286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rs2</a:t>
              </a:r>
              <a:endParaRPr lang="en-AU" altLang="en-US" sz="2000"/>
            </a:p>
          </p:txBody>
        </p:sp>
        <p:sp>
          <p:nvSpPr>
            <p:cNvPr id="49162" name="Text Box 7">
              <a:extLst>
                <a:ext uri="{FF2B5EF4-FFF2-40B4-BE49-F238E27FC236}">
                  <a16:creationId xmlns:a16="http://schemas.microsoft.com/office/drawing/2014/main" id="{467662D2-1354-6D83-D54F-AD0470C60B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08127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rs1</a:t>
              </a:r>
              <a:endParaRPr lang="en-AU" altLang="en-US" sz="2000"/>
            </a:p>
          </p:txBody>
        </p:sp>
        <p:sp>
          <p:nvSpPr>
            <p:cNvPr id="49163" name="Text Box 8">
              <a:extLst>
                <a:ext uri="{FF2B5EF4-FFF2-40B4-BE49-F238E27FC236}">
                  <a16:creationId xmlns:a16="http://schemas.microsoft.com/office/drawing/2014/main" id="{CD8F5844-657E-CF93-9F0A-5ACFFE1C3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27131" y="1391533"/>
              <a:ext cx="1079500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 </a:t>
              </a:r>
              <a:endParaRPr lang="en-AU" altLang="en-US" sz="2000"/>
            </a:p>
          </p:txBody>
        </p:sp>
        <p:sp>
          <p:nvSpPr>
            <p:cNvPr id="49164" name="Text Box 9">
              <a:extLst>
                <a:ext uri="{FF2B5EF4-FFF2-40B4-BE49-F238E27FC236}">
                  <a16:creationId xmlns:a16="http://schemas.microsoft.com/office/drawing/2014/main" id="{C88613B9-5553-079A-53E2-24EC42A0F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89215" y="1391533"/>
              <a:ext cx="936328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funct3</a:t>
              </a:r>
              <a:endParaRPr lang="en-AU" altLang="en-US" sz="2000"/>
            </a:p>
          </p:txBody>
        </p:sp>
        <p:sp>
          <p:nvSpPr>
            <p:cNvPr id="49165" name="Text Box 10">
              <a:extLst>
                <a:ext uri="{FF2B5EF4-FFF2-40B4-BE49-F238E27FC236}">
                  <a16:creationId xmlns:a16="http://schemas.microsoft.com/office/drawing/2014/main" id="{DCE38B34-ACF1-5788-988F-57D49DA5B3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06631" y="1391533"/>
              <a:ext cx="1296987" cy="415925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000"/>
                <a:t>opcode</a:t>
              </a:r>
              <a:endParaRPr lang="en-AU" altLang="en-US" sz="2000"/>
            </a:p>
          </p:txBody>
        </p:sp>
        <p:sp>
          <p:nvSpPr>
            <p:cNvPr id="49166" name="Text Box 11">
              <a:extLst>
                <a:ext uri="{FF2B5EF4-FFF2-40B4-BE49-F238E27FC236}">
                  <a16:creationId xmlns:a16="http://schemas.microsoft.com/office/drawing/2014/main" id="{1EF5B423-3E35-6DFC-3F95-7FCCB17234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19522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9167" name="Text Box 12">
              <a:extLst>
                <a:ext uri="{FF2B5EF4-FFF2-40B4-BE49-F238E27FC236}">
                  <a16:creationId xmlns:a16="http://schemas.microsoft.com/office/drawing/2014/main" id="{4A7137BB-97DE-8194-8894-9816DC78E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4513" y="1830677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7 bits</a:t>
              </a:r>
              <a:endParaRPr lang="en-AU" altLang="en-US" sz="1600"/>
            </a:p>
          </p:txBody>
        </p:sp>
        <p:sp>
          <p:nvSpPr>
            <p:cNvPr id="49168" name="Text Box 13">
              <a:extLst>
                <a:ext uri="{FF2B5EF4-FFF2-40B4-BE49-F238E27FC236}">
                  <a16:creationId xmlns:a16="http://schemas.microsoft.com/office/drawing/2014/main" id="{9C255D21-2C45-219B-D050-1E07A827C2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6115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9169" name="Text Box 14">
              <a:extLst>
                <a:ext uri="{FF2B5EF4-FFF2-40B4-BE49-F238E27FC236}">
                  <a16:creationId xmlns:a16="http://schemas.microsoft.com/office/drawing/2014/main" id="{C0579D40-F1D4-67CE-181F-CFF8060C5B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7202" y="1828096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9170" name="Text Box 15">
              <a:extLst>
                <a:ext uri="{FF2B5EF4-FFF2-40B4-BE49-F238E27FC236}">
                  <a16:creationId xmlns:a16="http://schemas.microsoft.com/office/drawing/2014/main" id="{AD033364-A1A5-C915-A0AF-DADD1D8A3D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46206" y="1830677"/>
              <a:ext cx="66992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5 bits</a:t>
              </a:r>
              <a:endParaRPr lang="en-AU" altLang="en-US" sz="1600"/>
            </a:p>
          </p:txBody>
        </p:sp>
        <p:sp>
          <p:nvSpPr>
            <p:cNvPr id="49171" name="Text Box 16">
              <a:extLst>
                <a:ext uri="{FF2B5EF4-FFF2-40B4-BE49-F238E27FC236}">
                  <a16:creationId xmlns:a16="http://schemas.microsoft.com/office/drawing/2014/main" id="{A38BD954-6896-DAB6-26A4-F12EF34680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0900" y="1828096"/>
              <a:ext cx="67518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/>
                <a:t>3 bits</a:t>
              </a:r>
              <a:endParaRPr lang="en-AU" altLang="en-US" sz="1600"/>
            </a:p>
          </p:txBody>
        </p:sp>
      </p:grpSp>
      <p:sp>
        <p:nvSpPr>
          <p:cNvPr id="49158" name="TextBox 2">
            <a:extLst>
              <a:ext uri="{FF2B5EF4-FFF2-40B4-BE49-F238E27FC236}">
                <a16:creationId xmlns:a16="http://schemas.microsoft.com/office/drawing/2014/main" id="{D92B4499-187D-ABBC-D322-6389B170FC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3063" y="1414464"/>
            <a:ext cx="119360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 err="1"/>
              <a:t>imm</a:t>
            </a:r>
            <a:r>
              <a:rPr lang="en-US" altLang="en-US" sz="1800" dirty="0"/>
              <a:t>[11:5]</a:t>
            </a:r>
          </a:p>
        </p:txBody>
      </p:sp>
      <p:sp>
        <p:nvSpPr>
          <p:cNvPr id="49159" name="TextBox 37">
            <a:extLst>
              <a:ext uri="{FF2B5EF4-FFF2-40B4-BE49-F238E27FC236}">
                <a16:creationId xmlns:a16="http://schemas.microsoft.com/office/drawing/2014/main" id="{9094E257-6D88-1315-D722-8160B5BDCB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9639" y="1414464"/>
            <a:ext cx="10699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imm[4:0]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799" y="158116"/>
            <a:ext cx="5850890" cy="69596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The</a:t>
            </a:r>
            <a:r>
              <a:rPr spc="-35" dirty="0"/>
              <a:t> </a:t>
            </a:r>
            <a:r>
              <a:rPr dirty="0"/>
              <a:t>6</a:t>
            </a:r>
            <a:r>
              <a:rPr spc="-35" dirty="0"/>
              <a:t> </a:t>
            </a:r>
            <a:r>
              <a:rPr spc="-10" dirty="0"/>
              <a:t>Instruction</a:t>
            </a:r>
            <a:r>
              <a:rPr spc="-40" dirty="0"/>
              <a:t> </a:t>
            </a:r>
            <a:r>
              <a:rPr spc="-5" dirty="0"/>
              <a:t>Formats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24038" y="854076"/>
            <a:ext cx="8119109" cy="484441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73685" marR="786765" indent="-273685" algn="r">
              <a:spcBef>
                <a:spcPts val="695"/>
              </a:spcBef>
              <a:buFont typeface="Arial MT"/>
              <a:buChar char="•"/>
              <a:tabLst>
                <a:tab pos="273685" algn="l"/>
                <a:tab pos="1993900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R-Format:	</a:t>
            </a:r>
            <a:r>
              <a:rPr sz="3000" spc="-5" dirty="0">
                <a:latin typeface="Calibri"/>
                <a:cs typeface="Calibri"/>
              </a:rPr>
              <a:t>instructions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using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3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register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inputs</a:t>
            </a:r>
            <a:endParaRPr sz="3000">
              <a:latin typeface="Calibri"/>
              <a:cs typeface="Calibri"/>
            </a:endParaRPr>
          </a:p>
          <a:p>
            <a:pPr marL="320040" marR="690880" lvl="1" indent="-320040" algn="r">
              <a:spcBef>
                <a:spcPts val="595"/>
              </a:spcBef>
              <a:buFont typeface="Arial MT"/>
              <a:buChar char="–"/>
              <a:tabLst>
                <a:tab pos="320040" algn="l"/>
                <a:tab pos="3342640" algn="l"/>
              </a:tabLst>
            </a:pPr>
            <a:r>
              <a:rPr sz="3000" spc="-5" dirty="0">
                <a:latin typeface="Courier New"/>
                <a:cs typeface="Courier New"/>
              </a:rPr>
              <a:t>add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xor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mul	</a:t>
            </a:r>
            <a:r>
              <a:rPr sz="3000" spc="-5" dirty="0">
                <a:latin typeface="Calibri"/>
                <a:cs typeface="Calibri"/>
              </a:rPr>
              <a:t>—arithmetic/logical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ops</a:t>
            </a:r>
            <a:endParaRPr sz="3000">
              <a:latin typeface="Calibri"/>
              <a:cs typeface="Calibri"/>
            </a:endParaRPr>
          </a:p>
          <a:p>
            <a:pPr marL="273685" marR="720090" indent="-273685" algn="r">
              <a:spcBef>
                <a:spcPts val="605"/>
              </a:spcBef>
              <a:buFont typeface="Arial MT"/>
              <a:buChar char="•"/>
              <a:tabLst>
                <a:tab pos="273685" algn="l"/>
                <a:tab pos="1882775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I-Format:	</a:t>
            </a:r>
            <a:r>
              <a:rPr sz="3000" spc="-5" dirty="0">
                <a:latin typeface="Calibri"/>
                <a:cs typeface="Calibri"/>
              </a:rPr>
              <a:t>instructions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immediates,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loads</a:t>
            </a:r>
            <a:endParaRPr sz="3000">
              <a:latin typeface="Calibri"/>
              <a:cs typeface="Calibri"/>
            </a:endParaRPr>
          </a:p>
          <a:p>
            <a:pPr marL="685800" lvl="1" indent="-320675">
              <a:spcBef>
                <a:spcPts val="595"/>
              </a:spcBef>
              <a:buFont typeface="Arial MT"/>
              <a:buChar char="–"/>
              <a:tabLst>
                <a:tab pos="686435" algn="l"/>
              </a:tabLst>
            </a:pPr>
            <a:r>
              <a:rPr sz="3000" spc="-5" dirty="0">
                <a:latin typeface="Courier New"/>
                <a:cs typeface="Courier New"/>
              </a:rPr>
              <a:t>addi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lw,</a:t>
            </a:r>
            <a:r>
              <a:rPr sz="3000" spc="-30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jalr,</a:t>
            </a:r>
            <a:r>
              <a:rPr sz="3000" spc="-30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slli</a:t>
            </a:r>
            <a:endParaRPr sz="3000">
              <a:latin typeface="Courier New"/>
              <a:cs typeface="Courier New"/>
            </a:endParaRPr>
          </a:p>
          <a:p>
            <a:pPr marL="285750" indent="-273685">
              <a:spcBef>
                <a:spcPts val="605"/>
              </a:spcBef>
              <a:buFont typeface="Arial MT"/>
              <a:buChar char="•"/>
              <a:tabLst>
                <a:tab pos="286385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S-Format: </a:t>
            </a:r>
            <a:r>
              <a:rPr sz="3000" spc="-5" dirty="0">
                <a:latin typeface="Calibri"/>
                <a:cs typeface="Calibri"/>
              </a:rPr>
              <a:t>store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instructions:</a:t>
            </a:r>
            <a:r>
              <a:rPr sz="3000" spc="25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sw,</a:t>
            </a:r>
            <a:r>
              <a:rPr sz="3000" spc="-35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sb</a:t>
            </a:r>
            <a:endParaRPr sz="3000">
              <a:latin typeface="Courier New"/>
              <a:cs typeface="Courier New"/>
            </a:endParaRPr>
          </a:p>
          <a:p>
            <a:pPr marL="285750" indent="-273685">
              <a:spcBef>
                <a:spcPts val="675"/>
              </a:spcBef>
              <a:buFont typeface="Arial MT"/>
              <a:buChar char="•"/>
              <a:tabLst>
                <a:tab pos="286385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SB-Format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sz="3000" spc="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branc</a:t>
            </a:r>
            <a:r>
              <a:rPr sz="3000" dirty="0">
                <a:latin typeface="Calibri"/>
                <a:cs typeface="Calibri"/>
              </a:rPr>
              <a:t>h</a:t>
            </a:r>
            <a:r>
              <a:rPr sz="3000" spc="-5" dirty="0">
                <a:latin typeface="Calibri"/>
                <a:cs typeface="Calibri"/>
              </a:rPr>
              <a:t> instructions</a:t>
            </a:r>
            <a:r>
              <a:rPr sz="3000" dirty="0">
                <a:latin typeface="Calibri"/>
                <a:cs typeface="Calibri"/>
              </a:rPr>
              <a:t>:</a:t>
            </a:r>
            <a:r>
              <a:rPr sz="3000" spc="45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beq</a:t>
            </a:r>
            <a:r>
              <a:rPr sz="3000" dirty="0">
                <a:latin typeface="Courier New"/>
                <a:cs typeface="Courier New"/>
              </a:rPr>
              <a:t>,</a:t>
            </a:r>
            <a:r>
              <a:rPr sz="3000" spc="-1125" dirty="0">
                <a:latin typeface="Courier New"/>
                <a:cs typeface="Courier New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bge</a:t>
            </a:r>
            <a:endParaRPr sz="3000">
              <a:latin typeface="Courier New"/>
              <a:cs typeface="Courier New"/>
            </a:endParaRPr>
          </a:p>
          <a:p>
            <a:pPr marL="285750" indent="-273685">
              <a:spcBef>
                <a:spcPts val="675"/>
              </a:spcBef>
              <a:buFont typeface="Arial MT"/>
              <a:buChar char="•"/>
              <a:tabLst>
                <a:tab pos="286385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U-Format: </a:t>
            </a:r>
            <a:r>
              <a:rPr sz="3000" spc="-5" dirty="0">
                <a:latin typeface="Calibri"/>
                <a:cs typeface="Calibri"/>
              </a:rPr>
              <a:t>instructions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with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upper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immediates</a:t>
            </a:r>
            <a:endParaRPr sz="3000">
              <a:latin typeface="Calibri"/>
              <a:cs typeface="Calibri"/>
            </a:endParaRPr>
          </a:p>
          <a:p>
            <a:pPr marL="685800" lvl="1" indent="-320675">
              <a:spcBef>
                <a:spcPts val="595"/>
              </a:spcBef>
              <a:buFont typeface="Arial MT"/>
              <a:buChar char="–"/>
              <a:tabLst>
                <a:tab pos="686435" algn="l"/>
                <a:tab pos="3610610" algn="l"/>
              </a:tabLst>
            </a:pPr>
            <a:r>
              <a:rPr sz="3000" spc="-5" dirty="0">
                <a:latin typeface="Courier New"/>
                <a:cs typeface="Courier New"/>
              </a:rPr>
              <a:t>lui</a:t>
            </a:r>
            <a:r>
              <a:rPr sz="3000" spc="-5" dirty="0">
                <a:latin typeface="Calibri"/>
                <a:cs typeface="Calibri"/>
              </a:rPr>
              <a:t>,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auipc	</a:t>
            </a:r>
            <a:r>
              <a:rPr sz="3000" spc="-5" dirty="0">
                <a:latin typeface="Calibri"/>
                <a:cs typeface="Calibri"/>
              </a:rPr>
              <a:t>—upper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immediate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is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20-bits</a:t>
            </a:r>
            <a:endParaRPr sz="3000">
              <a:latin typeface="Calibri"/>
              <a:cs typeface="Calibri"/>
            </a:endParaRPr>
          </a:p>
          <a:p>
            <a:pPr marL="285750" indent="-273685">
              <a:spcBef>
                <a:spcPts val="605"/>
              </a:spcBef>
              <a:buFont typeface="Arial MT"/>
              <a:buChar char="•"/>
              <a:tabLst>
                <a:tab pos="286385" algn="l"/>
              </a:tabLst>
            </a:pP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UJ-Format: </a:t>
            </a:r>
            <a:r>
              <a:rPr sz="3000" spc="-5" dirty="0">
                <a:latin typeface="Calibri"/>
                <a:cs typeface="Calibri"/>
              </a:rPr>
              <a:t>jump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instructions:</a:t>
            </a:r>
            <a:r>
              <a:rPr sz="3000" spc="20" dirty="0">
                <a:latin typeface="Calibri"/>
                <a:cs typeface="Calibri"/>
              </a:rPr>
              <a:t> </a:t>
            </a:r>
            <a:r>
              <a:rPr sz="3000" spc="-5" dirty="0">
                <a:latin typeface="Courier New"/>
                <a:cs typeface="Courier New"/>
              </a:rPr>
              <a:t>jal</a:t>
            </a:r>
            <a:endParaRPr sz="3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3C1E1832-1D43-FABE-C9DF-6AEF44E3B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8897" y="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Operations</a:t>
            </a:r>
            <a:endParaRPr lang="en-AU" altLang="en-US" dirty="0"/>
          </a:p>
        </p:txBody>
      </p:sp>
      <p:sp>
        <p:nvSpPr>
          <p:cNvPr id="53252" name="Rectangle 3">
            <a:extLst>
              <a:ext uri="{FF2B5EF4-FFF2-40B4-BE49-F238E27FC236}">
                <a16:creationId xmlns:a16="http://schemas.microsoft.com/office/drawing/2014/main" id="{BC74EFF8-A52C-4356-1625-097CB3CCDA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8"/>
            <a:ext cx="8270875" cy="690562"/>
          </a:xfrm>
        </p:spPr>
        <p:txBody>
          <a:bodyPr/>
          <a:lstStyle/>
          <a:p>
            <a:pPr eaLnBrk="1" hangingPunct="1"/>
            <a:r>
              <a:rPr lang="en-US" altLang="en-US"/>
              <a:t>Instructions for bitwise manipulation</a:t>
            </a:r>
            <a:endParaRPr lang="en-AU" altLang="en-US"/>
          </a:p>
        </p:txBody>
      </p:sp>
      <p:graphicFrame>
        <p:nvGraphicFramePr>
          <p:cNvPr id="275503" name="Group 47">
            <a:extLst>
              <a:ext uri="{FF2B5EF4-FFF2-40B4-BE49-F238E27FC236}">
                <a16:creationId xmlns:a16="http://schemas.microsoft.com/office/drawing/2014/main" id="{A7247488-7336-7E23-3536-961E2B0BF8CF}"/>
              </a:ext>
            </a:extLst>
          </p:cNvPr>
          <p:cNvGraphicFramePr>
            <a:graphicFrameLocks noGrp="1"/>
          </p:cNvGraphicFramePr>
          <p:nvPr/>
        </p:nvGraphicFramePr>
        <p:xfrm>
          <a:off x="2566988" y="1773238"/>
          <a:ext cx="7200900" cy="3295652"/>
        </p:xfrm>
        <a:graphic>
          <a:graphicData uri="http://schemas.openxmlformats.org/drawingml/2006/table">
            <a:tbl>
              <a:tblPr/>
              <a:tblGrid>
                <a:gridCol w="2233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8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Operation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Java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RISC-V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Shift left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&lt;&lt;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&lt;&lt;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slli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Shift right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&gt;&gt;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&gt;&gt;&gt;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srli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Bit-by-bit AND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&amp;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&amp;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and,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andi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Bit-by-bit OR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|</a:t>
                      </a:r>
                      <a:endParaRPr kumimoji="0" lang="en-AU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or,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ori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Bit-by-bit XOR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^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^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xor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, 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Console" pitchFamily="49" charset="0"/>
                        </a:rPr>
                        <a:t>xori</a:t>
                      </a: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14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Bit-by-bit NOT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AU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~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AU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ucida Console" pitchFamily="4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3294" name="Rectangle 41">
            <a:extLst>
              <a:ext uri="{FF2B5EF4-FFF2-40B4-BE49-F238E27FC236}">
                <a16:creationId xmlns:a16="http://schemas.microsoft.com/office/drawing/2014/main" id="{3A837D9C-4377-A199-9486-67714DA13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5157789"/>
            <a:ext cx="7772400" cy="93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</a:pPr>
            <a:r>
              <a:rPr lang="en-US" altLang="en-US" dirty="0"/>
              <a:t>Useful for extracting and inserting groups of bits in a word</a:t>
            </a:r>
            <a:endParaRPr lang="en-AU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9" name="Rectangle 2">
            <a:extLst>
              <a:ext uri="{FF2B5EF4-FFF2-40B4-BE49-F238E27FC236}">
                <a16:creationId xmlns:a16="http://schemas.microsoft.com/office/drawing/2014/main" id="{098A1AA1-7A81-8803-18EC-9D25966D22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Shift Operations</a:t>
            </a:r>
            <a:endParaRPr lang="en-AU" altLang="en-US"/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84570409-A513-C800-04B5-FA1C596BEB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2349500"/>
            <a:ext cx="8270875" cy="3887788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immed: how many positions to shift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Shift left 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Shift left and fill with 0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slli</a:t>
            </a:r>
            <a:r>
              <a:rPr lang="en-US" altLang="en-US"/>
              <a:t> by </a:t>
            </a:r>
            <a:r>
              <a:rPr lang="en-US" altLang="en-US" i="1"/>
              <a:t>i</a:t>
            </a:r>
            <a:r>
              <a:rPr lang="en-US" altLang="en-US"/>
              <a:t> bits multiplies by 2</a:t>
            </a:r>
            <a:r>
              <a:rPr lang="en-US" altLang="en-US" i="1" baseline="30000"/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Shift right logical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Shift right and fill with 0 bits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>
                <a:latin typeface="Lucida Console" panose="020B0609040504020204" pitchFamily="49" charset="0"/>
              </a:rPr>
              <a:t>srli</a:t>
            </a:r>
            <a:r>
              <a:rPr lang="en-US" altLang="en-US"/>
              <a:t> by </a:t>
            </a:r>
            <a:r>
              <a:rPr lang="en-US" altLang="en-US" i="1"/>
              <a:t>i</a:t>
            </a:r>
            <a:r>
              <a:rPr lang="en-US" altLang="en-US"/>
              <a:t> bits divides by 2</a:t>
            </a:r>
            <a:r>
              <a:rPr lang="en-US" altLang="en-US" i="1" baseline="30000"/>
              <a:t>i</a:t>
            </a:r>
            <a:r>
              <a:rPr lang="en-US" altLang="en-US"/>
              <a:t> (unsigned only)</a:t>
            </a:r>
            <a:endParaRPr lang="en-AU" altLang="en-US"/>
          </a:p>
        </p:txBody>
      </p:sp>
      <p:sp>
        <p:nvSpPr>
          <p:cNvPr id="55301" name="Text Box 7">
            <a:extLst>
              <a:ext uri="{FF2B5EF4-FFF2-40B4-BE49-F238E27FC236}">
                <a16:creationId xmlns:a16="http://schemas.microsoft.com/office/drawing/2014/main" id="{439E479E-7EFD-CDC9-64AE-753774C54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1389064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rs1</a:t>
            </a:r>
            <a:endParaRPr lang="en-AU" altLang="en-US" sz="2000"/>
          </a:p>
        </p:txBody>
      </p:sp>
      <p:sp>
        <p:nvSpPr>
          <p:cNvPr id="55302" name="Text Box 8">
            <a:extLst>
              <a:ext uri="{FF2B5EF4-FFF2-40B4-BE49-F238E27FC236}">
                <a16:creationId xmlns:a16="http://schemas.microsoft.com/office/drawing/2014/main" id="{78EB58CB-9564-1E16-A08D-FD4597D059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1389064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rd</a:t>
            </a:r>
            <a:endParaRPr lang="en-AU" altLang="en-US" sz="2000"/>
          </a:p>
        </p:txBody>
      </p:sp>
      <p:sp>
        <p:nvSpPr>
          <p:cNvPr id="55303" name="Text Box 9">
            <a:extLst>
              <a:ext uri="{FF2B5EF4-FFF2-40B4-BE49-F238E27FC236}">
                <a16:creationId xmlns:a16="http://schemas.microsoft.com/office/drawing/2014/main" id="{162FCD46-1342-855C-6957-5692D10ED7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1389064"/>
            <a:ext cx="93662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funct3</a:t>
            </a:r>
            <a:endParaRPr lang="en-AU" altLang="en-US" sz="2000"/>
          </a:p>
        </p:txBody>
      </p:sp>
      <p:sp>
        <p:nvSpPr>
          <p:cNvPr id="55304" name="Text Box 10">
            <a:extLst>
              <a:ext uri="{FF2B5EF4-FFF2-40B4-BE49-F238E27FC236}">
                <a16:creationId xmlns:a16="http://schemas.microsoft.com/office/drawing/2014/main" id="{02EA10B7-4710-02C7-A800-DBA28114AD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1389064"/>
            <a:ext cx="1296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opcode</a:t>
            </a:r>
            <a:endParaRPr lang="en-AU" altLang="en-US" sz="2000"/>
          </a:p>
        </p:txBody>
      </p:sp>
      <p:sp>
        <p:nvSpPr>
          <p:cNvPr id="55305" name="Text Box 11">
            <a:extLst>
              <a:ext uri="{FF2B5EF4-FFF2-40B4-BE49-F238E27FC236}">
                <a16:creationId xmlns:a16="http://schemas.microsoft.com/office/drawing/2014/main" id="{6BBB8529-64CA-95F7-C893-55DAEBE89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9289" y="1828800"/>
            <a:ext cx="6762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6 bits</a:t>
            </a:r>
            <a:endParaRPr lang="en-AU" altLang="en-US" sz="1600"/>
          </a:p>
        </p:txBody>
      </p:sp>
      <p:sp>
        <p:nvSpPr>
          <p:cNvPr id="55306" name="Text Box 12">
            <a:extLst>
              <a:ext uri="{FF2B5EF4-FFF2-40B4-BE49-F238E27FC236}">
                <a16:creationId xmlns:a16="http://schemas.microsoft.com/office/drawing/2014/main" id="{E7C399E2-4571-D671-D6C3-9842BAD170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8539" y="1830389"/>
            <a:ext cx="674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7 bits</a:t>
            </a:r>
            <a:endParaRPr lang="en-AU" altLang="en-US" sz="1600"/>
          </a:p>
        </p:txBody>
      </p:sp>
      <p:sp>
        <p:nvSpPr>
          <p:cNvPr id="55307" name="Text Box 14">
            <a:extLst>
              <a:ext uri="{FF2B5EF4-FFF2-40B4-BE49-F238E27FC236}">
                <a16:creationId xmlns:a16="http://schemas.microsoft.com/office/drawing/2014/main" id="{E06E2D7F-F5AE-FC0F-2AC2-E7DE45FA4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51476" y="1828800"/>
            <a:ext cx="669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5 bits</a:t>
            </a:r>
            <a:endParaRPr lang="en-AU" altLang="en-US" sz="1600"/>
          </a:p>
        </p:txBody>
      </p:sp>
      <p:sp>
        <p:nvSpPr>
          <p:cNvPr id="55308" name="Text Box 15">
            <a:extLst>
              <a:ext uri="{FF2B5EF4-FFF2-40B4-BE49-F238E27FC236}">
                <a16:creationId xmlns:a16="http://schemas.microsoft.com/office/drawing/2014/main" id="{FFAA980D-116B-ACED-F62E-F0975347A1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776" y="1830388"/>
            <a:ext cx="669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5 bits</a:t>
            </a:r>
            <a:endParaRPr lang="en-AU" altLang="en-US" sz="1600"/>
          </a:p>
        </p:txBody>
      </p:sp>
      <p:sp>
        <p:nvSpPr>
          <p:cNvPr id="55309" name="Text Box 16">
            <a:extLst>
              <a:ext uri="{FF2B5EF4-FFF2-40B4-BE49-F238E27FC236}">
                <a16:creationId xmlns:a16="http://schemas.microsoft.com/office/drawing/2014/main" id="{3D0464AE-E701-32E4-2D14-393FFF1622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4925" y="1828800"/>
            <a:ext cx="6746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3 bits</a:t>
            </a:r>
            <a:endParaRPr lang="en-AU" altLang="en-US" sz="1600"/>
          </a:p>
        </p:txBody>
      </p:sp>
      <p:sp>
        <p:nvSpPr>
          <p:cNvPr id="55310" name="Text Box 7">
            <a:extLst>
              <a:ext uri="{FF2B5EF4-FFF2-40B4-BE49-F238E27FC236}">
                <a16:creationId xmlns:a16="http://schemas.microsoft.com/office/drawing/2014/main" id="{15ED0143-B820-4114-BD48-65D6688B8B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4176" y="1389064"/>
            <a:ext cx="1154113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funct6</a:t>
            </a:r>
            <a:endParaRPr lang="en-AU" altLang="en-US" sz="2000"/>
          </a:p>
        </p:txBody>
      </p:sp>
      <p:sp>
        <p:nvSpPr>
          <p:cNvPr id="55311" name="Text Box 7">
            <a:extLst>
              <a:ext uri="{FF2B5EF4-FFF2-40B4-BE49-F238E27FC236}">
                <a16:creationId xmlns:a16="http://schemas.microsoft.com/office/drawing/2014/main" id="{F5AB976B-017F-0556-38BC-096478D34C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8289" y="1389064"/>
            <a:ext cx="115252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immed</a:t>
            </a:r>
            <a:endParaRPr lang="en-AU" altLang="en-US" sz="2000"/>
          </a:p>
        </p:txBody>
      </p:sp>
      <p:sp>
        <p:nvSpPr>
          <p:cNvPr id="55312" name="Text Box 11">
            <a:extLst>
              <a:ext uri="{FF2B5EF4-FFF2-40B4-BE49-F238E27FC236}">
                <a16:creationId xmlns:a16="http://schemas.microsoft.com/office/drawing/2014/main" id="{3CC11D69-7D55-512E-0CC3-A37906780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9" y="1828800"/>
            <a:ext cx="67468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6 bits</a:t>
            </a:r>
            <a:endParaRPr lang="en-AU" altLang="en-US" sz="16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>
            <a:extLst>
              <a:ext uri="{FF2B5EF4-FFF2-40B4-BE49-F238E27FC236}">
                <a16:creationId xmlns:a16="http://schemas.microsoft.com/office/drawing/2014/main" id="{65F42C05-F3BB-0748-FF74-0F9B262149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Conditional Operations</a:t>
            </a:r>
            <a:endParaRPr lang="en-AU" altLang="en-US"/>
          </a:p>
        </p:txBody>
      </p:sp>
      <p:sp>
        <p:nvSpPr>
          <p:cNvPr id="63492" name="Rectangle 3">
            <a:extLst>
              <a:ext uri="{FF2B5EF4-FFF2-40B4-BE49-F238E27FC236}">
                <a16:creationId xmlns:a16="http://schemas.microsoft.com/office/drawing/2014/main" id="{135D8F99-C815-6090-C626-731A94C4E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/>
              <a:t>Branch to a labeled instruction if a condition is true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Otherwise, continue sequentially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err="1">
                <a:latin typeface="Lucida Console" panose="020B0609040504020204" pitchFamily="49" charset="0"/>
              </a:rPr>
              <a:t>beq</a:t>
            </a:r>
            <a:r>
              <a:rPr lang="en-US" altLang="en-US" dirty="0">
                <a:latin typeface="Lucida Console" panose="020B0609040504020204" pitchFamily="49" charset="0"/>
              </a:rPr>
              <a:t> rs1, rs2, L1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if (rs1 == rs2) branch to instruction labeled L1</a:t>
            </a:r>
          </a:p>
          <a:p>
            <a:pPr lvl="1" eaLnBrk="1" hangingPunct="1">
              <a:lnSpc>
                <a:spcPct val="90000"/>
              </a:lnSpc>
              <a:defRPr/>
            </a:pPr>
            <a:endParaRPr lang="en-US" altLang="en-US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err="1">
                <a:latin typeface="Lucida Console" panose="020B0609040504020204" pitchFamily="49" charset="0"/>
              </a:rPr>
              <a:t>bne</a:t>
            </a:r>
            <a:r>
              <a:rPr lang="en-US" altLang="en-US" dirty="0">
                <a:latin typeface="Lucida Console" panose="020B0609040504020204" pitchFamily="49" charset="0"/>
              </a:rPr>
              <a:t> rs1, rs2, L1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altLang="en-US" dirty="0"/>
              <a:t>if (rs1 != rs2) branch to instruction labeled L1</a:t>
            </a:r>
          </a:p>
          <a:p>
            <a:pPr marL="457200" lvl="1" indent="0">
              <a:buNone/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9AE78983-97C6-2865-4A9C-00786A1B53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7433" y="15875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Compiling If Statements</a:t>
            </a:r>
            <a:endParaRPr lang="en-AU" altLang="en-US" dirty="0"/>
          </a:p>
        </p:txBody>
      </p:sp>
      <p:sp>
        <p:nvSpPr>
          <p:cNvPr id="65540" name="Rectangle 3">
            <a:extLst>
              <a:ext uri="{FF2B5EF4-FFF2-40B4-BE49-F238E27FC236}">
                <a16:creationId xmlns:a16="http://schemas.microsoft.com/office/drawing/2014/main" id="{1DA20D8C-2BBD-B1A4-8235-E6C8E47710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8"/>
            <a:ext cx="8459787" cy="511175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C code: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if (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==j) f = </a:t>
            </a:r>
            <a:r>
              <a:rPr lang="en-US" altLang="en-US" dirty="0" err="1">
                <a:latin typeface="Lucida Console" panose="020B0609040504020204" pitchFamily="49" charset="0"/>
              </a:rPr>
              <a:t>g+h</a:t>
            </a:r>
            <a:r>
              <a:rPr lang="en-US" altLang="en-US" dirty="0">
                <a:latin typeface="Lucida Console" panose="020B0609040504020204" pitchFamily="49" charset="0"/>
              </a:rPr>
              <a:t>;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else f = g-h;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/>
              <a:t>f, g, … in x19, x20, …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Compiled RISC-V code:</a:t>
            </a:r>
          </a:p>
          <a:p>
            <a:pPr>
              <a:spcBef>
                <a:spcPts val="1200"/>
              </a:spcBef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      </a:t>
            </a:r>
            <a:r>
              <a:rPr lang="en-US" altLang="en-US" dirty="0" err="1">
                <a:latin typeface="Lucida Console" panose="020B0609040504020204" pitchFamily="49" charset="0"/>
              </a:rPr>
              <a:t>bne</a:t>
            </a:r>
            <a:r>
              <a:rPr lang="en-US" altLang="en-US" dirty="0">
                <a:latin typeface="Lucida Console" panose="020B0609040504020204" pitchFamily="49" charset="0"/>
              </a:rPr>
              <a:t> x22, x23, Else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    add x19, x20, x21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      </a:t>
            </a:r>
            <a:r>
              <a:rPr lang="en-US" altLang="en-US" dirty="0" err="1">
                <a:latin typeface="Lucida Console" panose="020B0609040504020204" pitchFamily="49" charset="0"/>
              </a:rPr>
              <a:t>beq</a:t>
            </a:r>
            <a:r>
              <a:rPr lang="en-US" altLang="en-US" dirty="0">
                <a:latin typeface="Lucida Console" panose="020B0609040504020204" pitchFamily="49" charset="0"/>
              </a:rPr>
              <a:t> x0,x0,Exit // unconditional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Else: sub x19, x20, x21</a:t>
            </a:r>
            <a:br>
              <a:rPr lang="en-US" altLang="en-US" dirty="0">
                <a:latin typeface="Lucida Console" panose="020B0609040504020204" pitchFamily="49" charset="0"/>
              </a:rPr>
            </a:br>
            <a:r>
              <a:rPr lang="en-US" altLang="en-US" dirty="0">
                <a:latin typeface="Lucida Console" panose="020B0609040504020204" pitchFamily="49" charset="0"/>
              </a:rPr>
              <a:t>Exit: …</a:t>
            </a:r>
            <a:endParaRPr lang="en-AU" altLang="en-US" dirty="0">
              <a:latin typeface="Lucida Console" panose="020B0609040504020204" pitchFamily="49" charset="0"/>
            </a:endParaRPr>
          </a:p>
        </p:txBody>
      </p:sp>
      <p:sp>
        <p:nvSpPr>
          <p:cNvPr id="65541" name="AutoShape 5">
            <a:extLst>
              <a:ext uri="{FF2B5EF4-FFF2-40B4-BE49-F238E27FC236}">
                <a16:creationId xmlns:a16="http://schemas.microsoft.com/office/drawing/2014/main" id="{3D154536-45A2-A591-2D4F-5FEC93FE4A7E}"/>
              </a:ext>
            </a:extLst>
          </p:cNvPr>
          <p:cNvSpPr>
            <a:spLocks/>
          </p:cNvSpPr>
          <p:nvPr/>
        </p:nvSpPr>
        <p:spPr bwMode="auto">
          <a:xfrm>
            <a:off x="5087938" y="5972176"/>
            <a:ext cx="3529012" cy="403225"/>
          </a:xfrm>
          <a:prstGeom prst="borderCallout1">
            <a:avLst>
              <a:gd name="adj1" fmla="val 28347"/>
              <a:gd name="adj2" fmla="val -2157"/>
              <a:gd name="adj3" fmla="val -34255"/>
              <a:gd name="adj4" fmla="val -23843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triangle" w="med" len="med"/>
          </a:ln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AU" altLang="en-US" sz="1800"/>
              <a:t>Assembler calculates addresses</a:t>
            </a:r>
          </a:p>
        </p:txBody>
      </p:sp>
      <p:pic>
        <p:nvPicPr>
          <p:cNvPr id="65542" name="Picture 6" descr="f02-09-P374493">
            <a:extLst>
              <a:ext uri="{FF2B5EF4-FFF2-40B4-BE49-F238E27FC236}">
                <a16:creationId xmlns:a16="http://schemas.microsoft.com/office/drawing/2014/main" id="{7682DD31-7099-8130-B26D-E9588CB9F7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8164" y="1484313"/>
            <a:ext cx="3468687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7" name="Rectangle 2">
            <a:extLst>
              <a:ext uri="{FF2B5EF4-FFF2-40B4-BE49-F238E27FC236}">
                <a16:creationId xmlns:a16="http://schemas.microsoft.com/office/drawing/2014/main" id="{E52D2231-E0F5-2E92-CEE8-756A9AB2F7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Compiling Loop Statements</a:t>
            </a:r>
            <a:endParaRPr lang="en-AU" altLang="en-US"/>
          </a:p>
        </p:txBody>
      </p:sp>
      <p:sp>
        <p:nvSpPr>
          <p:cNvPr id="67588" name="Rectangle 3">
            <a:extLst>
              <a:ext uri="{FF2B5EF4-FFF2-40B4-BE49-F238E27FC236}">
                <a16:creationId xmlns:a16="http://schemas.microsoft.com/office/drawing/2014/main" id="{04D341D4-63ED-5A38-98E8-F6B0AE7833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34884" y="1787918"/>
            <a:ext cx="10515600" cy="435133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dirty="0"/>
              <a:t>C code: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  <a:spcAft>
                <a:spcPct val="30000"/>
              </a:spcAft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while (save[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] == k) </a:t>
            </a:r>
            <a:r>
              <a:rPr lang="en-US" altLang="en-US" dirty="0" err="1">
                <a:latin typeface="Lucida Console" panose="020B0609040504020204" pitchFamily="49" charset="0"/>
              </a:rPr>
              <a:t>i</a:t>
            </a:r>
            <a:r>
              <a:rPr lang="en-US" altLang="en-US" dirty="0">
                <a:latin typeface="Lucida Console" panose="020B0609040504020204" pitchFamily="49" charset="0"/>
              </a:rPr>
              <a:t> += 1;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dirty="0" err="1"/>
              <a:t>i</a:t>
            </a:r>
            <a:r>
              <a:rPr lang="en-US" altLang="en-US" dirty="0"/>
              <a:t> in x22, k in x24, address of save in x25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dirty="0"/>
              <a:t>Compiled RISC-V code: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</a:t>
            </a:r>
            <a:r>
              <a:rPr lang="en-US" altLang="en-US" sz="2400" dirty="0">
                <a:latin typeface="Lucida Console" panose="020B0609040504020204" pitchFamily="49" charset="0"/>
              </a:rPr>
              <a:t>Loop: </a:t>
            </a:r>
            <a:r>
              <a:rPr lang="en-US" altLang="en-US" sz="2400" dirty="0" err="1">
                <a:latin typeface="Lucida Console" panose="020B0609040504020204" pitchFamily="49" charset="0"/>
              </a:rPr>
              <a:t>slli</a:t>
            </a:r>
            <a:r>
              <a:rPr lang="en-US" altLang="en-US" sz="2400" dirty="0">
                <a:latin typeface="Lucida Console" panose="020B0609040504020204" pitchFamily="49" charset="0"/>
              </a:rPr>
              <a:t> x10, x22, 3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 add  x10, x10, x25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ld</a:t>
            </a:r>
            <a:r>
              <a:rPr lang="en-US" altLang="en-US" sz="2400" dirty="0">
                <a:latin typeface="Lucida Console" panose="020B0609040504020204" pitchFamily="49" charset="0"/>
              </a:rPr>
              <a:t>   x9, 0(x10)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bne</a:t>
            </a:r>
            <a:r>
              <a:rPr lang="en-US" altLang="en-US" sz="2400" dirty="0">
                <a:latin typeface="Lucida Console" panose="020B0609040504020204" pitchFamily="49" charset="0"/>
              </a:rPr>
              <a:t>  x9, x24, Exit</a:t>
            </a:r>
          </a:p>
          <a:p>
            <a:pPr eaLnBrk="1" hangingPunct="1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en-US" sz="2400" dirty="0">
                <a:latin typeface="Lucida Console" panose="020B0609040504020204" pitchFamily="49" charset="0"/>
              </a:rPr>
              <a:t>  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400" dirty="0">
                <a:latin typeface="Lucida Console" panose="020B0609040504020204" pitchFamily="49" charset="0"/>
              </a:rPr>
              <a:t> x22, x22, 1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      </a:t>
            </a:r>
            <a:r>
              <a:rPr lang="en-US" altLang="en-US" sz="2400" dirty="0" err="1">
                <a:latin typeface="Lucida Console" panose="020B0609040504020204" pitchFamily="49" charset="0"/>
              </a:rPr>
              <a:t>beq</a:t>
            </a:r>
            <a:r>
              <a:rPr lang="en-US" altLang="en-US" sz="2400" dirty="0">
                <a:latin typeface="Lucida Console" panose="020B0609040504020204" pitchFamily="49" charset="0"/>
              </a:rPr>
              <a:t>  x0, x0, Loop</a:t>
            </a:r>
            <a:br>
              <a:rPr lang="en-US" altLang="en-US" sz="2400" dirty="0">
                <a:latin typeface="Lucida Console" panose="020B0609040504020204" pitchFamily="49" charset="0"/>
              </a:rPr>
            </a:br>
            <a:r>
              <a:rPr lang="en-US" altLang="en-US" sz="2400" dirty="0">
                <a:latin typeface="Lucida Console" panose="020B0609040504020204" pitchFamily="49" charset="0"/>
              </a:rPr>
              <a:t>Exit: …</a:t>
            </a:r>
            <a:endParaRPr lang="en-AU" altLang="en-US" sz="2400" dirty="0">
              <a:latin typeface="Lucida Console" panose="020B0609040504020204" pitchFamily="49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5F17794-AB3C-1A10-CEF7-7A1A9F99D1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501113"/>
              </p:ext>
            </p:extLst>
          </p:nvPr>
        </p:nvGraphicFramePr>
        <p:xfrm>
          <a:off x="6786317" y="3429000"/>
          <a:ext cx="5067300" cy="18059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04900">
                  <a:extLst>
                    <a:ext uri="{9D8B030D-6E8A-4147-A177-3AD203B41FA5}">
                      <a16:colId xmlns:a16="http://schemas.microsoft.com/office/drawing/2014/main" val="3248472258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82274017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316684166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 code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Simplified C code</a:t>
                      </a:r>
                      <a:endParaRPr lang="en-US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RISC-V code</a:t>
                      </a:r>
                      <a:endParaRPr lang="en-US" sz="1800" b="1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2876224"/>
                  </a:ext>
                </a:extLst>
              </a:tr>
              <a:tr h="11963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Arr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[</a:t>
                      </a: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] =5;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temp=5  </a:t>
                      </a:r>
                      <a:b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Offset = </a:t>
                      </a: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i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*8</a:t>
                      </a:r>
                      <a:b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addr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= </a:t>
                      </a: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Arr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+ offset  Memory[</a:t>
                      </a: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addr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] = temp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li a3, 5</a:t>
                      </a:r>
                      <a:b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it-IT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slli</a:t>
                      </a:r>
                      <a: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a4, a1, 3</a:t>
                      </a:r>
                      <a:b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it-IT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add</a:t>
                      </a:r>
                      <a: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a5, a4, a0</a:t>
                      </a:r>
                      <a:b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it-IT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sd</a:t>
                      </a:r>
                      <a:r>
                        <a:rPr lang="it-IT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a3, 0(a5)</a:t>
                      </a:r>
                      <a:endParaRPr lang="it-IT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960392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val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= </a:t>
                      </a:r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Arr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[7]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u="none" strike="noStrike" dirty="0" err="1">
                          <a:solidFill>
                            <a:schemeClr val="tx1"/>
                          </a:solidFill>
                          <a:effectLst/>
                        </a:rPr>
                        <a:t>ld</a:t>
                      </a: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 a2, 56(a0)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8178646"/>
                  </a:ext>
                </a:extLst>
              </a:tr>
            </a:tbl>
          </a:graphicData>
        </a:graphic>
      </p:graphicFrame>
      <p:sp>
        <p:nvSpPr>
          <p:cNvPr id="4" name="object 5">
            <a:extLst>
              <a:ext uri="{FF2B5EF4-FFF2-40B4-BE49-F238E27FC236}">
                <a16:creationId xmlns:a16="http://schemas.microsoft.com/office/drawing/2014/main" id="{639EE7D2-2B43-9327-9804-AB62C38C5BFB}"/>
              </a:ext>
            </a:extLst>
          </p:cNvPr>
          <p:cNvSpPr txBox="1"/>
          <p:nvPr/>
        </p:nvSpPr>
        <p:spPr>
          <a:xfrm>
            <a:off x="6786317" y="2764948"/>
            <a:ext cx="5067300" cy="5796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Assume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“long</a:t>
            </a:r>
            <a:r>
              <a:rPr sz="1800" spc="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int”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variables</a:t>
            </a:r>
            <a:r>
              <a:rPr sz="1800" spc="2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(8B). </a:t>
            </a:r>
            <a:endParaRPr lang="en-US" sz="1800" dirty="0">
              <a:solidFill>
                <a:srgbClr val="005392"/>
              </a:solidFill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Base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 address</a:t>
            </a:r>
            <a:r>
              <a:rPr sz="1800" spc="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of</a:t>
            </a:r>
            <a:r>
              <a:rPr sz="1800" spc="-1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Arr</a:t>
            </a:r>
            <a:r>
              <a:rPr sz="1800" spc="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in a0.</a:t>
            </a:r>
            <a:r>
              <a:rPr sz="1800" spc="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</a:t>
            </a:r>
            <a:r>
              <a:rPr sz="1800" spc="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in</a:t>
            </a:r>
            <a:r>
              <a:rPr sz="1800" spc="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a1.</a:t>
            </a:r>
            <a:r>
              <a:rPr sz="1800" spc="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val is</a:t>
            </a:r>
            <a:r>
              <a:rPr sz="1800" spc="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in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a2</a:t>
            </a:r>
            <a:endParaRPr sz="18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>
            <a:extLst>
              <a:ext uri="{FF2B5EF4-FFF2-40B4-BE49-F238E27FC236}">
                <a16:creationId xmlns:a16="http://schemas.microsoft.com/office/drawing/2014/main" id="{9268AC2B-9710-3FD5-6961-BB07049A7C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More Conditional Operations</a:t>
            </a:r>
            <a:endParaRPr lang="en-AU" altLang="en-US"/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E5D57AA-0FD8-0A49-B6E1-D6F24F6498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err="1">
                <a:latin typeface="Lucida Console" panose="020B0609040504020204" pitchFamily="49" charset="0"/>
              </a:rPr>
              <a:t>blt</a:t>
            </a:r>
            <a:r>
              <a:rPr lang="en-US" altLang="en-US" dirty="0">
                <a:latin typeface="Lucida Console" panose="020B0609040504020204" pitchFamily="49" charset="0"/>
              </a:rPr>
              <a:t> rs1, rs2, L1</a:t>
            </a:r>
          </a:p>
          <a:p>
            <a:pPr lvl="1" eaLnBrk="1" hangingPunct="1">
              <a:defRPr/>
            </a:pPr>
            <a:r>
              <a:rPr lang="en-US" altLang="en-US" dirty="0"/>
              <a:t>if (rs1 &lt; rs2) branch to instruction labeled L1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 err="1">
                <a:latin typeface="Lucida Console" panose="020B0609040504020204" pitchFamily="49" charset="0"/>
              </a:rPr>
              <a:t>bge</a:t>
            </a:r>
            <a:r>
              <a:rPr lang="en-US" altLang="en-US" dirty="0">
                <a:latin typeface="Lucida Console" panose="020B0609040504020204" pitchFamily="49" charset="0"/>
              </a:rPr>
              <a:t> rs1, rs2, L1</a:t>
            </a:r>
          </a:p>
          <a:p>
            <a:pPr lvl="1" eaLnBrk="1" hangingPunct="1">
              <a:defRPr/>
            </a:pPr>
            <a:r>
              <a:rPr lang="en-US" altLang="en-US" dirty="0"/>
              <a:t>if (rs1 &gt;= rs2) branch to instruction labeled L1</a:t>
            </a:r>
          </a:p>
          <a:p>
            <a:pPr eaLnBrk="1" hangingPunct="1">
              <a:defRPr/>
            </a:pPr>
            <a:r>
              <a:rPr lang="en-US" altLang="en-US" dirty="0"/>
              <a:t>Example</a:t>
            </a:r>
          </a:p>
          <a:p>
            <a:pPr lvl="1" eaLnBrk="1" hangingPunct="1">
              <a:defRPr/>
            </a:pPr>
            <a:r>
              <a:rPr lang="en-US" altLang="en-US" dirty="0"/>
              <a:t>if (a &gt; b) a += 1;</a:t>
            </a:r>
          </a:p>
          <a:p>
            <a:pPr lvl="1" eaLnBrk="1" hangingPunct="1">
              <a:defRPr/>
            </a:pPr>
            <a:r>
              <a:rPr lang="en-US" altLang="en-US" dirty="0"/>
              <a:t>a in x22, b in x23</a:t>
            </a:r>
          </a:p>
          <a:p>
            <a:pPr marL="514350" lvl="1" indent="0">
              <a:buNone/>
              <a:defRPr/>
            </a:pPr>
            <a:r>
              <a:rPr lang="en-US" altLang="en-US" sz="2200" dirty="0"/>
              <a:t>  </a:t>
            </a:r>
            <a:r>
              <a:rPr lang="en-US" altLang="en-US" sz="2200" dirty="0" err="1"/>
              <a:t>bge</a:t>
            </a:r>
            <a:r>
              <a:rPr lang="en-US" altLang="en-US" sz="2200" dirty="0"/>
              <a:t>  x23, x22, Exit       // branch if b &gt;= a</a:t>
            </a:r>
          </a:p>
          <a:p>
            <a:pPr marL="514350" lvl="1" indent="0">
              <a:buNone/>
              <a:defRPr/>
            </a:pPr>
            <a:r>
              <a:rPr lang="en-US" altLang="en-US" sz="2200" dirty="0"/>
              <a:t>  </a:t>
            </a:r>
            <a:r>
              <a:rPr lang="en-US" altLang="en-US" sz="2200" dirty="0" err="1"/>
              <a:t>addi</a:t>
            </a:r>
            <a:r>
              <a:rPr lang="en-US" altLang="en-US" sz="2200" dirty="0"/>
              <a:t> x22, x22, 1</a:t>
            </a:r>
          </a:p>
          <a:p>
            <a:pPr marL="514350" lvl="1" indent="-574675">
              <a:buNone/>
              <a:defRPr/>
            </a:pPr>
            <a:r>
              <a:rPr lang="en-US" altLang="en-US" sz="2200" dirty="0"/>
              <a:t>Exit: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5317" y="438099"/>
            <a:ext cx="53327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25" dirty="0"/>
              <a:t>Signed</a:t>
            </a:r>
            <a:r>
              <a:rPr spc="225" dirty="0"/>
              <a:t> </a:t>
            </a:r>
            <a:r>
              <a:rPr spc="220" dirty="0"/>
              <a:t>vs.</a:t>
            </a:r>
            <a:r>
              <a:rPr spc="225" dirty="0"/>
              <a:t> </a:t>
            </a:r>
            <a:r>
              <a:rPr spc="300" dirty="0"/>
              <a:t>Unsigned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416" y="1446987"/>
            <a:ext cx="10429875" cy="4962525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1300" marR="5080" indent="-228600">
              <a:lnSpc>
                <a:spcPct val="89500"/>
              </a:lnSpc>
              <a:spcBef>
                <a:spcPts val="45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27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number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stored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in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register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or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memory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address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333333"/>
                </a:solidFill>
                <a:latin typeface="Cambria"/>
                <a:cs typeface="Cambria"/>
              </a:rPr>
              <a:t>can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be </a:t>
            </a:r>
            <a:r>
              <a:rPr sz="2800" spc="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interpreted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signed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25" dirty="0">
                <a:solidFill>
                  <a:srgbClr val="333333"/>
                </a:solidFill>
                <a:latin typeface="Cambria"/>
                <a:cs typeface="Cambria"/>
              </a:rPr>
              <a:t>(2’s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complement)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or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unsigned.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Both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may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lead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different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decimal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333333"/>
                </a:solidFill>
                <a:latin typeface="Cambria"/>
                <a:cs typeface="Cambria"/>
              </a:rPr>
              <a:t>numbers.</a:t>
            </a:r>
            <a:endParaRPr sz="2800" dirty="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333333"/>
              </a:buClr>
              <a:buFont typeface="Arial MT"/>
              <a:buChar char="•"/>
            </a:pPr>
            <a:endParaRPr sz="3900" dirty="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buFont typeface="Arial MT"/>
              <a:buChar char="•"/>
              <a:tabLst>
                <a:tab pos="699135" algn="l"/>
              </a:tabLst>
            </a:pP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x22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=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1111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1111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1111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1111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=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65535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(unsigned),</a:t>
            </a:r>
            <a:r>
              <a:rPr sz="2800" spc="2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-1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rgbClr val="333333"/>
                </a:solidFill>
                <a:latin typeface="Cambria"/>
                <a:cs typeface="Cambria"/>
              </a:rPr>
              <a:t>(signed)</a:t>
            </a:r>
            <a:endParaRPr sz="2800" dirty="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15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x23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=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0000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0000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0000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0001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=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(signed),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(unsigned)</a:t>
            </a:r>
            <a:endParaRPr sz="2800" dirty="0">
              <a:latin typeface="Cambria"/>
              <a:cs typeface="Cambria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333333"/>
              </a:buClr>
              <a:buFont typeface="Arial MT"/>
              <a:buChar char="•"/>
            </a:pPr>
            <a:endParaRPr sz="4250" dirty="0">
              <a:latin typeface="Cambria"/>
              <a:cs typeface="Cambria"/>
            </a:endParaRPr>
          </a:p>
          <a:p>
            <a:pPr marL="698500" marR="381635" lvl="1" indent="-229235">
              <a:lnSpc>
                <a:spcPts val="3000"/>
              </a:lnSpc>
              <a:buFont typeface="Arial MT"/>
              <a:buChar char="•"/>
              <a:tabLst>
                <a:tab pos="699135" algn="l"/>
              </a:tabLst>
            </a:pPr>
            <a:r>
              <a:rPr sz="2800" spc="245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comparing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them,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result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depends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whether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you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0" dirty="0">
                <a:solidFill>
                  <a:srgbClr val="333333"/>
                </a:solidFill>
                <a:latin typeface="Cambria"/>
                <a:cs typeface="Cambria"/>
              </a:rPr>
              <a:t>take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them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as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signed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or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333333"/>
                </a:solidFill>
                <a:latin typeface="Cambria"/>
                <a:cs typeface="Cambria"/>
              </a:rPr>
              <a:t>unsigned.</a:t>
            </a:r>
            <a:endParaRPr sz="2800" dirty="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120"/>
              </a:spcBef>
              <a:buFont typeface="Arial MT"/>
              <a:buChar char="•"/>
              <a:tabLst>
                <a:tab pos="699135" algn="l"/>
                <a:tab pos="6122035" algn="l"/>
              </a:tabLst>
            </a:pPr>
            <a:r>
              <a:rPr sz="2800" spc="245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signed</a:t>
            </a:r>
            <a:r>
              <a:rPr sz="2800" spc="19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comparison,</a:t>
            </a:r>
            <a:r>
              <a:rPr sz="2800" spc="2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x22&lt;x23	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because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-1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&lt;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+1</a:t>
            </a:r>
            <a:endParaRPr sz="2800" dirty="0">
              <a:latin typeface="Cambria"/>
              <a:cs typeface="Cambria"/>
            </a:endParaRPr>
          </a:p>
          <a:p>
            <a:pPr marL="698500" lvl="1" indent="-229235">
              <a:lnSpc>
                <a:spcPct val="100000"/>
              </a:lnSpc>
              <a:spcBef>
                <a:spcPts val="165"/>
              </a:spcBef>
              <a:buFont typeface="Arial MT"/>
              <a:buChar char="•"/>
              <a:tabLst>
                <a:tab pos="699135" algn="l"/>
              </a:tabLst>
            </a:pPr>
            <a:r>
              <a:rPr sz="2800" spc="245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unsigned</a:t>
            </a:r>
            <a:r>
              <a:rPr sz="2800" spc="2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comparison,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x22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&gt;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x23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because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333333"/>
                </a:solidFill>
                <a:latin typeface="Cambria"/>
                <a:cs typeface="Cambria"/>
              </a:rPr>
              <a:t>+65535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&gt;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+1</a:t>
            </a:r>
            <a:endParaRPr sz="2800" dirty="0">
              <a:latin typeface="Cambria"/>
              <a:cs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D1AACB-2EE3-67E4-D18B-F7D95761722F}"/>
              </a:ext>
            </a:extLst>
          </p:cNvPr>
          <p:cNvSpPr/>
          <p:nvPr/>
        </p:nvSpPr>
        <p:spPr>
          <a:xfrm>
            <a:off x="2598821" y="3256547"/>
            <a:ext cx="232611" cy="393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5B6BA4-01EB-9B75-C8CE-A11AFB74F8D6}"/>
              </a:ext>
            </a:extLst>
          </p:cNvPr>
          <p:cNvSpPr/>
          <p:nvPr/>
        </p:nvSpPr>
        <p:spPr>
          <a:xfrm>
            <a:off x="2606843" y="3689682"/>
            <a:ext cx="232611" cy="393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BD3AF0B-8AD9-C655-C8AA-744AE19C4791}"/>
              </a:ext>
            </a:extLst>
          </p:cNvPr>
          <p:cNvCxnSpPr/>
          <p:nvPr/>
        </p:nvCxnSpPr>
        <p:spPr>
          <a:xfrm flipV="1">
            <a:off x="2831432" y="2855495"/>
            <a:ext cx="1130968" cy="3368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8BF88B9-9CC8-7D0A-41D7-FFD41F26F944}"/>
              </a:ext>
            </a:extLst>
          </p:cNvPr>
          <p:cNvSpPr txBox="1"/>
          <p:nvPr/>
        </p:nvSpPr>
        <p:spPr>
          <a:xfrm>
            <a:off x="3962399" y="2610216"/>
            <a:ext cx="6120063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MSB is </a:t>
            </a:r>
            <a:r>
              <a:rPr lang="en-US" b="1" dirty="0"/>
              <a:t>1</a:t>
            </a:r>
            <a:r>
              <a:rPr lang="en-US" dirty="0"/>
              <a:t>, it's a negative number, 2’s Compliment is Required </a:t>
            </a:r>
          </a:p>
          <a:p>
            <a:r>
              <a:rPr lang="en-US" dirty="0"/>
              <a:t>MSB is </a:t>
            </a:r>
            <a:r>
              <a:rPr lang="en-US" b="1" dirty="0"/>
              <a:t>0</a:t>
            </a:r>
            <a:r>
              <a:rPr lang="en-US" dirty="0"/>
              <a:t>, it's a positive number, No. can be directly used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416" y="666699"/>
            <a:ext cx="87845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325" dirty="0"/>
              <a:t>Signed</a:t>
            </a:r>
            <a:r>
              <a:rPr spc="245" dirty="0"/>
              <a:t> </a:t>
            </a:r>
            <a:r>
              <a:rPr spc="295" dirty="0"/>
              <a:t>and</a:t>
            </a:r>
            <a:r>
              <a:rPr spc="245" dirty="0"/>
              <a:t> </a:t>
            </a:r>
            <a:r>
              <a:rPr spc="265" dirty="0"/>
              <a:t>unsigned</a:t>
            </a:r>
            <a:r>
              <a:rPr spc="250" dirty="0"/>
              <a:t> </a:t>
            </a:r>
            <a:r>
              <a:rPr spc="240" dirty="0"/>
              <a:t>comparison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5416" y="1833498"/>
            <a:ext cx="9020175" cy="185420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1300" marR="5080" indent="-228600">
              <a:lnSpc>
                <a:spcPts val="2990"/>
              </a:lnSpc>
              <a:spcBef>
                <a:spcPts val="50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0" dirty="0">
                <a:solidFill>
                  <a:srgbClr val="333333"/>
                </a:solidFill>
                <a:latin typeface="Cambria"/>
                <a:cs typeface="Cambria"/>
              </a:rPr>
              <a:t>take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this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into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account,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75" dirty="0">
                <a:solidFill>
                  <a:srgbClr val="333333"/>
                </a:solidFill>
                <a:latin typeface="Cambria"/>
                <a:cs typeface="Cambria"/>
              </a:rPr>
              <a:t>RISC-V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has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two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variants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-5" dirty="0">
                <a:solidFill>
                  <a:srgbClr val="333333"/>
                </a:solidFill>
                <a:latin typeface="Cambria"/>
                <a:cs typeface="Cambria"/>
              </a:rPr>
              <a:t>of </a:t>
            </a:r>
            <a:r>
              <a:rPr sz="2800" spc="-60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333333"/>
                </a:solidFill>
                <a:latin typeface="Cambria"/>
                <a:cs typeface="Cambria"/>
              </a:rPr>
              <a:t>comparison/branching</a:t>
            </a:r>
            <a:r>
              <a:rPr sz="2800" spc="2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instructions.</a:t>
            </a: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Signed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comparison: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blt,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333333"/>
                </a:solidFill>
                <a:latin typeface="Cambria"/>
                <a:cs typeface="Cambria"/>
              </a:rPr>
              <a:t>bge</a:t>
            </a:r>
            <a:endParaRPr sz="2800">
              <a:latin typeface="Cambria"/>
              <a:cs typeface="Cambria"/>
            </a:endParaRPr>
          </a:p>
          <a:p>
            <a:pPr marL="241300" indent="-228600">
              <a:lnSpc>
                <a:spcPct val="100000"/>
              </a:lnSpc>
              <a:spcBef>
                <a:spcPts val="660"/>
              </a:spcBef>
              <a:buFont typeface="Arial MT"/>
              <a:buChar char="•"/>
              <a:tabLst>
                <a:tab pos="241300" algn="l"/>
              </a:tabLst>
            </a:pP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Unsigned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comparison: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bltu,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333333"/>
                </a:solidFill>
                <a:latin typeface="Cambria"/>
                <a:cs typeface="Cambria"/>
              </a:rPr>
              <a:t>bgeu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19726" y="279695"/>
            <a:ext cx="11353800" cy="1197957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12700" marR="5080">
              <a:lnSpc>
                <a:spcPts val="4300"/>
              </a:lnSpc>
              <a:spcBef>
                <a:spcPts val="655"/>
              </a:spcBef>
            </a:pPr>
            <a:r>
              <a:rPr spc="540" dirty="0"/>
              <a:t>SLT</a:t>
            </a:r>
            <a:r>
              <a:rPr lang="en-US" spc="540" dirty="0"/>
              <a:t>:SET On Less Than</a:t>
            </a:r>
            <a:r>
              <a:rPr spc="250" dirty="0"/>
              <a:t> </a:t>
            </a:r>
            <a:r>
              <a:rPr spc="200" dirty="0"/>
              <a:t>(signed</a:t>
            </a:r>
            <a:r>
              <a:rPr spc="240" dirty="0"/>
              <a:t> </a:t>
            </a:r>
            <a:r>
              <a:rPr spc="210" dirty="0"/>
              <a:t>comparison)</a:t>
            </a:r>
            <a:r>
              <a:rPr spc="260" dirty="0"/>
              <a:t> </a:t>
            </a:r>
            <a:r>
              <a:rPr spc="300" dirty="0"/>
              <a:t>and</a:t>
            </a:r>
            <a:r>
              <a:rPr spc="240" dirty="0"/>
              <a:t> </a:t>
            </a:r>
            <a:r>
              <a:rPr spc="555" dirty="0"/>
              <a:t>SLTU </a:t>
            </a:r>
            <a:r>
              <a:rPr spc="-865" dirty="0"/>
              <a:t> </a:t>
            </a:r>
            <a:r>
              <a:rPr spc="229" dirty="0"/>
              <a:t>(unsigned</a:t>
            </a:r>
            <a:r>
              <a:rPr spc="254" dirty="0"/>
              <a:t> </a:t>
            </a:r>
            <a:r>
              <a:rPr spc="210" dirty="0"/>
              <a:t>comparison)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18159" y="1629562"/>
            <a:ext cx="7073265" cy="1688464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Syntax: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slt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333333"/>
                </a:solidFill>
                <a:latin typeface="Cambria"/>
                <a:cs typeface="Cambria"/>
              </a:rPr>
              <a:t>rd,</a:t>
            </a:r>
            <a:r>
              <a:rPr sz="2800" spc="13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114" dirty="0">
                <a:solidFill>
                  <a:srgbClr val="333333"/>
                </a:solidFill>
                <a:latin typeface="Cambria"/>
                <a:cs typeface="Cambria"/>
              </a:rPr>
              <a:t>rs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1,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85" dirty="0">
                <a:solidFill>
                  <a:srgbClr val="333333"/>
                </a:solidFill>
                <a:latin typeface="Cambria"/>
                <a:cs typeface="Cambria"/>
              </a:rPr>
              <a:t>rs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2</a:t>
            </a:r>
            <a:endParaRPr sz="280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15"/>
              </a:spcBef>
            </a:pPr>
            <a:r>
              <a:rPr sz="2800" spc="310" dirty="0">
                <a:solidFill>
                  <a:srgbClr val="333333"/>
                </a:solidFill>
                <a:latin typeface="Cambria"/>
                <a:cs typeface="Cambria"/>
              </a:rPr>
              <a:t>SLT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writes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1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333333"/>
                </a:solidFill>
                <a:latin typeface="Cambria"/>
                <a:cs typeface="Cambria"/>
              </a:rPr>
              <a:t>rd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85" dirty="0">
                <a:solidFill>
                  <a:srgbClr val="333333"/>
                </a:solidFill>
                <a:latin typeface="Cambria"/>
                <a:cs typeface="Cambria"/>
              </a:rPr>
              <a:t>rs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1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215" dirty="0">
                <a:solidFill>
                  <a:srgbClr val="333333"/>
                </a:solidFill>
                <a:latin typeface="Cambria"/>
                <a:cs typeface="Cambria"/>
              </a:rPr>
              <a:t>&lt;</a:t>
            </a:r>
            <a:r>
              <a:rPr sz="2800" i="1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i="1" spc="114" dirty="0">
                <a:solidFill>
                  <a:srgbClr val="333333"/>
                </a:solidFill>
                <a:latin typeface="Cambria"/>
                <a:cs typeface="Cambria"/>
              </a:rPr>
              <a:t>rs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2,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333333"/>
                </a:solidFill>
                <a:latin typeface="Cambria"/>
                <a:cs typeface="Cambria"/>
              </a:rPr>
              <a:t>0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333333"/>
                </a:solidFill>
                <a:latin typeface="Cambria"/>
                <a:cs typeface="Cambria"/>
              </a:rPr>
              <a:t>otherwise. </a:t>
            </a:r>
            <a:r>
              <a:rPr sz="2800" spc="-60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Example</a:t>
            </a:r>
            <a:r>
              <a:rPr sz="28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" dirty="0">
                <a:solidFill>
                  <a:srgbClr val="333333"/>
                </a:solidFill>
                <a:latin typeface="Cambria"/>
                <a:cs typeface="Cambria"/>
              </a:rPr>
              <a:t>code: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899109" y="3437330"/>
          <a:ext cx="8162290" cy="1534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5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4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0804">
                <a:tc>
                  <a:txBody>
                    <a:bodyPr/>
                    <a:lstStyle/>
                    <a:p>
                      <a:pPr marL="31750">
                        <a:lnSpc>
                          <a:spcPts val="3315"/>
                        </a:lnSpc>
                      </a:pPr>
                      <a:r>
                        <a:rPr sz="2800" spc="11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li</a:t>
                      </a:r>
                      <a:r>
                        <a:rPr sz="2800" spc="13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x5,</a:t>
                      </a:r>
                      <a:r>
                        <a:rPr sz="2800" spc="13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39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3315"/>
                        </a:lnSpc>
                      </a:pPr>
                      <a:r>
                        <a:rPr sz="2800" spc="-18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#</a:t>
                      </a:r>
                      <a:r>
                        <a:rPr sz="2800" spc="12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i="1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2800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5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3315"/>
                        </a:lnSpc>
                      </a:pPr>
                      <a:r>
                        <a:rPr sz="2800" spc="-5" dirty="0">
                          <a:solidFill>
                            <a:srgbClr val="00AFEF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800" spc="2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39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823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spc="11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li</a:t>
                      </a:r>
                      <a:r>
                        <a:rPr sz="2800" spc="13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x3,</a:t>
                      </a:r>
                      <a:r>
                        <a:rPr sz="2800" spc="13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-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57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spc="-18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#</a:t>
                      </a:r>
                      <a:r>
                        <a:rPr sz="2800" spc="12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i="1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2800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3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2800" spc="-5" dirty="0">
                          <a:solidFill>
                            <a:srgbClr val="00AFEF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800" spc="20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spc="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57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58419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258">
                <a:tc>
                  <a:txBody>
                    <a:bodyPr/>
                    <a:lstStyle/>
                    <a:p>
                      <a:pPr marL="31750">
                        <a:lnSpc>
                          <a:spcPts val="3304"/>
                        </a:lnSpc>
                        <a:spcBef>
                          <a:spcPts val="455"/>
                        </a:spcBef>
                      </a:pPr>
                      <a:r>
                        <a:rPr sz="2800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slt</a:t>
                      </a:r>
                      <a:r>
                        <a:rPr sz="2800" spc="14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x1,</a:t>
                      </a:r>
                      <a:r>
                        <a:rPr sz="2800" spc="14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11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x5,</a:t>
                      </a:r>
                      <a:r>
                        <a:rPr sz="2800" spc="14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x3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R="90805" algn="r">
                        <a:lnSpc>
                          <a:spcPts val="3304"/>
                        </a:lnSpc>
                        <a:spcBef>
                          <a:spcPts val="455"/>
                        </a:spcBef>
                      </a:pPr>
                      <a:r>
                        <a:rPr sz="2800" spc="-18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#</a:t>
                      </a:r>
                      <a:r>
                        <a:rPr sz="2800" spc="12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i="1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2800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2800">
                        <a:latin typeface="Cambria"/>
                        <a:cs typeface="Cambria"/>
                      </a:endParaRPr>
                    </a:p>
                  </a:txBody>
                  <a:tcPr marL="0" marR="0" marT="57785" marB="0"/>
                </a:tc>
                <a:tc>
                  <a:txBody>
                    <a:bodyPr/>
                    <a:lstStyle/>
                    <a:p>
                      <a:pPr marL="98425">
                        <a:lnSpc>
                          <a:spcPts val="3304"/>
                        </a:lnSpc>
                        <a:spcBef>
                          <a:spcPts val="455"/>
                        </a:spcBef>
                      </a:pPr>
                      <a:r>
                        <a:rPr sz="2800" spc="-5" dirty="0">
                          <a:solidFill>
                            <a:srgbClr val="00AFEF"/>
                          </a:solidFill>
                          <a:latin typeface="Wingdings"/>
                          <a:cs typeface="Wingdings"/>
                        </a:rPr>
                        <a:t></a:t>
                      </a:r>
                      <a:r>
                        <a:rPr sz="2800" spc="55" dirty="0">
                          <a:solidFill>
                            <a:srgbClr val="00AFE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i="1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2800" spc="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5</a:t>
                      </a:r>
                      <a:r>
                        <a:rPr sz="2800" spc="15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i="1" spc="21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&lt;</a:t>
                      </a:r>
                      <a:r>
                        <a:rPr sz="2800" i="1" spc="15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i="1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</a:t>
                      </a:r>
                      <a:r>
                        <a:rPr sz="2800" spc="114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3.</a:t>
                      </a:r>
                      <a:r>
                        <a:rPr sz="2800" spc="15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16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So,</a:t>
                      </a:r>
                      <a:r>
                        <a:rPr sz="2800" spc="13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7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x1</a:t>
                      </a:r>
                      <a:r>
                        <a:rPr sz="2800" spc="15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8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will</a:t>
                      </a:r>
                      <a:r>
                        <a:rPr sz="2800" spc="17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50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store</a:t>
                      </a:r>
                      <a:r>
                        <a:rPr sz="2800" spc="14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sz="2800" spc="5" dirty="0">
                          <a:solidFill>
                            <a:srgbClr val="00AFEF"/>
                          </a:solidFill>
                          <a:latin typeface="Cambria"/>
                          <a:cs typeface="Cambria"/>
                        </a:rPr>
                        <a:t>1</a:t>
                      </a:r>
                      <a:endParaRPr sz="2800" dirty="0">
                        <a:latin typeface="Cambria"/>
                        <a:cs typeface="Cambria"/>
                      </a:endParaRPr>
                    </a:p>
                  </a:txBody>
                  <a:tcPr marL="0" marR="0" marT="5778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4054729" y="5533923"/>
            <a:ext cx="5419090" cy="1188720"/>
          </a:xfrm>
          <a:custGeom>
            <a:avLst/>
            <a:gdLst/>
            <a:ahLst/>
            <a:cxnLst/>
            <a:rect l="l" t="t" r="r" b="b"/>
            <a:pathLst>
              <a:path w="5419090" h="1188720">
                <a:moveTo>
                  <a:pt x="5418582" y="0"/>
                </a:moveTo>
                <a:lnTo>
                  <a:pt x="2709024" y="0"/>
                </a:lnTo>
                <a:lnTo>
                  <a:pt x="0" y="0"/>
                </a:lnTo>
                <a:lnTo>
                  <a:pt x="0" y="1188720"/>
                </a:lnTo>
                <a:lnTo>
                  <a:pt x="2708910" y="1188720"/>
                </a:lnTo>
                <a:lnTo>
                  <a:pt x="5418582" y="1188720"/>
                </a:lnTo>
                <a:lnTo>
                  <a:pt x="541858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048609" y="5156937"/>
          <a:ext cx="5418454" cy="15595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4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RISC-V</a:t>
                      </a:r>
                      <a:r>
                        <a:rPr sz="1800" b="1" spc="-4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45">
                <a:tc>
                  <a:txBody>
                    <a:bodyPr/>
                    <a:lstStyle/>
                    <a:p>
                      <a:pPr marL="1343025" marR="887730" indent="-18796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7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(a&lt;b) </a:t>
                      </a:r>
                      <a:r>
                        <a:rPr sz="1800" spc="-39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c=1;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16967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else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317625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c=0;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slt</a:t>
                      </a:r>
                      <a:r>
                        <a:rPr sz="1800" spc="-30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a2,</a:t>
                      </a:r>
                      <a:r>
                        <a:rPr sz="1800" spc="-1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a0,</a:t>
                      </a:r>
                      <a:r>
                        <a:rPr sz="1800" spc="-1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a1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77215" y="5646521"/>
            <a:ext cx="291782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Assuming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a/b/c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are</a:t>
            </a:r>
            <a:r>
              <a:rPr sz="18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stored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a0/a1/a2</a:t>
            </a:r>
            <a:r>
              <a:rPr sz="18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respectively.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5416" y="249427"/>
            <a:ext cx="884237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b="0" spc="-5" dirty="0">
                <a:solidFill>
                  <a:srgbClr val="000000"/>
                </a:solidFill>
                <a:latin typeface="Calibri Light"/>
                <a:cs typeface="Calibri Light"/>
              </a:rPr>
              <a:t>Comparison</a:t>
            </a:r>
            <a:r>
              <a:rPr sz="4400" b="0" spc="-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b="0" spc="-5" dirty="0">
                <a:solidFill>
                  <a:srgbClr val="000000"/>
                </a:solidFill>
                <a:latin typeface="Calibri Light"/>
                <a:cs typeface="Calibri Light"/>
              </a:rPr>
              <a:t>Instructions</a:t>
            </a:r>
            <a:r>
              <a:rPr sz="4400" b="0" spc="-3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b="0" spc="-80" dirty="0">
                <a:solidFill>
                  <a:srgbClr val="000000"/>
                </a:solidFill>
                <a:latin typeface="Calibri Light"/>
                <a:cs typeface="Calibri Light"/>
              </a:rPr>
              <a:t>(SLT</a:t>
            </a:r>
            <a:r>
              <a:rPr sz="4400" b="0" spc="-40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b="0" dirty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sz="4400" b="0" spc="-5" dirty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sz="4400" b="0" spc="-70" dirty="0">
                <a:solidFill>
                  <a:srgbClr val="000000"/>
                </a:solidFill>
                <a:latin typeface="Calibri Light"/>
                <a:cs typeface="Calibri Light"/>
              </a:rPr>
              <a:t>SLTU)</a:t>
            </a:r>
            <a:endParaRPr sz="44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50086" y="1810997"/>
            <a:ext cx="1877695" cy="195961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2600" dirty="0">
                <a:latin typeface="Calibri"/>
                <a:cs typeface="Calibri"/>
              </a:rPr>
              <a:t>li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a0,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-4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795655" algn="l"/>
              </a:tabLst>
            </a:pPr>
            <a:r>
              <a:rPr sz="2600" dirty="0">
                <a:latin typeface="Calibri"/>
                <a:cs typeface="Calibri"/>
              </a:rPr>
              <a:t>li a1,	3</a:t>
            </a:r>
            <a:endParaRPr sz="2600">
              <a:latin typeface="Calibri"/>
              <a:cs typeface="Calibri"/>
            </a:endParaRPr>
          </a:p>
          <a:p>
            <a:pPr marL="12700" marR="5080">
              <a:lnSpc>
                <a:spcPts val="3820"/>
              </a:lnSpc>
              <a:spcBef>
                <a:spcPts val="80"/>
              </a:spcBef>
            </a:pPr>
            <a:r>
              <a:rPr sz="2600" spc="-5" dirty="0">
                <a:latin typeface="Calibri"/>
                <a:cs typeface="Calibri"/>
              </a:rPr>
              <a:t>slt </a:t>
            </a:r>
            <a:r>
              <a:rPr sz="2600" dirty="0">
                <a:latin typeface="Calibri"/>
                <a:cs typeface="Calibri"/>
              </a:rPr>
              <a:t>a2, a0, a1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sltu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a3,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a0,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a1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22695" y="1810997"/>
            <a:ext cx="5805323" cy="19810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27100" marR="1028065" indent="-914400">
              <a:lnSpc>
                <a:spcPct val="121900"/>
              </a:lnSpc>
              <a:spcBef>
                <a:spcPts val="95"/>
              </a:spcBef>
              <a:tabLst>
                <a:tab pos="1124585" algn="l"/>
                <a:tab pos="2038985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</a:t>
            </a:r>
            <a:r>
              <a:rPr sz="2600" spc="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a0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0xFFFFFFFC</a:t>
            </a:r>
            <a:r>
              <a:rPr sz="2600" spc="-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(in</a:t>
            </a:r>
            <a:r>
              <a:rPr sz="2600" spc="-5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hex) </a:t>
            </a:r>
            <a:endParaRPr lang="en-US" sz="2600" spc="-15" dirty="0">
              <a:solidFill>
                <a:srgbClr val="4471C4"/>
              </a:solidFill>
              <a:latin typeface="Calibri"/>
              <a:cs typeface="Calibri"/>
            </a:endParaRPr>
          </a:p>
          <a:p>
            <a:pPr marL="927100" marR="1028065" indent="-914400">
              <a:lnSpc>
                <a:spcPct val="121900"/>
              </a:lnSpc>
              <a:spcBef>
                <a:spcPts val="95"/>
              </a:spcBef>
              <a:tabLst>
                <a:tab pos="1124585" algn="l"/>
                <a:tab pos="2038985" algn="l"/>
              </a:tabLst>
            </a:pPr>
            <a:r>
              <a:rPr sz="2600" spc="-57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</a:t>
            </a:r>
            <a:r>
              <a:rPr sz="2600" spc="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a1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spc="5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3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326390" algn="l"/>
                <a:tab pos="1198245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	a2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600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because</a:t>
            </a:r>
            <a:r>
              <a:rPr sz="2600" spc="-5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-4&lt;3</a:t>
            </a:r>
            <a:r>
              <a:rPr sz="2600" spc="-2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sz="2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true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1124585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 a3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because</a:t>
            </a:r>
            <a:r>
              <a:rPr sz="2600" spc="-6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0xFFFFFFFC</a:t>
            </a:r>
            <a:r>
              <a:rPr sz="2600" spc="-4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&lt;3</a:t>
            </a:r>
            <a:r>
              <a:rPr sz="2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lang="en-US" sz="2600" dirty="0">
                <a:solidFill>
                  <a:srgbClr val="4471C4"/>
                </a:solidFill>
                <a:latin typeface="Calibri"/>
                <a:cs typeface="Calibri"/>
              </a:rPr>
              <a:t> False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0086" y="4583404"/>
            <a:ext cx="1877695" cy="1961514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2600" dirty="0">
                <a:latin typeface="Calibri"/>
                <a:cs typeface="Calibri"/>
              </a:rPr>
              <a:t>li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a0,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4</a:t>
            </a: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2600" dirty="0">
                <a:latin typeface="Calibri"/>
                <a:cs typeface="Calibri"/>
              </a:rPr>
              <a:t>li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a1,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-3</a:t>
            </a:r>
            <a:endParaRPr sz="2600" dirty="0">
              <a:latin typeface="Calibri"/>
              <a:cs typeface="Calibri"/>
            </a:endParaRPr>
          </a:p>
          <a:p>
            <a:pPr marL="12700" marR="5080">
              <a:lnSpc>
                <a:spcPts val="3810"/>
              </a:lnSpc>
              <a:spcBef>
                <a:spcPts val="90"/>
              </a:spcBef>
            </a:pPr>
            <a:r>
              <a:rPr sz="2600" spc="-5" dirty="0">
                <a:latin typeface="Calibri"/>
                <a:cs typeface="Calibri"/>
              </a:rPr>
              <a:t>slt </a:t>
            </a:r>
            <a:r>
              <a:rPr sz="2600" dirty="0">
                <a:latin typeface="Calibri"/>
                <a:cs typeface="Calibri"/>
              </a:rPr>
              <a:t>a4, a0, a1 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sltu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a5,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a0,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822695" y="4512683"/>
            <a:ext cx="5760720" cy="1984518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1125220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 a0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4</a:t>
            </a:r>
            <a:endParaRPr lang="en-US"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  <a:tabLst>
                <a:tab pos="1125220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 a1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0xFFFFFFFD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125220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 a4</a:t>
            </a:r>
            <a:r>
              <a:rPr sz="2600" spc="-1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5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spc="5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</a:t>
            </a:r>
            <a:r>
              <a:rPr sz="2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because</a:t>
            </a:r>
            <a:r>
              <a:rPr sz="2600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4&lt;-3</a:t>
            </a:r>
            <a:r>
              <a:rPr sz="2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sz="2600" spc="-10" dirty="0">
                <a:solidFill>
                  <a:srgbClr val="4471C4"/>
                </a:solidFill>
                <a:latin typeface="Calibri"/>
                <a:cs typeface="Calibri"/>
              </a:rPr>
              <a:t> false</a:t>
            </a:r>
            <a:endParaRPr sz="2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125220" algn="l"/>
              </a:tabLst>
            </a:pP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# a5</a:t>
            </a:r>
            <a:r>
              <a:rPr sz="2600" spc="-1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Wingdings"/>
                <a:cs typeface="Wingdings"/>
              </a:rPr>
              <a:t></a:t>
            </a:r>
            <a:r>
              <a:rPr sz="2600" dirty="0">
                <a:solidFill>
                  <a:srgbClr val="4471C4"/>
                </a:solidFill>
                <a:latin typeface="Times New Roman"/>
                <a:cs typeface="Times New Roman"/>
              </a:rPr>
              <a:t>	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1</a:t>
            </a:r>
            <a:r>
              <a:rPr sz="2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4471C4"/>
                </a:solidFill>
                <a:latin typeface="Calibri"/>
                <a:cs typeface="Calibri"/>
              </a:rPr>
              <a:t>because</a:t>
            </a:r>
            <a:r>
              <a:rPr sz="2600" spc="-6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0x4&lt;</a:t>
            </a:r>
            <a:r>
              <a:rPr sz="2600" spc="-35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0xFFFFFFFD</a:t>
            </a:r>
            <a:r>
              <a:rPr sz="2600" spc="-3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is</a:t>
            </a:r>
            <a:r>
              <a:rPr sz="2600" spc="-20" dirty="0">
                <a:solidFill>
                  <a:srgbClr val="4471C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4471C4"/>
                </a:solidFill>
                <a:latin typeface="Calibri"/>
                <a:cs typeface="Calibri"/>
              </a:rPr>
              <a:t>true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381" y="1353058"/>
            <a:ext cx="11429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95" dirty="0">
                <a:latin typeface="Cambria"/>
                <a:cs typeface="Cambria"/>
              </a:rPr>
              <a:t>SLT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225" dirty="0">
                <a:latin typeface="Cambria"/>
                <a:cs typeface="Cambria"/>
              </a:rPr>
              <a:t>SLTU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perform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signed</a:t>
            </a:r>
            <a:r>
              <a:rPr sz="1800" spc="100" dirty="0">
                <a:latin typeface="Cambria"/>
                <a:cs typeface="Cambria"/>
              </a:rPr>
              <a:t> </a:t>
            </a:r>
            <a:r>
              <a:rPr sz="1800" spc="80" dirty="0">
                <a:latin typeface="Cambria"/>
                <a:cs typeface="Cambria"/>
              </a:rPr>
              <a:t>and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65" dirty="0">
                <a:latin typeface="Cambria"/>
                <a:cs typeface="Cambria"/>
              </a:rPr>
              <a:t>unsigned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compares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respectively,</a:t>
            </a:r>
            <a:r>
              <a:rPr sz="1800" spc="9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writing</a:t>
            </a:r>
            <a:r>
              <a:rPr sz="1800" spc="8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1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10" dirty="0">
                <a:latin typeface="Cambria"/>
                <a:cs typeface="Cambria"/>
              </a:rPr>
              <a:t>to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40" dirty="0">
                <a:latin typeface="Cambria"/>
                <a:cs typeface="Cambria"/>
              </a:rPr>
              <a:t>rd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spc="60" dirty="0">
                <a:latin typeface="Cambria"/>
                <a:cs typeface="Cambria"/>
              </a:rPr>
              <a:t>if</a:t>
            </a:r>
            <a:r>
              <a:rPr sz="1800" spc="95" dirty="0">
                <a:latin typeface="Cambria"/>
                <a:cs typeface="Cambria"/>
              </a:rPr>
              <a:t> </a:t>
            </a:r>
            <a:r>
              <a:rPr sz="1800" spc="35" dirty="0">
                <a:latin typeface="Cambria"/>
                <a:cs typeface="Cambria"/>
              </a:rPr>
              <a:t>rs1</a:t>
            </a:r>
            <a:r>
              <a:rPr sz="1800" spc="105" dirty="0">
                <a:latin typeface="Cambria"/>
                <a:cs typeface="Cambria"/>
              </a:rPr>
              <a:t> </a:t>
            </a:r>
            <a:r>
              <a:rPr sz="1800" spc="90" dirty="0">
                <a:latin typeface="Cambria"/>
                <a:cs typeface="Cambria"/>
              </a:rPr>
              <a:t>&lt;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55" dirty="0">
                <a:latin typeface="Cambria"/>
                <a:cs typeface="Cambria"/>
              </a:rPr>
              <a:t>rs2,</a:t>
            </a:r>
            <a:r>
              <a:rPr sz="1800" spc="1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0</a:t>
            </a:r>
            <a:r>
              <a:rPr sz="1800" spc="110" dirty="0">
                <a:latin typeface="Cambria"/>
                <a:cs typeface="Cambria"/>
              </a:rPr>
              <a:t> </a:t>
            </a:r>
            <a:r>
              <a:rPr sz="1800" spc="45" dirty="0">
                <a:latin typeface="Cambria"/>
                <a:cs typeface="Cambria"/>
              </a:rPr>
              <a:t>otherwise.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5416" y="666699"/>
            <a:ext cx="41694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280" dirty="0"/>
              <a:t>Variants</a:t>
            </a:r>
            <a:r>
              <a:rPr spc="229" dirty="0"/>
              <a:t> </a:t>
            </a:r>
            <a:r>
              <a:rPr spc="204" dirty="0"/>
              <a:t>of</a:t>
            </a:r>
            <a:r>
              <a:rPr spc="229" dirty="0"/>
              <a:t> </a:t>
            </a:r>
            <a:r>
              <a:rPr spc="535" dirty="0"/>
              <a:t>SLT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44016" y="1768881"/>
            <a:ext cx="4617720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0000"/>
              </a:lnSpc>
              <a:spcBef>
                <a:spcPts val="100"/>
              </a:spcBef>
            </a:pPr>
            <a:r>
              <a:rPr sz="2800" spc="270" dirty="0">
                <a:solidFill>
                  <a:srgbClr val="333333"/>
                </a:solidFill>
                <a:latin typeface="Cambria"/>
                <a:cs typeface="Cambria"/>
              </a:rPr>
              <a:t>SEQZ: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If 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Equal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Zero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0" dirty="0">
                <a:solidFill>
                  <a:srgbClr val="333333"/>
                </a:solidFill>
                <a:latin typeface="Cambria"/>
                <a:cs typeface="Cambria"/>
              </a:rPr>
              <a:t>.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Example: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Cambria"/>
                <a:cs typeface="Cambria"/>
              </a:rPr>
              <a:t>seqz</a:t>
            </a:r>
            <a:r>
              <a:rPr sz="2800" spc="15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06FC0"/>
                </a:solidFill>
                <a:latin typeface="Cambria"/>
                <a:cs typeface="Cambria"/>
              </a:rPr>
              <a:t>x6,</a:t>
            </a:r>
            <a:r>
              <a:rPr sz="2800" spc="150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6FC0"/>
                </a:solidFill>
                <a:latin typeface="Cambria"/>
                <a:cs typeface="Cambria"/>
              </a:rPr>
              <a:t>x5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26855" y="1897506"/>
            <a:ext cx="32740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Syntax:</a:t>
            </a:r>
            <a:r>
              <a:rPr sz="2800" spc="12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6FC0"/>
                </a:solidFill>
                <a:latin typeface="Cambria"/>
                <a:cs typeface="Cambria"/>
              </a:rPr>
              <a:t>seqz</a:t>
            </a:r>
            <a:r>
              <a:rPr sz="2800" spc="1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i="1" spc="175" dirty="0">
                <a:solidFill>
                  <a:srgbClr val="006FC0"/>
                </a:solidFill>
                <a:latin typeface="Cambria"/>
                <a:cs typeface="Cambria"/>
              </a:rPr>
              <a:t>rd</a:t>
            </a:r>
            <a:r>
              <a:rPr sz="2800" spc="175" dirty="0">
                <a:solidFill>
                  <a:srgbClr val="006FC0"/>
                </a:solidFill>
                <a:latin typeface="Cambria"/>
                <a:cs typeface="Cambria"/>
              </a:rPr>
              <a:t>,</a:t>
            </a:r>
            <a:r>
              <a:rPr sz="2800" spc="145" dirty="0">
                <a:solidFill>
                  <a:srgbClr val="006FC0"/>
                </a:solidFill>
                <a:latin typeface="Cambria"/>
                <a:cs typeface="Cambria"/>
              </a:rPr>
              <a:t> </a:t>
            </a:r>
            <a:r>
              <a:rPr sz="2800" i="1" spc="85" dirty="0">
                <a:solidFill>
                  <a:srgbClr val="006FC0"/>
                </a:solidFill>
                <a:latin typeface="Cambria"/>
                <a:cs typeface="Cambria"/>
              </a:rPr>
              <a:t>rs</a:t>
            </a:r>
            <a:r>
              <a:rPr sz="2800" spc="85" dirty="0">
                <a:solidFill>
                  <a:srgbClr val="006FC0"/>
                </a:solidFill>
                <a:latin typeface="Cambria"/>
                <a:cs typeface="Cambria"/>
              </a:rPr>
              <a:t>1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4016" y="3005150"/>
            <a:ext cx="96367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x5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was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333333"/>
                </a:solidFill>
                <a:latin typeface="Cambria"/>
                <a:cs typeface="Cambria"/>
              </a:rPr>
              <a:t>zero,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then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x6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333333"/>
                </a:solidFill>
                <a:latin typeface="Cambria"/>
                <a:cs typeface="Cambria"/>
              </a:rPr>
              <a:t>1.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333333"/>
                </a:solidFill>
                <a:latin typeface="Cambria"/>
                <a:cs typeface="Cambria"/>
              </a:rPr>
              <a:t>Otherwise,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333333"/>
                </a:solidFill>
                <a:latin typeface="Cambria"/>
                <a:cs typeface="Cambria"/>
              </a:rPr>
              <a:t>x6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is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333333"/>
                </a:solidFill>
                <a:latin typeface="Cambria"/>
                <a:cs typeface="Cambria"/>
              </a:rPr>
              <a:t>0.</a:t>
            </a:r>
            <a:endParaRPr sz="28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4016" y="3986174"/>
            <a:ext cx="5253355" cy="22409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Similar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333333"/>
                </a:solidFill>
                <a:latin typeface="Cambria"/>
                <a:cs typeface="Cambria"/>
              </a:rPr>
              <a:t>instructions:</a:t>
            </a:r>
            <a:endParaRPr sz="2800">
              <a:latin typeface="Cambria"/>
              <a:cs typeface="Cambria"/>
            </a:endParaRPr>
          </a:p>
          <a:p>
            <a:pPr marL="12700" marR="5080">
              <a:lnSpc>
                <a:spcPct val="129600"/>
              </a:lnSpc>
              <a:spcBef>
                <a:spcPts val="5"/>
              </a:spcBef>
            </a:pPr>
            <a:r>
              <a:rPr sz="2800" spc="254" dirty="0">
                <a:solidFill>
                  <a:srgbClr val="333333"/>
                </a:solidFill>
                <a:latin typeface="Cambria"/>
                <a:cs typeface="Cambria"/>
              </a:rPr>
              <a:t>SGTZ: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5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2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If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45" dirty="0">
                <a:solidFill>
                  <a:srgbClr val="333333"/>
                </a:solidFill>
                <a:latin typeface="Cambria"/>
                <a:cs typeface="Cambria"/>
              </a:rPr>
              <a:t>Greater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Than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Zero </a:t>
            </a:r>
            <a:r>
              <a:rPr sz="28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235" dirty="0">
                <a:solidFill>
                  <a:srgbClr val="333333"/>
                </a:solidFill>
                <a:latin typeface="Cambria"/>
                <a:cs typeface="Cambria"/>
              </a:rPr>
              <a:t>SLTZ: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If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Less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Than</a:t>
            </a:r>
            <a:r>
              <a:rPr sz="28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Zero</a:t>
            </a:r>
            <a:endParaRPr sz="2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sz="2800" spc="280" dirty="0">
                <a:solidFill>
                  <a:srgbClr val="333333"/>
                </a:solidFill>
                <a:latin typeface="Cambria"/>
                <a:cs typeface="Cambria"/>
              </a:rPr>
              <a:t>SNEZ:</a:t>
            </a:r>
            <a:r>
              <a:rPr sz="28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80" dirty="0">
                <a:solidFill>
                  <a:srgbClr val="333333"/>
                </a:solidFill>
                <a:latin typeface="Cambria"/>
                <a:cs typeface="Cambria"/>
              </a:rPr>
              <a:t>Set</a:t>
            </a:r>
            <a:r>
              <a:rPr sz="2800" spc="13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55" dirty="0">
                <a:solidFill>
                  <a:srgbClr val="333333"/>
                </a:solidFill>
                <a:latin typeface="Cambria"/>
                <a:cs typeface="Cambria"/>
              </a:rPr>
              <a:t>If </a:t>
            </a:r>
            <a:r>
              <a:rPr sz="2800" spc="140" dirty="0">
                <a:solidFill>
                  <a:srgbClr val="333333"/>
                </a:solidFill>
                <a:latin typeface="Cambria"/>
                <a:cs typeface="Cambria"/>
              </a:rPr>
              <a:t>Not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175" dirty="0">
                <a:solidFill>
                  <a:srgbClr val="333333"/>
                </a:solidFill>
                <a:latin typeface="Cambria"/>
                <a:cs typeface="Cambria"/>
              </a:rPr>
              <a:t>Equal </a:t>
            </a:r>
            <a:r>
              <a:rPr sz="2800" spc="20" dirty="0">
                <a:solidFill>
                  <a:srgbClr val="333333"/>
                </a:solidFill>
                <a:latin typeface="Cambria"/>
                <a:cs typeface="Cambria"/>
              </a:rPr>
              <a:t>to</a:t>
            </a:r>
            <a:r>
              <a:rPr sz="28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333333"/>
                </a:solidFill>
                <a:latin typeface="Cambria"/>
                <a:cs typeface="Cambria"/>
              </a:rPr>
              <a:t>Zero</a:t>
            </a:r>
            <a:endParaRPr sz="2800">
              <a:latin typeface="Cambria"/>
              <a:cs typeface="Cambria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767297" y="4525621"/>
          <a:ext cx="5418454" cy="15594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7089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</a:t>
                      </a:r>
                      <a:r>
                        <a:rPr sz="1800" b="1" spc="-4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893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RISC-V</a:t>
                      </a:r>
                      <a:r>
                        <a:rPr sz="1800" b="1" spc="-40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4471C4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12700">
                      <a:solidFill>
                        <a:srgbClr val="4471C4"/>
                      </a:solidFill>
                      <a:prstDash val="solid"/>
                    </a:lnT>
                    <a:lnB w="53975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45">
                <a:tc>
                  <a:txBody>
                    <a:bodyPr/>
                    <a:lstStyle/>
                    <a:p>
                      <a:pPr marL="1343660" marR="831850" indent="-243204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if</a:t>
                      </a:r>
                      <a:r>
                        <a:rPr sz="1800" spc="-6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(a==0) </a:t>
                      </a:r>
                      <a:r>
                        <a:rPr sz="1800" spc="-39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c=1;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169670">
                        <a:lnSpc>
                          <a:spcPct val="100000"/>
                        </a:lnSpc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else</a:t>
                      </a:r>
                      <a:endParaRPr sz="1800">
                        <a:latin typeface="Calibri"/>
                        <a:cs typeface="Calibri"/>
                      </a:endParaRPr>
                    </a:p>
                    <a:p>
                      <a:pPr marL="1317625">
                        <a:lnSpc>
                          <a:spcPct val="100000"/>
                        </a:lnSpc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c=0;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51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seqz</a:t>
                      </a:r>
                      <a:r>
                        <a:rPr sz="1800" spc="-2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a2,</a:t>
                      </a:r>
                      <a:r>
                        <a:rPr sz="1800" spc="-20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sz="1800" spc="-5" dirty="0">
                          <a:solidFill>
                            <a:srgbClr val="005392"/>
                          </a:solidFill>
                          <a:latin typeface="Arial MT"/>
                          <a:cs typeface="Arial MT"/>
                        </a:rPr>
                        <a:t>a0</a:t>
                      </a:r>
                      <a:endParaRPr sz="1800">
                        <a:latin typeface="Arial MT"/>
                        <a:cs typeface="Arial MT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4471C4"/>
                      </a:solidFill>
                      <a:prstDash val="solid"/>
                    </a:lnL>
                    <a:lnR w="12700">
                      <a:solidFill>
                        <a:srgbClr val="4471C4"/>
                      </a:solidFill>
                      <a:prstDash val="solid"/>
                    </a:lnR>
                    <a:lnT w="53975">
                      <a:solidFill>
                        <a:srgbClr val="4471C4"/>
                      </a:solidFill>
                      <a:prstDash val="solid"/>
                    </a:lnT>
                    <a:lnB w="1270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7963916" y="3912234"/>
            <a:ext cx="29178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Assuming a/b/c are stored in </a:t>
            </a:r>
            <a:r>
              <a:rPr sz="1800" spc="-49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a0/a1/a2</a:t>
            </a:r>
            <a:r>
              <a:rPr sz="18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respectively.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467" y="710072"/>
            <a:ext cx="11527081" cy="534318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>
            <a:extLst>
              <a:ext uri="{FF2B5EF4-FFF2-40B4-BE49-F238E27FC236}">
                <a16:creationId xmlns:a16="http://schemas.microsoft.com/office/drawing/2014/main" id="{2C8DDF00-5D80-BAA6-C4FE-8CEB617FD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43413" y="261430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 Calling</a:t>
            </a:r>
            <a:endParaRPr lang="en-AU" altLang="en-US" dirty="0"/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7C55A3D1-D186-1278-F7AD-BE21B9A90C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445506"/>
            <a:ext cx="10515600" cy="2919104"/>
          </a:xfrm>
        </p:spPr>
        <p:txBody>
          <a:bodyPr/>
          <a:lstStyle/>
          <a:p>
            <a:pPr marL="0" indent="0">
              <a:buNone/>
            </a:pPr>
            <a:r>
              <a:rPr lang="en-US" altLang="en-US" dirty="0"/>
              <a:t>Steps required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Place parameters in registers x10 to x17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Transfer control to procedure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Acquire storage for procedure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Perform procedure’s operations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Place result in register for caller</a:t>
            </a:r>
          </a:p>
          <a:p>
            <a:pPr marL="990600" lvl="1" indent="-533400">
              <a:buFont typeface="Wingdings" panose="05000000000000000000" pitchFamily="2" charset="2"/>
              <a:buAutoNum type="arabicPeriod"/>
            </a:pPr>
            <a:r>
              <a:rPr lang="en-US" altLang="en-US" dirty="0"/>
              <a:t>Return to place of call (address in x1)</a:t>
            </a: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CBEBC53F-D9A0-32F0-D72A-B3B3ED5197B1}"/>
              </a:ext>
            </a:extLst>
          </p:cNvPr>
          <p:cNvSpPr txBox="1"/>
          <p:nvPr/>
        </p:nvSpPr>
        <p:spPr>
          <a:xfrm>
            <a:off x="181488" y="4735688"/>
            <a:ext cx="11818834" cy="2054922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241300" algn="l"/>
              </a:tabLst>
            </a:pPr>
            <a:r>
              <a:rPr lang="en-US" sz="1600" b="1" spc="155" dirty="0">
                <a:solidFill>
                  <a:schemeClr val="accent1"/>
                </a:solidFill>
                <a:latin typeface="Cambria"/>
                <a:cs typeface="Cambria"/>
              </a:rPr>
              <a:t>C</a:t>
            </a:r>
            <a:r>
              <a:rPr sz="1600" b="1" spc="155" dirty="0">
                <a:solidFill>
                  <a:schemeClr val="accent1"/>
                </a:solidFill>
                <a:latin typeface="Cambria"/>
                <a:cs typeface="Cambria"/>
              </a:rPr>
              <a:t>aller</a:t>
            </a:r>
            <a:endParaRPr sz="1600" dirty="0">
              <a:solidFill>
                <a:schemeClr val="accent1"/>
              </a:solidFill>
              <a:latin typeface="Cambria"/>
              <a:cs typeface="Cambria"/>
            </a:endParaRPr>
          </a:p>
          <a:p>
            <a:pPr marL="12700" marR="1096645">
              <a:lnSpc>
                <a:spcPts val="3020"/>
              </a:lnSpc>
              <a:spcBef>
                <a:spcPts val="1055"/>
              </a:spcBef>
              <a:tabLst>
                <a:tab pos="241300" algn="l"/>
              </a:tabLst>
            </a:pPr>
            <a:r>
              <a:rPr sz="2000" spc="130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0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333333"/>
                </a:solidFill>
                <a:latin typeface="Cambria"/>
                <a:cs typeface="Cambria"/>
              </a:rPr>
              <a:t>program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that </a:t>
            </a:r>
            <a:r>
              <a:rPr sz="2000" spc="110" dirty="0">
                <a:solidFill>
                  <a:srgbClr val="333333"/>
                </a:solidFill>
                <a:latin typeface="Cambria"/>
                <a:cs typeface="Cambria"/>
              </a:rPr>
              <a:t>instigates</a:t>
            </a:r>
            <a:r>
              <a:rPr sz="20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333333"/>
                </a:solidFill>
                <a:latin typeface="Cambria"/>
                <a:cs typeface="Cambria"/>
              </a:rPr>
              <a:t>procedure</a:t>
            </a:r>
            <a:r>
              <a:rPr sz="20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333333"/>
                </a:solidFill>
                <a:latin typeface="Cambria"/>
                <a:cs typeface="Cambria"/>
              </a:rPr>
              <a:t>and</a:t>
            </a:r>
            <a:r>
              <a:rPr sz="2000" spc="1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333333"/>
                </a:solidFill>
                <a:latin typeface="Cambria"/>
                <a:cs typeface="Cambria"/>
              </a:rPr>
              <a:t>provides</a:t>
            </a:r>
            <a:r>
              <a:rPr sz="2000" spc="16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333333"/>
                </a:solidFill>
                <a:latin typeface="Cambria"/>
                <a:cs typeface="Cambria"/>
              </a:rPr>
              <a:t>the </a:t>
            </a:r>
            <a:r>
              <a:rPr sz="20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333333"/>
                </a:solidFill>
                <a:latin typeface="Cambria"/>
                <a:cs typeface="Cambria"/>
              </a:rPr>
              <a:t>necessary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333333"/>
                </a:solidFill>
                <a:latin typeface="Cambria"/>
                <a:cs typeface="Cambria"/>
              </a:rPr>
              <a:t>parameter</a:t>
            </a:r>
            <a:r>
              <a:rPr sz="2000" spc="14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20" dirty="0">
                <a:solidFill>
                  <a:srgbClr val="333333"/>
                </a:solidFill>
                <a:latin typeface="Cambria"/>
                <a:cs typeface="Cambria"/>
              </a:rPr>
              <a:t>values.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20"/>
              </a:spcBef>
              <a:tabLst>
                <a:tab pos="241300" algn="l"/>
              </a:tabLst>
            </a:pPr>
            <a:r>
              <a:rPr lang="en-US" sz="1600" b="1" spc="150" dirty="0">
                <a:solidFill>
                  <a:schemeClr val="accent1"/>
                </a:solidFill>
                <a:latin typeface="Cambria"/>
                <a:cs typeface="Cambria"/>
              </a:rPr>
              <a:t>C</a:t>
            </a:r>
            <a:r>
              <a:rPr sz="1600" b="1" spc="150" dirty="0">
                <a:solidFill>
                  <a:schemeClr val="accent1"/>
                </a:solidFill>
                <a:latin typeface="Cambria"/>
                <a:cs typeface="Cambria"/>
              </a:rPr>
              <a:t>allee</a:t>
            </a:r>
            <a:endParaRPr sz="1600" dirty="0">
              <a:solidFill>
                <a:schemeClr val="accent1"/>
              </a:solidFill>
              <a:latin typeface="Cambria"/>
              <a:cs typeface="Cambria"/>
            </a:endParaRPr>
          </a:p>
          <a:p>
            <a:pPr marL="12700" marR="5080">
              <a:lnSpc>
                <a:spcPts val="3020"/>
              </a:lnSpc>
              <a:spcBef>
                <a:spcPts val="1060"/>
              </a:spcBef>
              <a:tabLst>
                <a:tab pos="241300" algn="l"/>
              </a:tabLst>
            </a:pPr>
            <a:r>
              <a:rPr sz="2000" spc="270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0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333333"/>
                </a:solidFill>
                <a:latin typeface="Cambria"/>
                <a:cs typeface="Cambria"/>
              </a:rPr>
              <a:t>procedure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that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80" dirty="0">
                <a:solidFill>
                  <a:srgbClr val="333333"/>
                </a:solidFill>
                <a:latin typeface="Cambria"/>
                <a:cs typeface="Cambria"/>
              </a:rPr>
              <a:t>executes</a:t>
            </a:r>
            <a:r>
              <a:rPr sz="2000" spc="15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85" dirty="0">
                <a:solidFill>
                  <a:srgbClr val="333333"/>
                </a:solidFill>
                <a:latin typeface="Cambria"/>
                <a:cs typeface="Cambria"/>
              </a:rPr>
              <a:t>a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333333"/>
                </a:solidFill>
                <a:latin typeface="Cambria"/>
                <a:cs typeface="Cambria"/>
              </a:rPr>
              <a:t>series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dirty="0">
                <a:solidFill>
                  <a:srgbClr val="333333"/>
                </a:solidFill>
                <a:latin typeface="Cambria"/>
                <a:cs typeface="Cambria"/>
              </a:rPr>
              <a:t>of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50" dirty="0">
                <a:solidFill>
                  <a:srgbClr val="333333"/>
                </a:solidFill>
                <a:latin typeface="Cambria"/>
                <a:cs typeface="Cambria"/>
              </a:rPr>
              <a:t>stored</a:t>
            </a:r>
            <a:r>
              <a:rPr sz="2000" spc="14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333333"/>
                </a:solidFill>
                <a:latin typeface="Cambria"/>
                <a:cs typeface="Cambria"/>
              </a:rPr>
              <a:t>instructions</a:t>
            </a:r>
            <a:r>
              <a:rPr sz="2000" spc="19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333333"/>
                </a:solidFill>
                <a:latin typeface="Cambria"/>
                <a:cs typeface="Cambria"/>
              </a:rPr>
              <a:t>based </a:t>
            </a:r>
            <a:r>
              <a:rPr sz="2000" spc="8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25" dirty="0">
                <a:solidFill>
                  <a:srgbClr val="333333"/>
                </a:solidFill>
                <a:latin typeface="Cambria"/>
                <a:cs typeface="Cambria"/>
              </a:rPr>
              <a:t>on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333333"/>
                </a:solidFill>
                <a:latin typeface="Cambria"/>
                <a:cs typeface="Cambria"/>
              </a:rPr>
              <a:t>parameters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333333"/>
                </a:solidFill>
                <a:latin typeface="Cambria"/>
                <a:cs typeface="Cambria"/>
              </a:rPr>
              <a:t>provided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55" dirty="0">
                <a:solidFill>
                  <a:srgbClr val="333333"/>
                </a:solidFill>
                <a:latin typeface="Cambria"/>
                <a:cs typeface="Cambria"/>
              </a:rPr>
              <a:t>by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333333"/>
                </a:solidFill>
                <a:latin typeface="Cambria"/>
                <a:cs typeface="Cambria"/>
              </a:rPr>
              <a:t>caller</a:t>
            </a:r>
            <a:r>
              <a:rPr sz="2000" spc="17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25" dirty="0">
                <a:solidFill>
                  <a:srgbClr val="333333"/>
                </a:solidFill>
                <a:latin typeface="Cambria"/>
                <a:cs typeface="Cambria"/>
              </a:rPr>
              <a:t>and</a:t>
            </a:r>
            <a:r>
              <a:rPr sz="2000" spc="17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14" dirty="0">
                <a:solidFill>
                  <a:srgbClr val="333333"/>
                </a:solidFill>
                <a:latin typeface="Cambria"/>
                <a:cs typeface="Cambria"/>
              </a:rPr>
              <a:t>then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333333"/>
                </a:solidFill>
                <a:latin typeface="Cambria"/>
                <a:cs typeface="Cambria"/>
              </a:rPr>
              <a:t>returns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45" dirty="0">
                <a:solidFill>
                  <a:srgbClr val="333333"/>
                </a:solidFill>
                <a:latin typeface="Cambria"/>
                <a:cs typeface="Cambria"/>
              </a:rPr>
              <a:t>control</a:t>
            </a:r>
            <a:r>
              <a:rPr sz="2000" spc="16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333333"/>
                </a:solidFill>
                <a:latin typeface="Cambria"/>
                <a:cs typeface="Cambria"/>
              </a:rPr>
              <a:t>to </a:t>
            </a:r>
            <a:r>
              <a:rPr sz="2000" spc="-600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5" dirty="0">
                <a:solidFill>
                  <a:srgbClr val="333333"/>
                </a:solidFill>
                <a:latin typeface="Cambria"/>
                <a:cs typeface="Cambria"/>
              </a:rPr>
              <a:t>the</a:t>
            </a:r>
            <a:r>
              <a:rPr sz="2000" spc="155" dirty="0">
                <a:solidFill>
                  <a:srgbClr val="333333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333333"/>
                </a:solidFill>
                <a:latin typeface="Cambria"/>
                <a:cs typeface="Cambria"/>
              </a:rPr>
              <a:t>caller.</a:t>
            </a:r>
            <a:endParaRPr sz="2000" dirty="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13D71D30-2D0E-0630-ECB5-EDCCCED1E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0163" y="36264"/>
            <a:ext cx="105156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Procedure Call Instructions</a:t>
            </a:r>
            <a:endParaRPr lang="en-AU" altLang="en-US" dirty="0"/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4061B22B-72F9-8C5E-8AFC-A1FB5251DA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018" y="1419644"/>
            <a:ext cx="6878053" cy="527901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dirty="0"/>
              <a:t>Procedure </a:t>
            </a:r>
            <a:r>
              <a:rPr lang="en-US" altLang="en-US" dirty="0">
                <a:solidFill>
                  <a:schemeClr val="accent1"/>
                </a:solidFill>
              </a:rPr>
              <a:t>call</a:t>
            </a:r>
            <a:r>
              <a:rPr lang="en-US" altLang="en-US" dirty="0"/>
              <a:t>: Jump and link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</a:t>
            </a:r>
            <a:r>
              <a:rPr lang="en-US" altLang="en-US" dirty="0" err="1">
                <a:latin typeface="Lucida Console" panose="020B0609040504020204" pitchFamily="49" charset="0"/>
              </a:rPr>
              <a:t>jal</a:t>
            </a:r>
            <a:r>
              <a:rPr lang="en-US" altLang="en-US" dirty="0">
                <a:latin typeface="Lucida Console" panose="020B0609040504020204" pitchFamily="49" charset="0"/>
              </a:rPr>
              <a:t> x1, </a:t>
            </a:r>
            <a:r>
              <a:rPr lang="en-US" altLang="en-US" dirty="0" err="1">
                <a:latin typeface="Lucida Console" panose="020B0609040504020204" pitchFamily="49" charset="0"/>
              </a:rPr>
              <a:t>ProcedureLabel</a:t>
            </a:r>
            <a:endParaRPr lang="en-US" altLang="en-US" dirty="0">
              <a:latin typeface="Lucida Console" panose="020B0609040504020204" pitchFamily="49" charset="0"/>
            </a:endParaRPr>
          </a:p>
          <a:p>
            <a:pPr lvl="1" eaLnBrk="1" hangingPunct="1"/>
            <a:r>
              <a:rPr lang="en-US" altLang="en-US" dirty="0"/>
              <a:t>Address of following instruction put in x1</a:t>
            </a:r>
          </a:p>
          <a:p>
            <a:pPr lvl="1" eaLnBrk="1" hangingPunct="1"/>
            <a:r>
              <a:rPr lang="en-US" altLang="en-US" dirty="0"/>
              <a:t>Jumps to target address </a:t>
            </a:r>
            <a:r>
              <a:rPr lang="en-US" altLang="en-US" dirty="0" err="1">
                <a:solidFill>
                  <a:schemeClr val="accent1"/>
                </a:solidFill>
                <a:latin typeface="Lucida Console" panose="020B0609040504020204" pitchFamily="49" charset="0"/>
              </a:rPr>
              <a:t>ProcedureLabel</a:t>
            </a:r>
            <a:endParaRPr lang="en-US" altLang="en-US" dirty="0">
              <a:solidFill>
                <a:schemeClr val="accent1"/>
              </a:solidFill>
            </a:endParaRPr>
          </a:p>
          <a:p>
            <a:pPr eaLnBrk="1" hangingPunct="1"/>
            <a:r>
              <a:rPr lang="en-US" altLang="en-US" dirty="0"/>
              <a:t>Procedure </a:t>
            </a:r>
            <a:r>
              <a:rPr lang="en-US" altLang="en-US" dirty="0">
                <a:solidFill>
                  <a:schemeClr val="accent1"/>
                </a:solidFill>
              </a:rPr>
              <a:t>return (Also a Pseudo Instruction)</a:t>
            </a:r>
            <a:r>
              <a:rPr lang="en-US" altLang="en-US" dirty="0"/>
              <a:t>: </a:t>
            </a:r>
          </a:p>
          <a:p>
            <a:pPr marL="0" indent="0" eaLnBrk="1" hangingPunct="1">
              <a:buNone/>
            </a:pPr>
            <a:r>
              <a:rPr lang="en-US" altLang="en-US" dirty="0"/>
              <a:t>	</a:t>
            </a:r>
            <a:r>
              <a:rPr lang="en-US" altLang="en-US" dirty="0">
                <a:latin typeface="Lucida Console" panose="020B0609040504020204" pitchFamily="49" charset="0"/>
              </a:rPr>
              <a:t>ret</a:t>
            </a:r>
            <a:endParaRPr lang="en-US" sz="1800" b="0" i="0" u="none" strike="noStrike" baseline="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lvl="1"/>
            <a:r>
              <a:rPr lang="en-US" dirty="0"/>
              <a:t>Jumps to address in x1</a:t>
            </a:r>
          </a:p>
          <a:p>
            <a:pPr lvl="1"/>
            <a:r>
              <a:rPr lang="en-US" dirty="0"/>
              <a:t>ret is same as “</a:t>
            </a:r>
            <a:r>
              <a:rPr lang="en-US" dirty="0" err="1"/>
              <a:t>jalr</a:t>
            </a:r>
            <a:r>
              <a:rPr lang="en-US" dirty="0"/>
              <a:t> x0, x1, 0”</a:t>
            </a:r>
            <a:endParaRPr lang="en-US" altLang="en-US" dirty="0"/>
          </a:p>
          <a:p>
            <a:pPr eaLnBrk="1" hangingPunct="1"/>
            <a:r>
              <a:rPr lang="en-US" altLang="en-US" dirty="0"/>
              <a:t>Jump and link register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>
                <a:latin typeface="Lucida Console" panose="020B0609040504020204" pitchFamily="49" charset="0"/>
              </a:rPr>
              <a:t>	</a:t>
            </a:r>
            <a:r>
              <a:rPr lang="en-US" altLang="en-US" dirty="0" err="1">
                <a:latin typeface="Lucida Console" panose="020B0609040504020204" pitchFamily="49" charset="0"/>
              </a:rPr>
              <a:t>jalr</a:t>
            </a:r>
            <a:r>
              <a:rPr lang="en-US" altLang="en-US" dirty="0">
                <a:latin typeface="Lucida Console" panose="020B0609040504020204" pitchFamily="49" charset="0"/>
              </a:rPr>
              <a:t> x0, 0(x1)</a:t>
            </a:r>
          </a:p>
          <a:p>
            <a:pPr lvl="1" eaLnBrk="1" hangingPunct="1"/>
            <a:r>
              <a:rPr lang="en-US" altLang="en-US" dirty="0"/>
              <a:t>Like </a:t>
            </a:r>
            <a:r>
              <a:rPr lang="en-US" altLang="en-US" dirty="0" err="1"/>
              <a:t>jal</a:t>
            </a:r>
            <a:r>
              <a:rPr lang="en-US" altLang="en-US" dirty="0"/>
              <a:t>, but jumps to 0 + address in x1</a:t>
            </a:r>
          </a:p>
          <a:p>
            <a:pPr lvl="1" eaLnBrk="1" hangingPunct="1"/>
            <a:r>
              <a:rPr lang="en-US" altLang="en-US" dirty="0"/>
              <a:t>Use x0 as </a:t>
            </a:r>
            <a:r>
              <a:rPr lang="en-US" altLang="en-US" dirty="0" err="1"/>
              <a:t>rd</a:t>
            </a:r>
            <a:r>
              <a:rPr lang="en-US" altLang="en-US" dirty="0"/>
              <a:t> (x0 cannot be changed)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96517-7EF6-A896-8486-86689CDEABAE}"/>
              </a:ext>
            </a:extLst>
          </p:cNvPr>
          <p:cNvSpPr txBox="1"/>
          <p:nvPr/>
        </p:nvSpPr>
        <p:spPr>
          <a:xfrm>
            <a:off x="6517114" y="243512"/>
            <a:ext cx="5642802" cy="658641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RISC-V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dirty="0"/>
              <a:t> (Jump and Link Register) performs indirect jumps, critical for function calls and returns by jumping to a base register (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rs1</a:t>
            </a:r>
            <a:r>
              <a:rPr lang="en-US" sz="1600" dirty="0"/>
              <a:t>) plus a 12-bit immediate offset, while storing the return address (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PC+4</a:t>
            </a:r>
            <a:r>
              <a:rPr lang="en-US" sz="1600" dirty="0"/>
              <a:t>) in 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rd</a:t>
            </a:r>
            <a:r>
              <a:rPr lang="en-US" sz="1600" dirty="0"/>
              <a:t>. Common uses include ret (return), 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jr</a:t>
            </a:r>
            <a:r>
              <a:rPr lang="en-US" sz="1600" dirty="0"/>
              <a:t> (jump), and dynamic function calls.</a:t>
            </a:r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sz="1600" b="1" dirty="0"/>
              <a:t>Function Return (The Standard ret) </a:t>
            </a:r>
          </a:p>
          <a:p>
            <a:r>
              <a:rPr lang="en-US" sz="1600" dirty="0"/>
              <a:t>The most common use of 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dirty="0"/>
              <a:t> is returning from a function. It jumps to the address held in the return address register (</a:t>
            </a:r>
            <a:r>
              <a:rPr lang="en-US" sz="1400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r>
              <a:rPr lang="en-US" sz="1600" dirty="0"/>
              <a:t> or </a:t>
            </a:r>
            <a:r>
              <a:rPr lang="en-US" sz="1400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x1</a:t>
            </a:r>
            <a:r>
              <a:rPr lang="en-US" sz="1600" dirty="0"/>
              <a:t>). </a:t>
            </a:r>
          </a:p>
          <a:p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 Example: Ret</a:t>
            </a:r>
          </a:p>
          <a:p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zero, 0(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)  # Jump to address in 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+ 0, discard link (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rd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=x0)</a:t>
            </a:r>
          </a:p>
          <a:p>
            <a:r>
              <a:rPr lang="en-US" sz="1600" b="1" dirty="0"/>
              <a:t>2. Indirect Function Call</a:t>
            </a:r>
          </a:p>
          <a:p>
            <a:r>
              <a:rPr lang="en-US" sz="1600" dirty="0"/>
              <a:t>Used for calling a function pointer or a function whose address is computed at runtime. </a:t>
            </a:r>
          </a:p>
          <a:p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 Example: Calling a function using a pointer in t0</a:t>
            </a:r>
          </a:p>
          <a:p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0(t0)    # Jump to address in t0, store return address in 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endParaRPr lang="en-US" sz="1600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/>
              <a:t>3. </a:t>
            </a:r>
            <a:r>
              <a:rPr lang="en-US" sz="1600" b="1" dirty="0"/>
              <a:t>Function Call with Offset</a:t>
            </a:r>
          </a:p>
          <a:p>
            <a:r>
              <a:rPr lang="en-US" sz="1600" dirty="0"/>
              <a:t>Jumping to an address in a register plus an immediate offset. </a:t>
            </a:r>
            <a:endParaRPr lang="en-US" sz="1400" b="1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 Example: Call function within a structure (offset 16)</a:t>
            </a:r>
          </a:p>
          <a:p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16(a0)   # Jump to address (a0 + 16), save return to </a:t>
            </a:r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ra</a:t>
            </a:r>
            <a:endParaRPr lang="en-US" sz="1600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b="1" dirty="0"/>
              <a:t>4. </a:t>
            </a:r>
            <a:r>
              <a:rPr lang="en-US" sz="1600" b="1" dirty="0"/>
              <a:t>Jump to Label (Long Range)</a:t>
            </a:r>
            <a:endParaRPr lang="en-US" sz="1400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1600" dirty="0"/>
              <a:t>While </a:t>
            </a:r>
            <a:r>
              <a:rPr lang="en-US" sz="14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</a:t>
            </a:r>
            <a:r>
              <a:rPr lang="en-US" sz="1600" dirty="0"/>
              <a:t> is used for direct, relative jumps, </a:t>
            </a:r>
            <a:r>
              <a:rPr lang="en-US" sz="14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dirty="0"/>
              <a:t> can be used to jump to an absolute address far away.</a:t>
            </a:r>
          </a:p>
          <a:p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# Example: Jump to a target address stored in t1</a:t>
            </a:r>
          </a:p>
          <a:p>
            <a:r>
              <a:rPr lang="en-US" sz="1600" i="1" dirty="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jalr</a:t>
            </a:r>
            <a:r>
              <a:rPr lang="en-US" sz="1600" i="1" dirty="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zero, 0(t1)  # Jump to address in t1, not storing return address</a:t>
            </a:r>
          </a:p>
          <a:p>
            <a:endParaRPr lang="en-US" sz="1600" i="1" dirty="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292641"/>
            <a:ext cx="10027285" cy="68929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400" b="0" dirty="0">
                <a:solidFill>
                  <a:schemeClr val="tx1"/>
                </a:solidFill>
                <a:latin typeface="+mj-lt"/>
                <a:cs typeface="+mj-cs"/>
              </a:rPr>
              <a:t>How to pass arguments/ return values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6531" y="2478218"/>
            <a:ext cx="1104900" cy="1548765"/>
            <a:chOff x="446531" y="2478218"/>
            <a:chExt cx="1104900" cy="1548765"/>
          </a:xfrm>
        </p:grpSpPr>
        <p:sp>
          <p:nvSpPr>
            <p:cNvPr id="5" name="object 5"/>
            <p:cNvSpPr/>
            <p:nvPr/>
          </p:nvSpPr>
          <p:spPr>
            <a:xfrm>
              <a:off x="464819" y="2560320"/>
              <a:ext cx="1087120" cy="1447800"/>
            </a:xfrm>
            <a:custGeom>
              <a:avLst/>
              <a:gdLst/>
              <a:ahLst/>
              <a:cxnLst/>
              <a:rect l="l" t="t" r="r" b="b"/>
              <a:pathLst>
                <a:path w="1087120" h="1447800">
                  <a:moveTo>
                    <a:pt x="1086612" y="1447799"/>
                  </a:moveTo>
                  <a:lnTo>
                    <a:pt x="0" y="1447799"/>
                  </a:lnTo>
                </a:path>
                <a:path w="1087120" h="1447800">
                  <a:moveTo>
                    <a:pt x="0" y="1447799"/>
                  </a:moveTo>
                  <a:lnTo>
                    <a:pt x="0" y="0"/>
                  </a:lnTo>
                </a:path>
              </a:pathLst>
            </a:custGeom>
            <a:ln w="36576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4819" y="2478218"/>
              <a:ext cx="541655" cy="164465"/>
            </a:xfrm>
            <a:custGeom>
              <a:avLst/>
              <a:gdLst/>
              <a:ahLst/>
              <a:cxnLst/>
              <a:rect l="l" t="t" r="r" b="b"/>
              <a:pathLst>
                <a:path w="541655" h="164464">
                  <a:moveTo>
                    <a:pt x="468595" y="82101"/>
                  </a:moveTo>
                  <a:lnTo>
                    <a:pt x="385864" y="130361"/>
                  </a:lnTo>
                  <a:lnTo>
                    <a:pt x="380439" y="135181"/>
                  </a:lnTo>
                  <a:lnTo>
                    <a:pt x="377393" y="141489"/>
                  </a:lnTo>
                  <a:lnTo>
                    <a:pt x="376937" y="148488"/>
                  </a:lnTo>
                  <a:lnTo>
                    <a:pt x="379285" y="155380"/>
                  </a:lnTo>
                  <a:lnTo>
                    <a:pt x="384114" y="160750"/>
                  </a:lnTo>
                  <a:lnTo>
                    <a:pt x="390426" y="163762"/>
                  </a:lnTo>
                  <a:lnTo>
                    <a:pt x="397419" y="164203"/>
                  </a:lnTo>
                  <a:lnTo>
                    <a:pt x="404291" y="161857"/>
                  </a:lnTo>
                  <a:lnTo>
                    <a:pt x="509736" y="100389"/>
                  </a:lnTo>
                  <a:lnTo>
                    <a:pt x="504812" y="100389"/>
                  </a:lnTo>
                  <a:lnTo>
                    <a:pt x="504812" y="97849"/>
                  </a:lnTo>
                  <a:lnTo>
                    <a:pt x="495592" y="97849"/>
                  </a:lnTo>
                  <a:lnTo>
                    <a:pt x="468595" y="82101"/>
                  </a:lnTo>
                  <a:close/>
                </a:path>
                <a:path w="541655" h="164464">
                  <a:moveTo>
                    <a:pt x="437244" y="63813"/>
                  </a:moveTo>
                  <a:lnTo>
                    <a:pt x="0" y="63813"/>
                  </a:lnTo>
                  <a:lnTo>
                    <a:pt x="0" y="100389"/>
                  </a:lnTo>
                  <a:lnTo>
                    <a:pt x="437244" y="100389"/>
                  </a:lnTo>
                  <a:lnTo>
                    <a:pt x="468595" y="82101"/>
                  </a:lnTo>
                  <a:lnTo>
                    <a:pt x="437244" y="63813"/>
                  </a:lnTo>
                  <a:close/>
                </a:path>
                <a:path w="541655" h="164464">
                  <a:moveTo>
                    <a:pt x="509736" y="63813"/>
                  </a:moveTo>
                  <a:lnTo>
                    <a:pt x="504812" y="63813"/>
                  </a:lnTo>
                  <a:lnTo>
                    <a:pt x="504812" y="100389"/>
                  </a:lnTo>
                  <a:lnTo>
                    <a:pt x="509736" y="100389"/>
                  </a:lnTo>
                  <a:lnTo>
                    <a:pt x="541108" y="82101"/>
                  </a:lnTo>
                  <a:lnTo>
                    <a:pt x="509736" y="63813"/>
                  </a:lnTo>
                  <a:close/>
                </a:path>
                <a:path w="541655" h="164464">
                  <a:moveTo>
                    <a:pt x="495592" y="66353"/>
                  </a:moveTo>
                  <a:lnTo>
                    <a:pt x="468595" y="82101"/>
                  </a:lnTo>
                  <a:lnTo>
                    <a:pt x="495592" y="97849"/>
                  </a:lnTo>
                  <a:lnTo>
                    <a:pt x="495592" y="66353"/>
                  </a:lnTo>
                  <a:close/>
                </a:path>
                <a:path w="541655" h="164464">
                  <a:moveTo>
                    <a:pt x="504812" y="66353"/>
                  </a:moveTo>
                  <a:lnTo>
                    <a:pt x="495592" y="66353"/>
                  </a:lnTo>
                  <a:lnTo>
                    <a:pt x="495592" y="97849"/>
                  </a:lnTo>
                  <a:lnTo>
                    <a:pt x="504812" y="97849"/>
                  </a:lnTo>
                  <a:lnTo>
                    <a:pt x="504812" y="66353"/>
                  </a:lnTo>
                  <a:close/>
                </a:path>
                <a:path w="541655" h="164464">
                  <a:moveTo>
                    <a:pt x="397419" y="0"/>
                  </a:moveTo>
                  <a:lnTo>
                    <a:pt x="390426" y="440"/>
                  </a:lnTo>
                  <a:lnTo>
                    <a:pt x="384114" y="3452"/>
                  </a:lnTo>
                  <a:lnTo>
                    <a:pt x="379285" y="8822"/>
                  </a:lnTo>
                  <a:lnTo>
                    <a:pt x="376937" y="15714"/>
                  </a:lnTo>
                  <a:lnTo>
                    <a:pt x="377393" y="22713"/>
                  </a:lnTo>
                  <a:lnTo>
                    <a:pt x="380439" y="29021"/>
                  </a:lnTo>
                  <a:lnTo>
                    <a:pt x="385864" y="33841"/>
                  </a:lnTo>
                  <a:lnTo>
                    <a:pt x="468595" y="82101"/>
                  </a:lnTo>
                  <a:lnTo>
                    <a:pt x="495592" y="66353"/>
                  </a:lnTo>
                  <a:lnTo>
                    <a:pt x="504812" y="66353"/>
                  </a:lnTo>
                  <a:lnTo>
                    <a:pt x="504812" y="63813"/>
                  </a:lnTo>
                  <a:lnTo>
                    <a:pt x="509736" y="63813"/>
                  </a:lnTo>
                  <a:lnTo>
                    <a:pt x="404291" y="2345"/>
                  </a:lnTo>
                  <a:lnTo>
                    <a:pt x="397419" y="0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3284220" y="2999232"/>
            <a:ext cx="2456815" cy="1243965"/>
            <a:chOff x="3284220" y="2999232"/>
            <a:chExt cx="2456815" cy="1243965"/>
          </a:xfrm>
        </p:grpSpPr>
        <p:sp>
          <p:nvSpPr>
            <p:cNvPr id="8" name="object 8"/>
            <p:cNvSpPr/>
            <p:nvPr/>
          </p:nvSpPr>
          <p:spPr>
            <a:xfrm>
              <a:off x="3284220" y="3017520"/>
              <a:ext cx="2438400" cy="1143000"/>
            </a:xfrm>
            <a:custGeom>
              <a:avLst/>
              <a:gdLst/>
              <a:ahLst/>
              <a:cxnLst/>
              <a:rect l="l" t="t" r="r" b="b"/>
              <a:pathLst>
                <a:path w="2438400" h="1143000">
                  <a:moveTo>
                    <a:pt x="0" y="0"/>
                  </a:moveTo>
                  <a:lnTo>
                    <a:pt x="2438400" y="0"/>
                  </a:lnTo>
                </a:path>
                <a:path w="2438400" h="1143000">
                  <a:moveTo>
                    <a:pt x="2438400" y="0"/>
                  </a:moveTo>
                  <a:lnTo>
                    <a:pt x="2438400" y="1142999"/>
                  </a:lnTo>
                </a:path>
              </a:pathLst>
            </a:custGeom>
            <a:ln w="36576">
              <a:solidFill>
                <a:srgbClr val="00008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817493" y="4078418"/>
              <a:ext cx="1905635" cy="164465"/>
            </a:xfrm>
            <a:custGeom>
              <a:avLst/>
              <a:gdLst/>
              <a:ahLst/>
              <a:cxnLst/>
              <a:rect l="l" t="t" r="r" b="b"/>
              <a:pathLst>
                <a:path w="1905635" h="164464">
                  <a:moveTo>
                    <a:pt x="143726" y="0"/>
                  </a:moveTo>
                  <a:lnTo>
                    <a:pt x="136905" y="2345"/>
                  </a:lnTo>
                  <a:lnTo>
                    <a:pt x="0" y="82101"/>
                  </a:lnTo>
                  <a:lnTo>
                    <a:pt x="136905" y="161857"/>
                  </a:lnTo>
                  <a:lnTo>
                    <a:pt x="143726" y="164203"/>
                  </a:lnTo>
                  <a:lnTo>
                    <a:pt x="150701" y="163762"/>
                  </a:lnTo>
                  <a:lnTo>
                    <a:pt x="157033" y="160750"/>
                  </a:lnTo>
                  <a:lnTo>
                    <a:pt x="161924" y="155380"/>
                  </a:lnTo>
                  <a:lnTo>
                    <a:pt x="164250" y="148488"/>
                  </a:lnTo>
                  <a:lnTo>
                    <a:pt x="163766" y="141489"/>
                  </a:lnTo>
                  <a:lnTo>
                    <a:pt x="160710" y="135181"/>
                  </a:lnTo>
                  <a:lnTo>
                    <a:pt x="155320" y="130361"/>
                  </a:lnTo>
                  <a:lnTo>
                    <a:pt x="103940" y="100389"/>
                  </a:lnTo>
                  <a:lnTo>
                    <a:pt x="36321" y="100389"/>
                  </a:lnTo>
                  <a:lnTo>
                    <a:pt x="36321" y="63813"/>
                  </a:lnTo>
                  <a:lnTo>
                    <a:pt x="103940" y="63813"/>
                  </a:lnTo>
                  <a:lnTo>
                    <a:pt x="155320" y="33841"/>
                  </a:lnTo>
                  <a:lnTo>
                    <a:pt x="160710" y="29021"/>
                  </a:lnTo>
                  <a:lnTo>
                    <a:pt x="163766" y="22713"/>
                  </a:lnTo>
                  <a:lnTo>
                    <a:pt x="164250" y="15714"/>
                  </a:lnTo>
                  <a:lnTo>
                    <a:pt x="161924" y="8822"/>
                  </a:lnTo>
                  <a:lnTo>
                    <a:pt x="157033" y="3452"/>
                  </a:lnTo>
                  <a:lnTo>
                    <a:pt x="150701" y="440"/>
                  </a:lnTo>
                  <a:lnTo>
                    <a:pt x="143726" y="0"/>
                  </a:lnTo>
                  <a:close/>
                </a:path>
                <a:path w="1905635" h="164464">
                  <a:moveTo>
                    <a:pt x="103940" y="63813"/>
                  </a:moveTo>
                  <a:lnTo>
                    <a:pt x="36321" y="63813"/>
                  </a:lnTo>
                  <a:lnTo>
                    <a:pt x="36321" y="100389"/>
                  </a:lnTo>
                  <a:lnTo>
                    <a:pt x="103940" y="100389"/>
                  </a:lnTo>
                  <a:lnTo>
                    <a:pt x="99586" y="97849"/>
                  </a:lnTo>
                  <a:lnTo>
                    <a:pt x="45592" y="97849"/>
                  </a:lnTo>
                  <a:lnTo>
                    <a:pt x="45592" y="66353"/>
                  </a:lnTo>
                  <a:lnTo>
                    <a:pt x="99586" y="66353"/>
                  </a:lnTo>
                  <a:lnTo>
                    <a:pt x="103940" y="63813"/>
                  </a:lnTo>
                  <a:close/>
                </a:path>
                <a:path w="1905635" h="164464">
                  <a:moveTo>
                    <a:pt x="1905127" y="63813"/>
                  </a:moveTo>
                  <a:lnTo>
                    <a:pt x="103940" y="63813"/>
                  </a:lnTo>
                  <a:lnTo>
                    <a:pt x="72589" y="82101"/>
                  </a:lnTo>
                  <a:lnTo>
                    <a:pt x="103940" y="100389"/>
                  </a:lnTo>
                  <a:lnTo>
                    <a:pt x="1905127" y="100389"/>
                  </a:lnTo>
                  <a:lnTo>
                    <a:pt x="1905127" y="63813"/>
                  </a:lnTo>
                  <a:close/>
                </a:path>
                <a:path w="1905635" h="164464">
                  <a:moveTo>
                    <a:pt x="45592" y="66353"/>
                  </a:moveTo>
                  <a:lnTo>
                    <a:pt x="45592" y="97849"/>
                  </a:lnTo>
                  <a:lnTo>
                    <a:pt x="72589" y="82101"/>
                  </a:lnTo>
                  <a:lnTo>
                    <a:pt x="45592" y="66353"/>
                  </a:lnTo>
                  <a:close/>
                </a:path>
                <a:path w="1905635" h="164464">
                  <a:moveTo>
                    <a:pt x="72589" y="82101"/>
                  </a:moveTo>
                  <a:lnTo>
                    <a:pt x="45592" y="97849"/>
                  </a:lnTo>
                  <a:lnTo>
                    <a:pt x="99586" y="97849"/>
                  </a:lnTo>
                  <a:lnTo>
                    <a:pt x="72589" y="82101"/>
                  </a:lnTo>
                  <a:close/>
                </a:path>
                <a:path w="1905635" h="164464">
                  <a:moveTo>
                    <a:pt x="99586" y="66353"/>
                  </a:moveTo>
                  <a:lnTo>
                    <a:pt x="45592" y="66353"/>
                  </a:lnTo>
                  <a:lnTo>
                    <a:pt x="72589" y="82101"/>
                  </a:lnTo>
                  <a:lnTo>
                    <a:pt x="99586" y="66353"/>
                  </a:lnTo>
                  <a:close/>
                </a:path>
              </a:pathLst>
            </a:custGeom>
            <a:solidFill>
              <a:srgbClr val="0000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3605" y="1675333"/>
            <a:ext cx="4119879" cy="26250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05" dirty="0">
                <a:latin typeface="Cambria"/>
                <a:cs typeface="Cambria"/>
              </a:rPr>
              <a:t>Solution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: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use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registers</a:t>
            </a:r>
            <a:endParaRPr sz="2800" dirty="0">
              <a:latin typeface="Cambria"/>
              <a:cs typeface="Cambria"/>
            </a:endParaRPr>
          </a:p>
          <a:p>
            <a:pPr marL="495300">
              <a:lnSpc>
                <a:spcPct val="100000"/>
              </a:lnSpc>
              <a:spcBef>
                <a:spcPts val="1750"/>
              </a:spcBef>
            </a:pPr>
            <a:r>
              <a:rPr sz="1600" i="1" spc="-5" dirty="0">
                <a:latin typeface="Courier New"/>
                <a:cs typeface="Courier New"/>
              </a:rPr>
              <a:t>.func:</a:t>
            </a:r>
            <a:endParaRPr sz="1600" dirty="0">
              <a:latin typeface="Courier New"/>
              <a:cs typeface="Courier New"/>
            </a:endParaRPr>
          </a:p>
          <a:p>
            <a:pPr marL="952500" marR="1450340">
              <a:lnSpc>
                <a:spcPct val="100000"/>
              </a:lnSpc>
            </a:pPr>
            <a:r>
              <a:rPr sz="1600" i="1" spc="-5" dirty="0">
                <a:latin typeface="Courier New"/>
                <a:cs typeface="Courier New"/>
              </a:rPr>
              <a:t>add</a:t>
            </a:r>
            <a:r>
              <a:rPr sz="1600" i="1" spc="-2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a0,</a:t>
            </a:r>
            <a:r>
              <a:rPr sz="1600" i="1" spc="-2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a0,</a:t>
            </a:r>
            <a:r>
              <a:rPr sz="1600" i="1" spc="-1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a1 </a:t>
            </a:r>
            <a:r>
              <a:rPr sz="1600" i="1" spc="-944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ret</a:t>
            </a:r>
            <a:endParaRPr sz="1600" dirty="0">
              <a:latin typeface="Courier New"/>
              <a:cs typeface="Courier New"/>
            </a:endParaRPr>
          </a:p>
          <a:p>
            <a:pPr marL="495300">
              <a:lnSpc>
                <a:spcPct val="100000"/>
              </a:lnSpc>
              <a:spcBef>
                <a:spcPts val="5"/>
              </a:spcBef>
            </a:pPr>
            <a:r>
              <a:rPr sz="1600" i="1" spc="-5" dirty="0">
                <a:latin typeface="Courier New"/>
                <a:cs typeface="Courier New"/>
              </a:rPr>
              <a:t>.main:</a:t>
            </a:r>
            <a:endParaRPr sz="1600" dirty="0">
              <a:latin typeface="Courier New"/>
              <a:cs typeface="Courier New"/>
            </a:endParaRPr>
          </a:p>
          <a:p>
            <a:pPr marL="952500">
              <a:lnSpc>
                <a:spcPct val="100000"/>
              </a:lnSpc>
            </a:pPr>
            <a:r>
              <a:rPr sz="1600" i="1" spc="-5" dirty="0">
                <a:latin typeface="Courier New"/>
                <a:cs typeface="Courier New"/>
              </a:rPr>
              <a:t>li</a:t>
            </a:r>
            <a:r>
              <a:rPr sz="1600" i="1" spc="-4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a0,</a:t>
            </a:r>
            <a:r>
              <a:rPr sz="1600" i="1" spc="-40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3</a:t>
            </a:r>
            <a:endParaRPr sz="1600" dirty="0">
              <a:latin typeface="Courier New"/>
              <a:cs typeface="Courier New"/>
            </a:endParaRPr>
          </a:p>
          <a:p>
            <a:pPr marL="952500">
              <a:lnSpc>
                <a:spcPct val="100000"/>
              </a:lnSpc>
            </a:pPr>
            <a:r>
              <a:rPr sz="1600" i="1" spc="-5" dirty="0">
                <a:latin typeface="Courier New"/>
                <a:cs typeface="Courier New"/>
              </a:rPr>
              <a:t>li</a:t>
            </a:r>
            <a:r>
              <a:rPr sz="1600" i="1" spc="-4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a1,</a:t>
            </a:r>
            <a:r>
              <a:rPr sz="1600" i="1" spc="-40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5</a:t>
            </a:r>
            <a:endParaRPr sz="1600" dirty="0">
              <a:latin typeface="Courier New"/>
              <a:cs typeface="Courier New"/>
            </a:endParaRPr>
          </a:p>
          <a:p>
            <a:pPr marL="952500" marR="1450340">
              <a:lnSpc>
                <a:spcPct val="100000"/>
              </a:lnSpc>
            </a:pPr>
            <a:r>
              <a:rPr sz="1600" i="1" spc="-5" dirty="0">
                <a:latin typeface="Courier New"/>
                <a:cs typeface="Courier New"/>
              </a:rPr>
              <a:t>jal x1, .func </a:t>
            </a:r>
            <a:r>
              <a:rPr sz="1600" i="1" spc="-950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add</a:t>
            </a:r>
            <a:r>
              <a:rPr sz="1600" i="1" spc="-2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a2,</a:t>
            </a:r>
            <a:r>
              <a:rPr sz="1600" i="1" spc="-2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a0,</a:t>
            </a:r>
            <a:r>
              <a:rPr sz="1600" i="1" spc="-15" dirty="0">
                <a:latin typeface="Courier New"/>
                <a:cs typeface="Courier New"/>
              </a:rPr>
              <a:t> </a:t>
            </a:r>
            <a:r>
              <a:rPr sz="1600" i="1" spc="-5" dirty="0">
                <a:latin typeface="Courier New"/>
                <a:cs typeface="Courier New"/>
              </a:rPr>
              <a:t>10</a:t>
            </a:r>
            <a:endParaRPr sz="1600" dirty="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086727" y="2327910"/>
            <a:ext cx="4298950" cy="18522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05"/>
              </a:spcBef>
            </a:pPr>
            <a:r>
              <a:rPr sz="2000" spc="55" dirty="0">
                <a:solidFill>
                  <a:srgbClr val="005392"/>
                </a:solidFill>
                <a:latin typeface="Cambria"/>
                <a:cs typeface="Cambria"/>
              </a:rPr>
              <a:t>Before</a:t>
            </a:r>
            <a:r>
              <a:rPr sz="2000" spc="5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calling</a:t>
            </a:r>
            <a:r>
              <a:rPr sz="2000" spc="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135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75" dirty="0">
                <a:solidFill>
                  <a:srgbClr val="005392"/>
                </a:solidFill>
                <a:latin typeface="Cambria"/>
                <a:cs typeface="Cambria"/>
              </a:rPr>
              <a:t>function,</a:t>
            </a:r>
            <a:r>
              <a:rPr sz="2000" spc="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arguments</a:t>
            </a:r>
            <a:endParaRPr sz="2000">
              <a:latin typeface="Cambria"/>
              <a:cs typeface="Cambria"/>
            </a:endParaRPr>
          </a:p>
          <a:p>
            <a:pPr marL="12700">
              <a:lnSpc>
                <a:spcPts val="2390"/>
              </a:lnSpc>
            </a:pP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are</a:t>
            </a:r>
            <a:r>
              <a:rPr sz="20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005392"/>
                </a:solidFill>
                <a:latin typeface="Cambria"/>
                <a:cs typeface="Cambria"/>
              </a:rPr>
              <a:t>copied</a:t>
            </a:r>
            <a:r>
              <a:rPr sz="20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20" dirty="0">
                <a:solidFill>
                  <a:srgbClr val="005392"/>
                </a:solidFill>
                <a:latin typeface="Cambria"/>
                <a:cs typeface="Cambria"/>
              </a:rPr>
              <a:t>to</a:t>
            </a:r>
            <a:r>
              <a:rPr sz="20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60" dirty="0">
                <a:solidFill>
                  <a:srgbClr val="005392"/>
                </a:solidFill>
                <a:latin typeface="Cambria"/>
                <a:cs typeface="Cambria"/>
              </a:rPr>
              <a:t>registers</a:t>
            </a:r>
            <a:r>
              <a:rPr sz="2000" spc="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a0</a:t>
            </a:r>
            <a:r>
              <a:rPr sz="20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005392"/>
                </a:solidFill>
                <a:latin typeface="Cambria"/>
                <a:cs typeface="Cambria"/>
              </a:rPr>
              <a:t>and</a:t>
            </a:r>
            <a:r>
              <a:rPr sz="20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005392"/>
                </a:solidFill>
                <a:latin typeface="Cambria"/>
                <a:cs typeface="Cambria"/>
              </a:rPr>
              <a:t>a1.</a:t>
            </a:r>
            <a:endParaRPr sz="2000">
              <a:latin typeface="Cambria"/>
              <a:cs typeface="Cambria"/>
            </a:endParaRPr>
          </a:p>
          <a:p>
            <a:pPr marL="12700" marR="2230755">
              <a:lnSpc>
                <a:spcPct val="100000"/>
              </a:lnSpc>
            </a:pP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a0 is 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same </a:t>
            </a:r>
            <a:r>
              <a:rPr sz="2000" spc="100" dirty="0">
                <a:solidFill>
                  <a:srgbClr val="005392"/>
                </a:solidFill>
                <a:latin typeface="Cambria"/>
                <a:cs typeface="Cambria"/>
              </a:rPr>
              <a:t>as </a:t>
            </a:r>
            <a:r>
              <a:rPr sz="2000" spc="35" dirty="0">
                <a:solidFill>
                  <a:srgbClr val="005392"/>
                </a:solidFill>
                <a:latin typeface="Cambria"/>
                <a:cs typeface="Cambria"/>
              </a:rPr>
              <a:t>x10 </a:t>
            </a:r>
            <a:r>
              <a:rPr sz="2000" spc="-4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a1</a:t>
            </a:r>
            <a:r>
              <a:rPr sz="2000" spc="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20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same</a:t>
            </a:r>
            <a:r>
              <a:rPr sz="2000" spc="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100" dirty="0">
                <a:solidFill>
                  <a:srgbClr val="005392"/>
                </a:solidFill>
                <a:latin typeface="Cambria"/>
                <a:cs typeface="Cambria"/>
              </a:rPr>
              <a:t>as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35" dirty="0">
                <a:solidFill>
                  <a:srgbClr val="005392"/>
                </a:solidFill>
                <a:latin typeface="Cambria"/>
                <a:cs typeface="Cambria"/>
              </a:rPr>
              <a:t>x11</a:t>
            </a:r>
            <a:endParaRPr sz="20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20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000" spc="100" dirty="0">
                <a:solidFill>
                  <a:srgbClr val="005392"/>
                </a:solidFill>
                <a:latin typeface="Cambria"/>
                <a:cs typeface="Cambria"/>
              </a:rPr>
              <a:t>Return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85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 is</a:t>
            </a:r>
            <a:r>
              <a:rPr sz="20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40" dirty="0">
                <a:solidFill>
                  <a:srgbClr val="005392"/>
                </a:solidFill>
                <a:latin typeface="Cambria"/>
                <a:cs typeface="Cambria"/>
              </a:rPr>
              <a:t>stored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90" dirty="0">
                <a:solidFill>
                  <a:srgbClr val="005392"/>
                </a:solidFill>
                <a:latin typeface="Cambria"/>
                <a:cs typeface="Cambria"/>
              </a:rPr>
              <a:t>in 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a0</a:t>
            </a:r>
            <a:r>
              <a:rPr sz="20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000" spc="70" dirty="0">
                <a:solidFill>
                  <a:srgbClr val="005392"/>
                </a:solidFill>
                <a:latin typeface="Cambria"/>
                <a:cs typeface="Cambria"/>
              </a:rPr>
              <a:t>itself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68BAFC-B95D-9432-FF69-825E2909C2BE}"/>
              </a:ext>
            </a:extLst>
          </p:cNvPr>
          <p:cNvSpPr txBox="1"/>
          <p:nvPr/>
        </p:nvSpPr>
        <p:spPr>
          <a:xfrm>
            <a:off x="-396039" y="2264413"/>
            <a:ext cx="285384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FF0000"/>
              </a:solidFill>
            </a:endParaRP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0x1F0	</a:t>
            </a: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0x1F4</a:t>
            </a:r>
          </a:p>
          <a:p>
            <a:pPr marL="952500"/>
            <a:endParaRPr lang="en-US" sz="1600" i="1" spc="-5" dirty="0">
              <a:solidFill>
                <a:srgbClr val="FF0000"/>
              </a:solidFill>
              <a:latin typeface="Courier New"/>
              <a:cs typeface="Courier New"/>
            </a:endParaRP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0x100</a:t>
            </a: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0x104</a:t>
            </a: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0x108</a:t>
            </a:r>
          </a:p>
          <a:p>
            <a:pPr marL="952500"/>
            <a:r>
              <a:rPr lang="en-US" sz="1600" i="1" spc="-5" dirty="0">
                <a:solidFill>
                  <a:srgbClr val="FF0000"/>
                </a:solidFill>
                <a:latin typeface="Courier New"/>
                <a:cs typeface="Courier New"/>
              </a:rPr>
              <a:t>0x10C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428DE8-BDD5-EA20-9FBB-DB60E8EC47B3}"/>
              </a:ext>
            </a:extLst>
          </p:cNvPr>
          <p:cNvSpPr txBox="1"/>
          <p:nvPr/>
        </p:nvSpPr>
        <p:spPr>
          <a:xfrm>
            <a:off x="2343705" y="4998128"/>
            <a:ext cx="17844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X1 = 0x10C</a:t>
            </a:r>
          </a:p>
          <a:p>
            <a:r>
              <a:rPr lang="en-US" dirty="0"/>
              <a:t>.</a:t>
            </a:r>
            <a:r>
              <a:rPr lang="en-US" dirty="0" err="1"/>
              <a:t>func</a:t>
            </a:r>
            <a:r>
              <a:rPr lang="en-US" dirty="0"/>
              <a:t> -&gt;0x1F0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9302" y="1370178"/>
            <a:ext cx="11513396" cy="6445995"/>
          </a:xfrm>
          <a:prstGeom prst="rect">
            <a:avLst/>
          </a:prstGeom>
        </p:spPr>
        <p:txBody>
          <a:bodyPr vert="horz" wrap="square" lIns="0" tIns="21653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705"/>
              </a:spcBef>
              <a:buFont typeface="Symbol"/>
              <a:buChar char=""/>
              <a:tabLst>
                <a:tab pos="335280" algn="l"/>
                <a:tab pos="335915" algn="l"/>
              </a:tabLst>
            </a:pPr>
            <a:r>
              <a:rPr sz="2400" spc="110" dirty="0">
                <a:solidFill>
                  <a:srgbClr val="0000FF"/>
                </a:solidFill>
                <a:latin typeface="Cambria"/>
                <a:cs typeface="Cambria"/>
              </a:rPr>
              <a:t>Space</a:t>
            </a:r>
            <a:r>
              <a:rPr sz="2400" spc="8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61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85" dirty="0">
                <a:latin typeface="Cambria"/>
                <a:cs typeface="Cambria"/>
              </a:rPr>
              <a:t>We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have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limited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number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registers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32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85" dirty="0">
                <a:latin typeface="Cambria"/>
                <a:cs typeface="Cambria"/>
              </a:rPr>
              <a:t>We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cannot</a:t>
            </a:r>
            <a:r>
              <a:rPr sz="2400" spc="125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pass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35" dirty="0">
                <a:latin typeface="Cambria"/>
                <a:cs typeface="Cambria"/>
              </a:rPr>
              <a:t>more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35" dirty="0">
                <a:latin typeface="Cambria"/>
                <a:cs typeface="Cambria"/>
              </a:rPr>
              <a:t>than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certain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85" dirty="0">
                <a:latin typeface="Cambria"/>
                <a:cs typeface="Cambria"/>
              </a:rPr>
              <a:t>number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dirty="0">
                <a:latin typeface="Cambria"/>
                <a:cs typeface="Cambria"/>
              </a:rPr>
              <a:t>of</a:t>
            </a:r>
            <a:r>
              <a:rPr sz="2400" spc="140" dirty="0">
                <a:latin typeface="Cambria"/>
                <a:cs typeface="Cambria"/>
              </a:rPr>
              <a:t> </a:t>
            </a:r>
            <a:r>
              <a:rPr sz="2400" spc="100" dirty="0">
                <a:latin typeface="Cambria"/>
                <a:cs typeface="Cambria"/>
              </a:rPr>
              <a:t>arguments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31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90" dirty="0">
                <a:solidFill>
                  <a:srgbClr val="0000FF"/>
                </a:solidFill>
                <a:latin typeface="Cambria"/>
                <a:cs typeface="Cambria"/>
              </a:rPr>
              <a:t>Solution</a:t>
            </a:r>
            <a:r>
              <a:rPr sz="2400" spc="10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000FF"/>
                </a:solidFill>
                <a:latin typeface="Cambria"/>
                <a:cs typeface="Cambria"/>
              </a:rPr>
              <a:t>:</a:t>
            </a:r>
            <a:r>
              <a:rPr sz="2400" spc="13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65" dirty="0">
                <a:latin typeface="Cambria"/>
                <a:cs typeface="Cambria"/>
              </a:rPr>
              <a:t>Use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55" dirty="0">
                <a:latin typeface="Cambria"/>
                <a:cs typeface="Cambria"/>
              </a:rPr>
              <a:t>memory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60" dirty="0">
                <a:latin typeface="Cambria"/>
                <a:cs typeface="Cambria"/>
              </a:rPr>
              <a:t>also</a:t>
            </a:r>
            <a:endParaRPr sz="2400" dirty="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1815"/>
              </a:spcBef>
              <a:buFont typeface="Symbol"/>
              <a:buChar char=""/>
              <a:tabLst>
                <a:tab pos="335280" algn="l"/>
                <a:tab pos="335915" algn="l"/>
              </a:tabLst>
            </a:pPr>
            <a:r>
              <a:rPr sz="2400" spc="85" dirty="0">
                <a:solidFill>
                  <a:srgbClr val="0000FF"/>
                </a:solidFill>
                <a:latin typeface="Cambria"/>
                <a:cs typeface="Cambria"/>
              </a:rPr>
              <a:t>Overwrite</a:t>
            </a:r>
            <a:r>
              <a:rPr sz="2400" spc="7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61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135" dirty="0">
                <a:latin typeface="Cambria"/>
                <a:cs typeface="Cambria"/>
              </a:rPr>
              <a:t>What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160" dirty="0">
                <a:latin typeface="Cambria"/>
                <a:cs typeface="Cambria"/>
              </a:rPr>
              <a:t>a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function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calls</a:t>
            </a:r>
            <a:r>
              <a:rPr sz="2400" spc="105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itself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?</a:t>
            </a:r>
            <a:r>
              <a:rPr sz="2400" spc="135" dirty="0">
                <a:latin typeface="Cambria"/>
                <a:cs typeface="Cambria"/>
              </a:rPr>
              <a:t> </a:t>
            </a:r>
            <a:r>
              <a:rPr sz="2400" spc="45" dirty="0">
                <a:latin typeface="Cambria"/>
                <a:cs typeface="Cambria"/>
              </a:rPr>
              <a:t>(recursive</a:t>
            </a:r>
            <a:r>
              <a:rPr sz="2400" spc="100" dirty="0">
                <a:latin typeface="Cambria"/>
                <a:cs typeface="Cambria"/>
              </a:rPr>
              <a:t> </a:t>
            </a:r>
            <a:r>
              <a:rPr sz="2400" spc="50" dirty="0">
                <a:latin typeface="Cambria"/>
                <a:cs typeface="Cambria"/>
              </a:rPr>
              <a:t>call)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32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114" dirty="0">
                <a:latin typeface="Cambria"/>
                <a:cs typeface="Cambria"/>
              </a:rPr>
              <a:t>The </a:t>
            </a:r>
            <a:r>
              <a:rPr sz="2400" spc="70" dirty="0">
                <a:latin typeface="Cambria"/>
                <a:cs typeface="Cambria"/>
              </a:rPr>
              <a:t>callee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5" dirty="0">
                <a:latin typeface="Cambria"/>
                <a:cs typeface="Cambria"/>
              </a:rPr>
              <a:t>can</a:t>
            </a:r>
            <a:r>
              <a:rPr sz="2400" spc="110" dirty="0"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FF0000"/>
                </a:solidFill>
                <a:latin typeface="Cambria"/>
                <a:cs typeface="Cambria"/>
              </a:rPr>
              <a:t>overwrite</a:t>
            </a:r>
            <a:r>
              <a:rPr sz="2400" spc="11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75" dirty="0">
                <a:latin typeface="Cambria"/>
                <a:cs typeface="Cambria"/>
              </a:rPr>
              <a:t>registers</a:t>
            </a:r>
            <a:r>
              <a:rPr sz="2400" spc="114" dirty="0">
                <a:latin typeface="Cambria"/>
                <a:cs typeface="Cambria"/>
              </a:rPr>
              <a:t> </a:t>
            </a:r>
            <a:r>
              <a:rPr sz="2400" spc="-5" dirty="0">
                <a:latin typeface="Cambria"/>
                <a:cs typeface="Cambria"/>
              </a:rPr>
              <a:t>of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90" dirty="0">
                <a:latin typeface="Cambria"/>
                <a:cs typeface="Cambria"/>
              </a:rPr>
              <a:t>the</a:t>
            </a:r>
            <a:r>
              <a:rPr sz="2400" spc="130" dirty="0">
                <a:latin typeface="Cambria"/>
                <a:cs typeface="Cambria"/>
              </a:rPr>
              <a:t> </a:t>
            </a:r>
            <a:r>
              <a:rPr sz="2400" spc="80" dirty="0">
                <a:latin typeface="Cambria"/>
                <a:cs typeface="Cambria"/>
              </a:rPr>
              <a:t>caller</a:t>
            </a:r>
            <a:endParaRPr sz="2400" dirty="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305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400" spc="90" dirty="0">
                <a:solidFill>
                  <a:srgbClr val="0000FF"/>
                </a:solidFill>
                <a:latin typeface="Cambria"/>
                <a:cs typeface="Cambria"/>
              </a:rPr>
              <a:t>Solution </a:t>
            </a:r>
            <a:r>
              <a:rPr sz="2400" spc="30" dirty="0">
                <a:solidFill>
                  <a:srgbClr val="0000FF"/>
                </a:solidFill>
                <a:latin typeface="Cambria"/>
                <a:cs typeface="Cambria"/>
              </a:rPr>
              <a:t>:</a:t>
            </a:r>
            <a:r>
              <a:rPr sz="24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400" spc="120" dirty="0">
                <a:latin typeface="Cambria"/>
                <a:cs typeface="Cambria"/>
              </a:rPr>
              <a:t>Spilling</a:t>
            </a:r>
            <a:endParaRPr lang="en-US" sz="2400" spc="120" dirty="0">
              <a:latin typeface="Cambria"/>
              <a:cs typeface="Cambria"/>
            </a:endParaRPr>
          </a:p>
          <a:p>
            <a:pPr marL="443230" lvl="1">
              <a:lnSpc>
                <a:spcPct val="100000"/>
              </a:lnSpc>
              <a:spcBef>
                <a:spcPts val="1305"/>
              </a:spcBef>
              <a:tabLst>
                <a:tab pos="768350" algn="l"/>
                <a:tab pos="768985" algn="l"/>
              </a:tabLst>
            </a:pPr>
            <a:r>
              <a:rPr lang="en-US" spc="120" dirty="0">
                <a:latin typeface="Cambria"/>
                <a:cs typeface="Cambria"/>
              </a:rPr>
              <a:t>Note: </a:t>
            </a:r>
            <a:r>
              <a:rPr lang="en-US" b="1" spc="120" dirty="0">
                <a:cs typeface="Cambria"/>
              </a:rPr>
              <a:t>spilling is a technique in which, a variable is moved out from a register space to the main memory(the RAM) to make space for other variables, which are to be used in the program currently under execution.  </a:t>
            </a:r>
            <a:endParaRPr b="1" dirty="0">
              <a:cs typeface="Cambria"/>
            </a:endParaRPr>
          </a:p>
          <a:p>
            <a:pPr>
              <a:lnSpc>
                <a:spcPct val="100000"/>
              </a:lnSpc>
            </a:pPr>
            <a:endParaRPr sz="2900" dirty="0">
              <a:latin typeface="Cambria"/>
              <a:cs typeface="Cambria"/>
            </a:endParaRPr>
          </a:p>
          <a:p>
            <a:pPr marR="5080" algn="r">
              <a:lnSpc>
                <a:spcPct val="100000"/>
              </a:lnSpc>
              <a:spcBef>
                <a:spcPts val="1900"/>
              </a:spcBef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38200" y="138112"/>
            <a:ext cx="10515600" cy="1089594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 marR="5080">
              <a:lnSpc>
                <a:spcPts val="3770"/>
              </a:lnSpc>
              <a:spcBef>
                <a:spcPts val="685"/>
              </a:spcBef>
            </a:pPr>
            <a:r>
              <a:rPr dirty="0"/>
              <a:t>Limitations with use of registers for argument  passing or returning results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388111"/>
            <a:ext cx="44653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65" dirty="0"/>
              <a:t>Register</a:t>
            </a:r>
            <a:r>
              <a:rPr sz="4000" spc="220" dirty="0"/>
              <a:t> </a:t>
            </a:r>
            <a:r>
              <a:rPr sz="4000" spc="290" dirty="0"/>
              <a:t>Spilling</a:t>
            </a:r>
            <a:endParaRPr sz="4000" dirty="0"/>
          </a:p>
        </p:txBody>
      </p:sp>
      <p:sp>
        <p:nvSpPr>
          <p:cNvPr id="4" name="object 4"/>
          <p:cNvSpPr txBox="1"/>
          <p:nvPr/>
        </p:nvSpPr>
        <p:spPr>
          <a:xfrm>
            <a:off x="603605" y="1112799"/>
            <a:ext cx="9671685" cy="4698365"/>
          </a:xfrm>
          <a:prstGeom prst="rect">
            <a:avLst/>
          </a:prstGeom>
        </p:spPr>
        <p:txBody>
          <a:bodyPr vert="horz" wrap="square" lIns="0" tIns="210820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660"/>
              </a:spcBef>
              <a:buFont typeface="Symbol"/>
              <a:buChar char=""/>
              <a:tabLst>
                <a:tab pos="335280" algn="l"/>
                <a:tab pos="335915" algn="l"/>
              </a:tabLst>
            </a:pPr>
            <a:r>
              <a:rPr sz="2800" spc="90" dirty="0">
                <a:solidFill>
                  <a:srgbClr val="DC2200"/>
                </a:solidFill>
                <a:latin typeface="Cambria"/>
                <a:cs typeface="Cambria"/>
              </a:rPr>
              <a:t>caller</a:t>
            </a:r>
            <a:r>
              <a:rPr sz="2800" spc="140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DC2200"/>
                </a:solidFill>
                <a:latin typeface="Cambria"/>
                <a:cs typeface="Cambria"/>
              </a:rPr>
              <a:t>saved</a:t>
            </a:r>
            <a:r>
              <a:rPr sz="2800" spc="12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DC2200"/>
                </a:solidFill>
                <a:latin typeface="Cambria"/>
                <a:cs typeface="Cambria"/>
              </a:rPr>
              <a:t>scheme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65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800" spc="130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0" dirty="0">
                <a:latin typeface="Cambria"/>
                <a:cs typeface="Cambria"/>
              </a:rPr>
              <a:t>caller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can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FF0000"/>
                </a:solidFill>
                <a:latin typeface="Cambria"/>
                <a:cs typeface="Cambria"/>
              </a:rPr>
              <a:t>save</a:t>
            </a:r>
            <a:r>
              <a:rPr sz="2800" spc="17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set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registers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its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needs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26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800" spc="210" dirty="0">
                <a:solidFill>
                  <a:srgbClr val="DC2200"/>
                </a:solidFill>
                <a:latin typeface="Cambria"/>
                <a:cs typeface="Cambria"/>
              </a:rPr>
              <a:t>Call</a:t>
            </a:r>
            <a:r>
              <a:rPr sz="2800" spc="160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function</a:t>
            </a:r>
            <a:endParaRPr sz="2800">
              <a:latin typeface="Cambria"/>
              <a:cs typeface="Cambria"/>
            </a:endParaRPr>
          </a:p>
          <a:p>
            <a:pPr marL="768350" marR="5080" lvl="1" indent="-325120">
              <a:lnSpc>
                <a:spcPts val="3030"/>
              </a:lnSpc>
              <a:spcBef>
                <a:spcPts val="165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800" spc="150" dirty="0">
                <a:latin typeface="Cambria"/>
                <a:cs typeface="Cambria"/>
              </a:rPr>
              <a:t>And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then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FF3366"/>
                </a:solidFill>
                <a:latin typeface="Cambria"/>
                <a:cs typeface="Cambria"/>
              </a:rPr>
              <a:t>restore</a:t>
            </a:r>
            <a:r>
              <a:rPr sz="2800" spc="145" dirty="0">
                <a:solidFill>
                  <a:srgbClr val="FF3366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set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registers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after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function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returns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210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800" spc="120" dirty="0">
                <a:latin typeface="Cambria"/>
                <a:cs typeface="Cambria"/>
              </a:rPr>
              <a:t>Known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as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FF3333"/>
                </a:solidFill>
                <a:latin typeface="Cambria"/>
                <a:cs typeface="Cambria"/>
              </a:rPr>
              <a:t>caller</a:t>
            </a:r>
            <a:r>
              <a:rPr sz="2800" spc="165" dirty="0">
                <a:solidFill>
                  <a:srgbClr val="FF3333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FF3333"/>
                </a:solidFill>
                <a:latin typeface="Cambria"/>
                <a:cs typeface="Cambria"/>
              </a:rPr>
              <a:t>saved</a:t>
            </a:r>
            <a:r>
              <a:rPr sz="2800" spc="145" dirty="0">
                <a:solidFill>
                  <a:srgbClr val="FF3333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FF3333"/>
                </a:solidFill>
                <a:latin typeface="Cambria"/>
                <a:cs typeface="Cambria"/>
              </a:rPr>
              <a:t>scheme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1760"/>
              </a:spcBef>
              <a:buFont typeface="Symbol"/>
              <a:buChar char=""/>
              <a:tabLst>
                <a:tab pos="335280" algn="l"/>
                <a:tab pos="335915" algn="l"/>
              </a:tabLst>
            </a:pPr>
            <a:r>
              <a:rPr sz="2800" spc="80" dirty="0">
                <a:solidFill>
                  <a:srgbClr val="DC2200"/>
                </a:solidFill>
                <a:latin typeface="Cambria"/>
                <a:cs typeface="Cambria"/>
              </a:rPr>
              <a:t>callee</a:t>
            </a:r>
            <a:r>
              <a:rPr sz="2800" spc="15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90" dirty="0">
                <a:solidFill>
                  <a:srgbClr val="DC2200"/>
                </a:solidFill>
                <a:latin typeface="Cambria"/>
                <a:cs typeface="Cambria"/>
              </a:rPr>
              <a:t>saved</a:t>
            </a:r>
            <a:r>
              <a:rPr sz="2800" spc="14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75" dirty="0">
                <a:solidFill>
                  <a:srgbClr val="DC2200"/>
                </a:solidFill>
                <a:latin typeface="Cambria"/>
                <a:cs typeface="Cambria"/>
              </a:rPr>
              <a:t>scheme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65"/>
              </a:spcBef>
              <a:buFont typeface="Symbol"/>
              <a:buChar char=""/>
              <a:tabLst>
                <a:tab pos="768350" algn="l"/>
                <a:tab pos="768985" algn="l"/>
              </a:tabLst>
            </a:pPr>
            <a:r>
              <a:rPr sz="2800" spc="130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callee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008000"/>
                </a:solidFill>
                <a:latin typeface="Cambria"/>
                <a:cs typeface="Cambria"/>
              </a:rPr>
              <a:t>saves</a:t>
            </a:r>
            <a:r>
              <a:rPr sz="2800" spc="165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registers,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later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8080"/>
                </a:solidFill>
                <a:latin typeface="Cambria"/>
                <a:cs typeface="Cambria"/>
              </a:rPr>
              <a:t>restores</a:t>
            </a:r>
            <a:r>
              <a:rPr sz="2800" spc="150" dirty="0">
                <a:solidFill>
                  <a:srgbClr val="008080"/>
                </a:solidFill>
                <a:latin typeface="Cambria"/>
                <a:cs typeface="Cambria"/>
              </a:rPr>
              <a:t> </a:t>
            </a:r>
            <a:r>
              <a:rPr sz="2800" spc="114" dirty="0">
                <a:latin typeface="Cambria"/>
                <a:cs typeface="Cambria"/>
              </a:rPr>
              <a:t>them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5317" y="4910454"/>
            <a:ext cx="9876155" cy="1790234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L="12700" marR="232410">
              <a:lnSpc>
                <a:spcPts val="2860"/>
              </a:lnSpc>
              <a:spcBef>
                <a:spcPts val="210"/>
              </a:spcBef>
            </a:pP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Saver </a:t>
            </a:r>
            <a:r>
              <a:rPr sz="2400" spc="8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2400" spc="14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30" dirty="0">
                <a:solidFill>
                  <a:srgbClr val="005392"/>
                </a:solidFill>
                <a:latin typeface="Cambria"/>
                <a:cs typeface="Cambria"/>
              </a:rPr>
              <a:t>“caller”: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5392"/>
                </a:solidFill>
                <a:latin typeface="Cambria"/>
                <a:cs typeface="Cambria"/>
              </a:rPr>
              <a:t>means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that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24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5392"/>
                </a:solidFill>
                <a:latin typeface="Cambria"/>
                <a:cs typeface="Cambria"/>
              </a:rPr>
              <a:t>function</a:t>
            </a:r>
            <a:r>
              <a:rPr sz="2400" spc="12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5392"/>
                </a:solidFill>
                <a:latin typeface="Cambria"/>
                <a:cs typeface="Cambria"/>
              </a:rPr>
              <a:t>caller</a:t>
            </a:r>
            <a:r>
              <a:rPr sz="2400" spc="15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must</a:t>
            </a:r>
            <a:r>
              <a:rPr sz="2400" spc="14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5392"/>
                </a:solidFill>
                <a:latin typeface="Cambria"/>
                <a:cs typeface="Cambria"/>
              </a:rPr>
              <a:t>save</a:t>
            </a:r>
            <a:r>
              <a:rPr sz="24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that </a:t>
            </a:r>
            <a:r>
              <a:rPr sz="2400" spc="70" dirty="0">
                <a:solidFill>
                  <a:srgbClr val="005392"/>
                </a:solidFill>
                <a:latin typeface="Cambria"/>
                <a:cs typeface="Cambria"/>
              </a:rPr>
              <a:t>register </a:t>
            </a:r>
            <a:r>
              <a:rPr sz="2400" spc="-509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005392"/>
                </a:solidFill>
                <a:latin typeface="Cambria"/>
                <a:cs typeface="Cambria"/>
              </a:rPr>
              <a:t>somewhere</a:t>
            </a:r>
            <a:r>
              <a:rPr sz="2400" spc="114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005392"/>
                </a:solidFill>
                <a:latin typeface="Cambria"/>
                <a:cs typeface="Cambria"/>
              </a:rPr>
              <a:t>before</a:t>
            </a:r>
            <a:r>
              <a:rPr sz="24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calling</a:t>
            </a:r>
            <a:r>
              <a:rPr lang="en-US" sz="2400" spc="85" dirty="0">
                <a:solidFill>
                  <a:srgbClr val="005392"/>
                </a:solidFill>
                <a:latin typeface="Cambria"/>
                <a:cs typeface="Cambria"/>
              </a:rPr>
              <a:t> e.g. main()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870"/>
              </a:lnSpc>
              <a:spcBef>
                <a:spcPts val="925"/>
              </a:spcBef>
              <a:tabLst>
                <a:tab pos="2464435" algn="l"/>
              </a:tabLst>
            </a:pP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Saver 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2400" spc="14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005392"/>
                </a:solidFill>
                <a:latin typeface="Cambria"/>
                <a:cs typeface="Cambria"/>
              </a:rPr>
              <a:t>“callee”:	</a:t>
            </a:r>
            <a:r>
              <a:rPr sz="2400" spc="70" dirty="0">
                <a:solidFill>
                  <a:srgbClr val="005392"/>
                </a:solidFill>
                <a:latin typeface="Cambria"/>
                <a:cs typeface="Cambria"/>
              </a:rPr>
              <a:t>means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that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5392"/>
                </a:solidFill>
                <a:latin typeface="Cambria"/>
                <a:cs typeface="Cambria"/>
              </a:rPr>
              <a:t>if</a:t>
            </a: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60" dirty="0">
                <a:solidFill>
                  <a:srgbClr val="005392"/>
                </a:solidFill>
                <a:latin typeface="Cambria"/>
                <a:cs typeface="Cambria"/>
              </a:rPr>
              <a:t>a</a:t>
            </a:r>
            <a:r>
              <a:rPr sz="2400" spc="14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5392"/>
                </a:solidFill>
                <a:latin typeface="Cambria"/>
                <a:cs typeface="Cambria"/>
              </a:rPr>
              <a:t>function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wants</a:t>
            </a:r>
            <a:r>
              <a:rPr sz="2400" spc="12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005392"/>
                </a:solidFill>
                <a:latin typeface="Cambria"/>
                <a:cs typeface="Cambria"/>
              </a:rPr>
              <a:t>to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70" dirty="0">
                <a:solidFill>
                  <a:srgbClr val="005392"/>
                </a:solidFill>
                <a:latin typeface="Cambria"/>
                <a:cs typeface="Cambria"/>
              </a:rPr>
              <a:t>use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25" dirty="0">
                <a:solidFill>
                  <a:srgbClr val="005392"/>
                </a:solidFill>
                <a:latin typeface="Cambria"/>
                <a:cs typeface="Cambria"/>
              </a:rPr>
              <a:t>that</a:t>
            </a:r>
            <a:r>
              <a:rPr sz="24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75" dirty="0">
                <a:solidFill>
                  <a:srgbClr val="005392"/>
                </a:solidFill>
                <a:latin typeface="Cambria"/>
                <a:cs typeface="Cambria"/>
              </a:rPr>
              <a:t>register,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it</a:t>
            </a:r>
            <a:endParaRPr sz="2400" dirty="0">
              <a:latin typeface="Cambria"/>
              <a:cs typeface="Cambria"/>
            </a:endParaRPr>
          </a:p>
          <a:p>
            <a:pPr marL="12700">
              <a:lnSpc>
                <a:spcPts val="2395"/>
              </a:lnSpc>
            </a:pP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must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0" dirty="0">
                <a:solidFill>
                  <a:srgbClr val="005392"/>
                </a:solidFill>
                <a:latin typeface="Cambria"/>
                <a:cs typeface="Cambria"/>
              </a:rPr>
              <a:t>first</a:t>
            </a:r>
            <a:r>
              <a:rPr sz="2400" spc="114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65" dirty="0">
                <a:solidFill>
                  <a:srgbClr val="005392"/>
                </a:solidFill>
                <a:latin typeface="Cambria"/>
                <a:cs typeface="Cambria"/>
              </a:rPr>
              <a:t>save</a:t>
            </a:r>
            <a:r>
              <a:rPr sz="2400" spc="14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it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05392"/>
                </a:solidFill>
                <a:latin typeface="Cambria"/>
                <a:cs typeface="Cambria"/>
              </a:rPr>
              <a:t>somewhere,</a:t>
            </a: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and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25" dirty="0">
                <a:solidFill>
                  <a:srgbClr val="005392"/>
                </a:solidFill>
                <a:latin typeface="Cambria"/>
                <a:cs typeface="Cambria"/>
              </a:rPr>
              <a:t>restore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it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005392"/>
                </a:solidFill>
                <a:latin typeface="Cambria"/>
                <a:cs typeface="Cambria"/>
              </a:rPr>
              <a:t>before</a:t>
            </a:r>
            <a:r>
              <a:rPr sz="2400" spc="6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85" dirty="0">
                <a:solidFill>
                  <a:srgbClr val="005392"/>
                </a:solidFill>
                <a:latin typeface="Cambria"/>
                <a:cs typeface="Cambria"/>
              </a:rPr>
              <a:t>returning</a:t>
            </a:r>
            <a:r>
              <a:rPr lang="en-US" sz="2400" spc="85" dirty="0">
                <a:solidFill>
                  <a:srgbClr val="005392"/>
                </a:solidFill>
                <a:latin typeface="Cambria"/>
                <a:cs typeface="Cambria"/>
              </a:rPr>
              <a:t> e.g. sum()</a:t>
            </a:r>
            <a:endParaRPr sz="2400" dirty="0">
              <a:latin typeface="Cambria"/>
              <a:cs typeface="Cambria"/>
            </a:endParaRPr>
          </a:p>
          <a:p>
            <a:pPr marR="62865" algn="r">
              <a:lnSpc>
                <a:spcPts val="1685"/>
              </a:lnSpc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378079"/>
            <a:ext cx="887857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25" dirty="0">
                <a:solidFill>
                  <a:srgbClr val="1B4078"/>
                </a:solidFill>
              </a:rPr>
              <a:t>caller</a:t>
            </a:r>
            <a:r>
              <a:rPr sz="4000" spc="260" dirty="0">
                <a:solidFill>
                  <a:srgbClr val="1B4078"/>
                </a:solidFill>
              </a:rPr>
              <a:t> </a:t>
            </a:r>
            <a:r>
              <a:rPr sz="4000" spc="195" dirty="0">
                <a:solidFill>
                  <a:srgbClr val="1B4078"/>
                </a:solidFill>
              </a:rPr>
              <a:t>or</a:t>
            </a:r>
            <a:r>
              <a:rPr sz="4000" spc="245" dirty="0">
                <a:solidFill>
                  <a:srgbClr val="1B4078"/>
                </a:solidFill>
              </a:rPr>
              <a:t> </a:t>
            </a:r>
            <a:r>
              <a:rPr sz="4000" spc="204" dirty="0">
                <a:solidFill>
                  <a:srgbClr val="1B4078"/>
                </a:solidFill>
              </a:rPr>
              <a:t>callee-saver</a:t>
            </a:r>
            <a:r>
              <a:rPr sz="4000" spc="290" dirty="0">
                <a:solidFill>
                  <a:srgbClr val="1B4078"/>
                </a:solidFill>
              </a:rPr>
              <a:t> </a:t>
            </a:r>
            <a:r>
              <a:rPr sz="4000" spc="245" dirty="0">
                <a:solidFill>
                  <a:srgbClr val="1B4078"/>
                </a:solidFill>
              </a:rPr>
              <a:t>conventions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3487673" y="1913382"/>
            <a:ext cx="1926589" cy="279400"/>
          </a:xfrm>
          <a:prstGeom prst="rect">
            <a:avLst/>
          </a:prstGeom>
          <a:solidFill>
            <a:srgbClr val="F4D6E2"/>
          </a:solidFill>
          <a:ln w="3175">
            <a:solidFill>
              <a:srgbClr val="15111D"/>
            </a:solidFill>
          </a:ln>
        </p:spPr>
        <p:txBody>
          <a:bodyPr vert="horz" wrap="square" lIns="0" tIns="2794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220"/>
              </a:spcBef>
            </a:pPr>
            <a:r>
              <a:rPr sz="1500" spc="90" dirty="0">
                <a:latin typeface="Cambria"/>
                <a:cs typeface="Cambria"/>
              </a:rPr>
              <a:t>Save</a:t>
            </a:r>
            <a:r>
              <a:rPr sz="1500" spc="40" dirty="0">
                <a:latin typeface="Cambria"/>
                <a:cs typeface="Cambria"/>
              </a:rPr>
              <a:t> registers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490721" y="3914394"/>
            <a:ext cx="1927860" cy="280670"/>
          </a:xfrm>
          <a:prstGeom prst="rect">
            <a:avLst/>
          </a:prstGeom>
          <a:solidFill>
            <a:srgbClr val="F4D6E2"/>
          </a:solidFill>
          <a:ln w="3175">
            <a:solidFill>
              <a:srgbClr val="15111D"/>
            </a:solidFill>
          </a:ln>
        </p:spPr>
        <p:txBody>
          <a:bodyPr vert="horz" wrap="square" lIns="0" tIns="36195" rIns="0" bIns="0" rtlCol="0">
            <a:spAutoFit/>
          </a:bodyPr>
          <a:lstStyle/>
          <a:p>
            <a:pPr marL="194945">
              <a:lnSpc>
                <a:spcPct val="100000"/>
              </a:lnSpc>
              <a:spcBef>
                <a:spcPts val="285"/>
              </a:spcBef>
            </a:pPr>
            <a:r>
              <a:rPr sz="1500" spc="40" dirty="0">
                <a:latin typeface="Cambria"/>
                <a:cs typeface="Cambria"/>
              </a:rPr>
              <a:t>Restore registers</a:t>
            </a:r>
            <a:endParaRPr sz="1500">
              <a:latin typeface="Cambria"/>
              <a:cs typeface="Cambr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81578" y="2280666"/>
            <a:ext cx="1931035" cy="1548765"/>
          </a:xfrm>
          <a:prstGeom prst="rect">
            <a:avLst/>
          </a:prstGeom>
          <a:solidFill>
            <a:srgbClr val="FFE6D4"/>
          </a:solidFill>
          <a:ln w="3175">
            <a:solidFill>
              <a:srgbClr val="15111D"/>
            </a:solidFill>
          </a:ln>
        </p:spPr>
        <p:txBody>
          <a:bodyPr vert="horz" wrap="square" lIns="0" tIns="22860" rIns="0" bIns="0" rtlCol="0">
            <a:spAutoFit/>
          </a:bodyPr>
          <a:lstStyle/>
          <a:p>
            <a:pPr marL="568325">
              <a:lnSpc>
                <a:spcPct val="100000"/>
              </a:lnSpc>
              <a:spcBef>
                <a:spcPts val="180"/>
              </a:spcBef>
            </a:pPr>
            <a:r>
              <a:rPr sz="1600" spc="85" dirty="0">
                <a:latin typeface="Cambria"/>
                <a:cs typeface="Cambria"/>
              </a:rPr>
              <a:t>Callee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2310" y="1431797"/>
            <a:ext cx="2415540" cy="2967355"/>
          </a:xfrm>
          <a:prstGeom prst="rect">
            <a:avLst/>
          </a:prstGeom>
          <a:ln w="3175">
            <a:solidFill>
              <a:srgbClr val="15111D"/>
            </a:solidFill>
          </a:ln>
        </p:spPr>
        <p:txBody>
          <a:bodyPr vert="horz" wrap="square" lIns="0" tIns="25400" rIns="0" bIns="0" rtlCol="0">
            <a:spAutoFit/>
          </a:bodyPr>
          <a:lstStyle/>
          <a:p>
            <a:pPr marR="202565" algn="ctr">
              <a:lnSpc>
                <a:spcPct val="100000"/>
              </a:lnSpc>
              <a:spcBef>
                <a:spcPts val="200"/>
              </a:spcBef>
            </a:pPr>
            <a:r>
              <a:rPr sz="1600" spc="90" dirty="0">
                <a:latin typeface="Cambria"/>
                <a:cs typeface="Cambria"/>
              </a:rPr>
              <a:t>Caller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32397" y="1434846"/>
            <a:ext cx="2415540" cy="2967355"/>
          </a:xfrm>
          <a:custGeom>
            <a:avLst/>
            <a:gdLst/>
            <a:ahLst/>
            <a:cxnLst/>
            <a:rect l="l" t="t" r="r" b="b"/>
            <a:pathLst>
              <a:path w="2415540" h="2967354">
                <a:moveTo>
                  <a:pt x="0" y="2967228"/>
                </a:moveTo>
                <a:lnTo>
                  <a:pt x="2415540" y="2967228"/>
                </a:lnTo>
                <a:lnTo>
                  <a:pt x="2415540" y="0"/>
                </a:lnTo>
                <a:lnTo>
                  <a:pt x="0" y="0"/>
                </a:lnTo>
                <a:lnTo>
                  <a:pt x="0" y="2967228"/>
                </a:lnTo>
                <a:close/>
              </a:path>
            </a:pathLst>
          </a:custGeom>
          <a:ln w="3175">
            <a:solidFill>
              <a:srgbClr val="15111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6469253" y="2282825"/>
          <a:ext cx="1995170" cy="15300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95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30124">
                <a:tc>
                  <a:txBody>
                    <a:bodyPr/>
                    <a:lstStyle/>
                    <a:p>
                      <a:pPr marL="567055">
                        <a:lnSpc>
                          <a:spcPts val="1500"/>
                        </a:lnSpc>
                      </a:pPr>
                      <a:r>
                        <a:rPr sz="1600" spc="85" dirty="0">
                          <a:latin typeface="Cambria"/>
                          <a:cs typeface="Cambria"/>
                        </a:rPr>
                        <a:t>Callee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0" marB="0">
                    <a:lnL w="3175">
                      <a:solidFill>
                        <a:srgbClr val="15111D"/>
                      </a:solidFill>
                      <a:prstDash val="solid"/>
                    </a:lnL>
                    <a:lnR w="3175">
                      <a:solidFill>
                        <a:srgbClr val="15111D"/>
                      </a:solidFill>
                      <a:prstDash val="solid"/>
                    </a:lnR>
                    <a:lnT w="3175">
                      <a:solidFill>
                        <a:srgbClr val="15111D"/>
                      </a:solidFill>
                      <a:prstDash val="solid"/>
                    </a:lnT>
                    <a:lnB w="3175">
                      <a:solidFill>
                        <a:srgbClr val="15111D"/>
                      </a:solidFill>
                      <a:prstDash val="solid"/>
                    </a:lnB>
                    <a:solidFill>
                      <a:srgbClr val="FFE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415">
                <a:tc>
                  <a:txBody>
                    <a:bodyPr/>
                    <a:lstStyle/>
                    <a:p>
                      <a:pPr marL="31178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sz="1500" spc="90" dirty="0">
                          <a:latin typeface="Cambria"/>
                          <a:cs typeface="Cambria"/>
                        </a:rPr>
                        <a:t>Save</a:t>
                      </a:r>
                      <a:r>
                        <a:rPr sz="1500" spc="35" dirty="0">
                          <a:latin typeface="Cambria"/>
                          <a:cs typeface="Cambria"/>
                        </a:rPr>
                        <a:t> </a:t>
                      </a:r>
                      <a:r>
                        <a:rPr sz="1500" spc="45" dirty="0">
                          <a:latin typeface="Cambria"/>
                          <a:cs typeface="Cambria"/>
                        </a:rPr>
                        <a:t>registers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27940" marB="0">
                    <a:lnL w="3175">
                      <a:solidFill>
                        <a:srgbClr val="15111D"/>
                      </a:solidFill>
                      <a:prstDash val="solid"/>
                    </a:lnL>
                    <a:lnR w="3175">
                      <a:solidFill>
                        <a:srgbClr val="15111D"/>
                      </a:solidFill>
                      <a:prstDash val="solid"/>
                    </a:lnR>
                    <a:lnT w="3175">
                      <a:solidFill>
                        <a:srgbClr val="15111D"/>
                      </a:solidFill>
                      <a:prstDash val="solid"/>
                    </a:lnT>
                    <a:lnB w="3175">
                      <a:solidFill>
                        <a:srgbClr val="15111D"/>
                      </a:solidFill>
                      <a:prstDash val="solid"/>
                    </a:lnB>
                    <a:solidFill>
                      <a:srgbClr val="F4D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15111D"/>
                      </a:solidFill>
                      <a:prstDash val="solid"/>
                    </a:lnL>
                    <a:lnR w="3175">
                      <a:solidFill>
                        <a:srgbClr val="15111D"/>
                      </a:solidFill>
                      <a:prstDash val="solid"/>
                    </a:lnR>
                    <a:lnT w="3175">
                      <a:solidFill>
                        <a:srgbClr val="15111D"/>
                      </a:solidFill>
                      <a:prstDash val="solid"/>
                    </a:lnT>
                    <a:lnB w="3175">
                      <a:solidFill>
                        <a:srgbClr val="15111D"/>
                      </a:solidFill>
                      <a:prstDash val="solid"/>
                    </a:lnB>
                    <a:solidFill>
                      <a:srgbClr val="FFE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79">
                <a:tc>
                  <a:txBody>
                    <a:bodyPr/>
                    <a:lstStyle/>
                    <a:p>
                      <a:pPr marL="2324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500" spc="40" dirty="0">
                          <a:latin typeface="Cambria"/>
                          <a:cs typeface="Cambria"/>
                        </a:rPr>
                        <a:t>Restore registers</a:t>
                      </a:r>
                      <a:endParaRPr sz="1500">
                        <a:latin typeface="Cambria"/>
                        <a:cs typeface="Cambria"/>
                      </a:endParaRPr>
                    </a:p>
                  </a:txBody>
                  <a:tcPr marL="0" marR="0" marT="35560" marB="0">
                    <a:lnL w="3175">
                      <a:solidFill>
                        <a:srgbClr val="15111D"/>
                      </a:solidFill>
                      <a:prstDash val="solid"/>
                    </a:lnL>
                    <a:lnR w="3175">
                      <a:solidFill>
                        <a:srgbClr val="15111D"/>
                      </a:solidFill>
                      <a:prstDash val="solid"/>
                    </a:lnR>
                    <a:lnT w="3175">
                      <a:solidFill>
                        <a:srgbClr val="15111D"/>
                      </a:solidFill>
                      <a:prstDash val="solid"/>
                    </a:lnT>
                    <a:lnB w="3175">
                      <a:solidFill>
                        <a:srgbClr val="15111D"/>
                      </a:solidFill>
                      <a:prstDash val="solid"/>
                    </a:lnB>
                    <a:solidFill>
                      <a:srgbClr val="F4D6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7032497" y="1448180"/>
            <a:ext cx="6045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90" dirty="0">
                <a:latin typeface="Cambria"/>
                <a:cs typeface="Cambria"/>
              </a:rPr>
              <a:t>Call</a:t>
            </a:r>
            <a:r>
              <a:rPr sz="1600" spc="125" dirty="0">
                <a:latin typeface="Cambria"/>
                <a:cs typeface="Cambria"/>
              </a:rPr>
              <a:t>e</a:t>
            </a:r>
            <a:r>
              <a:rPr sz="1600" spc="45" dirty="0">
                <a:latin typeface="Cambria"/>
                <a:cs typeface="Cambria"/>
              </a:rPr>
              <a:t>r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580003" y="4452620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Cambria"/>
                <a:cs typeface="Cambria"/>
              </a:rPr>
              <a:t>(a)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75806" y="4428870"/>
            <a:ext cx="3048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5" dirty="0">
                <a:latin typeface="Cambria"/>
                <a:cs typeface="Cambria"/>
              </a:rPr>
              <a:t>(b)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78604" y="4468495"/>
            <a:ext cx="13392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00" dirty="0">
                <a:latin typeface="Cambria"/>
                <a:cs typeface="Cambria"/>
              </a:rPr>
              <a:t>Caller</a:t>
            </a:r>
            <a:r>
              <a:rPr sz="1800" spc="45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saved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100061" y="4452620"/>
            <a:ext cx="13512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95" dirty="0">
                <a:latin typeface="Cambria"/>
                <a:cs typeface="Cambria"/>
              </a:rPr>
              <a:t>Callee</a:t>
            </a:r>
            <a:r>
              <a:rPr sz="1800" spc="40" dirty="0">
                <a:latin typeface="Cambria"/>
                <a:cs typeface="Cambria"/>
              </a:rPr>
              <a:t> </a:t>
            </a:r>
            <a:r>
              <a:rPr sz="1800" spc="50" dirty="0">
                <a:latin typeface="Cambria"/>
                <a:cs typeface="Cambria"/>
              </a:rPr>
              <a:t>saved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46030" y="637651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17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370408"/>
            <a:ext cx="81553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70" dirty="0"/>
              <a:t>Limitations</a:t>
            </a:r>
            <a:r>
              <a:rPr sz="4000" spc="235" dirty="0"/>
              <a:t> </a:t>
            </a:r>
            <a:r>
              <a:rPr sz="4000" spc="290" dirty="0"/>
              <a:t>with</a:t>
            </a:r>
            <a:r>
              <a:rPr sz="4000" spc="254" dirty="0"/>
              <a:t> </a:t>
            </a:r>
            <a:r>
              <a:rPr sz="4000" spc="240" dirty="0"/>
              <a:t>our</a:t>
            </a:r>
            <a:r>
              <a:rPr sz="4000" spc="254" dirty="0"/>
              <a:t> </a:t>
            </a:r>
            <a:r>
              <a:rPr sz="4000" spc="280" dirty="0"/>
              <a:t>approach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03605" y="1543304"/>
            <a:ext cx="10983595" cy="350456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335280" marR="381000" indent="-323215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80" dirty="0">
                <a:latin typeface="Cambria"/>
                <a:cs typeface="Cambria"/>
              </a:rPr>
              <a:t>Using </a:t>
            </a:r>
            <a:r>
              <a:rPr sz="2800" spc="85" dirty="0">
                <a:latin typeface="Cambria"/>
                <a:cs typeface="Cambria"/>
              </a:rPr>
              <a:t>memory,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spilling</a:t>
            </a:r>
            <a:r>
              <a:rPr sz="2800" spc="215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solves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both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0000FF"/>
                </a:solidFill>
                <a:latin typeface="Cambria"/>
                <a:cs typeface="Cambria"/>
              </a:rPr>
              <a:t>space</a:t>
            </a:r>
            <a:r>
              <a:rPr sz="2800" spc="16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r>
              <a:rPr sz="2800" spc="17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and </a:t>
            </a:r>
            <a:r>
              <a:rPr sz="2800" spc="-605" dirty="0"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00FF"/>
                </a:solidFill>
                <a:latin typeface="Cambria"/>
                <a:cs typeface="Cambria"/>
              </a:rPr>
              <a:t>overwrite</a:t>
            </a:r>
            <a:r>
              <a:rPr sz="28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202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95" dirty="0">
                <a:latin typeface="Cambria"/>
                <a:cs typeface="Cambria"/>
              </a:rPr>
              <a:t>However,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there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needs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25" dirty="0">
                <a:latin typeface="Cambria"/>
                <a:cs typeface="Cambria"/>
              </a:rPr>
              <a:t>to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20" dirty="0">
                <a:latin typeface="Cambria"/>
                <a:cs typeface="Cambria"/>
              </a:rPr>
              <a:t>be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:</a:t>
            </a:r>
            <a:endParaRPr sz="2800">
              <a:latin typeface="Cambria"/>
              <a:cs typeface="Cambria"/>
            </a:endParaRPr>
          </a:p>
          <a:p>
            <a:pPr marL="768350" marR="5080" lvl="1" indent="-325120">
              <a:lnSpc>
                <a:spcPts val="3020"/>
              </a:lnSpc>
              <a:spcBef>
                <a:spcPts val="195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185" dirty="0">
                <a:latin typeface="Cambria"/>
                <a:cs typeface="Cambria"/>
              </a:rPr>
              <a:t>a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strict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agreement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between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caller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5" dirty="0">
                <a:latin typeface="Cambria"/>
                <a:cs typeface="Cambria"/>
              </a:rPr>
              <a:t>and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callee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regarding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set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DC2200"/>
                </a:solidFill>
                <a:latin typeface="Cambria"/>
                <a:cs typeface="Cambria"/>
              </a:rPr>
              <a:t>memory</a:t>
            </a:r>
            <a:r>
              <a:rPr sz="2800" spc="140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DC2200"/>
                </a:solidFill>
                <a:latin typeface="Cambria"/>
                <a:cs typeface="Cambria"/>
              </a:rPr>
              <a:t>locations</a:t>
            </a:r>
            <a:r>
              <a:rPr sz="2800" spc="17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DC2200"/>
                </a:solidFill>
                <a:latin typeface="Cambria"/>
                <a:cs typeface="Cambria"/>
              </a:rPr>
              <a:t>that</a:t>
            </a:r>
            <a:r>
              <a:rPr sz="2800" spc="16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65" dirty="0">
                <a:solidFill>
                  <a:srgbClr val="DC2200"/>
                </a:solidFill>
                <a:latin typeface="Cambria"/>
                <a:cs typeface="Cambria"/>
              </a:rPr>
              <a:t>need</a:t>
            </a:r>
            <a:r>
              <a:rPr sz="2800" spc="15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DC2200"/>
                </a:solidFill>
                <a:latin typeface="Cambria"/>
                <a:cs typeface="Cambria"/>
              </a:rPr>
              <a:t>to</a:t>
            </a:r>
            <a:r>
              <a:rPr sz="2800" spc="15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DC2200"/>
                </a:solidFill>
                <a:latin typeface="Cambria"/>
                <a:cs typeface="Cambria"/>
              </a:rPr>
              <a:t>be</a:t>
            </a:r>
            <a:r>
              <a:rPr sz="2800" spc="15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DC2200"/>
                </a:solidFill>
                <a:latin typeface="Cambria"/>
                <a:cs typeface="Cambria"/>
              </a:rPr>
              <a:t>used</a:t>
            </a:r>
            <a:endParaRPr sz="2800">
              <a:latin typeface="Cambria"/>
              <a:cs typeface="Cambria"/>
            </a:endParaRPr>
          </a:p>
          <a:p>
            <a:pPr marL="768350" marR="988060" lvl="1" indent="-325120">
              <a:lnSpc>
                <a:spcPts val="3020"/>
              </a:lnSpc>
              <a:spcBef>
                <a:spcPts val="160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100" dirty="0">
                <a:latin typeface="Cambria"/>
                <a:cs typeface="Cambria"/>
              </a:rPr>
              <a:t>Secondly,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after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a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80" dirty="0">
                <a:latin typeface="Cambria"/>
                <a:cs typeface="Cambria"/>
              </a:rPr>
              <a:t>function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has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finished</a:t>
            </a:r>
            <a:r>
              <a:rPr sz="2800" spc="195" dirty="0">
                <a:latin typeface="Cambria"/>
                <a:cs typeface="Cambria"/>
              </a:rPr>
              <a:t> </a:t>
            </a:r>
            <a:r>
              <a:rPr sz="2800" spc="85" dirty="0">
                <a:latin typeface="Cambria"/>
                <a:cs typeface="Cambria"/>
              </a:rPr>
              <a:t>execution,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all</a:t>
            </a:r>
            <a:r>
              <a:rPr sz="2800" spc="204" dirty="0"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FF0000"/>
                </a:solidFill>
                <a:latin typeface="Cambria"/>
                <a:cs typeface="Cambria"/>
              </a:rPr>
              <a:t>the </a:t>
            </a:r>
            <a:r>
              <a:rPr sz="2800" spc="-60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FF0000"/>
                </a:solidFill>
                <a:latin typeface="Cambria"/>
                <a:cs typeface="Cambria"/>
              </a:rPr>
              <a:t>space</a:t>
            </a:r>
            <a:r>
              <a:rPr sz="28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160" dirty="0">
                <a:solidFill>
                  <a:srgbClr val="FF0000"/>
                </a:solidFill>
                <a:latin typeface="Cambria"/>
                <a:cs typeface="Cambria"/>
              </a:rPr>
              <a:t>that </a:t>
            </a:r>
            <a:r>
              <a:rPr sz="2800" spc="114" dirty="0">
                <a:solidFill>
                  <a:srgbClr val="FF0000"/>
                </a:solidFill>
                <a:latin typeface="Cambria"/>
                <a:cs typeface="Cambria"/>
              </a:rPr>
              <a:t>it</a:t>
            </a:r>
            <a:r>
              <a:rPr sz="2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FF0000"/>
                </a:solidFill>
                <a:latin typeface="Cambria"/>
                <a:cs typeface="Cambria"/>
              </a:rPr>
              <a:t>uses</a:t>
            </a:r>
            <a:r>
              <a:rPr sz="2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solidFill>
                  <a:srgbClr val="FF0000"/>
                </a:solidFill>
                <a:latin typeface="Cambria"/>
                <a:cs typeface="Cambria"/>
              </a:rPr>
              <a:t>needs</a:t>
            </a:r>
            <a:r>
              <a:rPr sz="2800" spc="16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solidFill>
                  <a:srgbClr val="FF0000"/>
                </a:solidFill>
                <a:latin typeface="Cambria"/>
                <a:cs typeface="Cambria"/>
              </a:rPr>
              <a:t>to</a:t>
            </a:r>
            <a:r>
              <a:rPr sz="2800" spc="15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25" dirty="0">
                <a:solidFill>
                  <a:srgbClr val="FF0000"/>
                </a:solidFill>
                <a:latin typeface="Cambria"/>
                <a:cs typeface="Cambria"/>
              </a:rPr>
              <a:t>be</a:t>
            </a:r>
            <a:r>
              <a:rPr sz="2800" spc="15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FF0000"/>
                </a:solidFill>
                <a:latin typeface="Cambria"/>
                <a:cs typeface="Cambria"/>
              </a:rPr>
              <a:t>reclaimed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1004" y="411225"/>
            <a:ext cx="442531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75" dirty="0"/>
              <a:t>Activation</a:t>
            </a:r>
            <a:r>
              <a:rPr sz="4000" spc="204" dirty="0"/>
              <a:t> </a:t>
            </a:r>
            <a:r>
              <a:rPr sz="4000" spc="290" dirty="0"/>
              <a:t>Block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29208" y="4668773"/>
            <a:ext cx="7321550" cy="1083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600" spc="100" dirty="0">
                <a:solidFill>
                  <a:srgbClr val="DC2200"/>
                </a:solidFill>
                <a:latin typeface="Cambria"/>
                <a:cs typeface="Cambria"/>
              </a:rPr>
              <a:t>Activation</a:t>
            </a:r>
            <a:r>
              <a:rPr sz="2600" spc="13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600" spc="45" dirty="0">
                <a:solidFill>
                  <a:srgbClr val="DC2200"/>
                </a:solidFill>
                <a:latin typeface="Cambria"/>
                <a:cs typeface="Cambria"/>
              </a:rPr>
              <a:t>block</a:t>
            </a:r>
            <a:r>
              <a:rPr sz="2600" spc="155" dirty="0">
                <a:solidFill>
                  <a:srgbClr val="DC2200"/>
                </a:solidFill>
                <a:latin typeface="Cambria"/>
                <a:cs typeface="Cambria"/>
              </a:rPr>
              <a:t> </a:t>
            </a:r>
            <a:r>
              <a:rPr sz="2600" spc="425" dirty="0">
                <a:latin typeface="Cambria"/>
                <a:cs typeface="Cambria"/>
              </a:rPr>
              <a:t>→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memory</a:t>
            </a:r>
            <a:r>
              <a:rPr sz="2600" spc="110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map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175" dirty="0">
                <a:latin typeface="Cambria"/>
                <a:cs typeface="Cambria"/>
              </a:rPr>
              <a:t>a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function</a:t>
            </a:r>
            <a:endParaRPr sz="2600">
              <a:latin typeface="Cambria"/>
              <a:cs typeface="Cambria"/>
            </a:endParaRPr>
          </a:p>
          <a:p>
            <a:pPr marL="379730">
              <a:lnSpc>
                <a:spcPct val="100000"/>
              </a:lnSpc>
              <a:spcBef>
                <a:spcPts val="2090"/>
              </a:spcBef>
            </a:pPr>
            <a:r>
              <a:rPr sz="2600" spc="120" dirty="0">
                <a:latin typeface="Cambria"/>
                <a:cs typeface="Cambria"/>
              </a:rPr>
              <a:t>arguments, </a:t>
            </a:r>
            <a:r>
              <a:rPr sz="2600" spc="80" dirty="0">
                <a:latin typeface="Cambria"/>
                <a:cs typeface="Cambria"/>
              </a:rPr>
              <a:t>register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spill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130" dirty="0">
                <a:latin typeface="Cambria"/>
                <a:cs typeface="Cambria"/>
              </a:rPr>
              <a:t>area, </a:t>
            </a:r>
            <a:r>
              <a:rPr sz="2600" spc="65" dirty="0">
                <a:latin typeface="Cambria"/>
                <a:cs typeface="Cambria"/>
              </a:rPr>
              <a:t>local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variables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952750" y="1945385"/>
            <a:ext cx="3310254" cy="2158365"/>
          </a:xfrm>
          <a:custGeom>
            <a:avLst/>
            <a:gdLst/>
            <a:ahLst/>
            <a:cxnLst/>
            <a:rect l="l" t="t" r="r" b="b"/>
            <a:pathLst>
              <a:path w="3310254" h="2158365">
                <a:moveTo>
                  <a:pt x="3310128" y="0"/>
                </a:moveTo>
                <a:lnTo>
                  <a:pt x="0" y="0"/>
                </a:lnTo>
                <a:lnTo>
                  <a:pt x="0" y="2157984"/>
                </a:lnTo>
                <a:lnTo>
                  <a:pt x="3310128" y="2157984"/>
                </a:lnTo>
                <a:lnTo>
                  <a:pt x="3310128" y="0"/>
                </a:lnTo>
                <a:close/>
              </a:path>
            </a:pathLst>
          </a:custGeom>
          <a:solidFill>
            <a:srgbClr val="FFCC9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952750" y="1945385"/>
            <a:ext cx="3310254" cy="2158365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2675"/>
              </a:lnSpc>
            </a:pP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int</a:t>
            </a:r>
            <a:r>
              <a:rPr sz="24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foo(int</a:t>
            </a:r>
            <a:r>
              <a:rPr sz="24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3366"/>
                </a:solidFill>
                <a:latin typeface="Arial MT"/>
                <a:cs typeface="Arial MT"/>
              </a:rPr>
              <a:t>arg1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)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2400">
              <a:latin typeface="Arial MT"/>
              <a:cs typeface="Arial MT"/>
            </a:endParaRPr>
          </a:p>
          <a:p>
            <a:pPr marL="1003300">
              <a:lnSpc>
                <a:spcPct val="100000"/>
              </a:lnSpc>
            </a:pP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int</a:t>
            </a:r>
            <a:r>
              <a:rPr sz="2400" spc="-3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a,</a:t>
            </a:r>
            <a:r>
              <a:rPr sz="24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b,</a:t>
            </a:r>
            <a:r>
              <a:rPr sz="2400" spc="-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c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;</a:t>
            </a:r>
            <a:endParaRPr sz="2400">
              <a:latin typeface="Arial MT"/>
              <a:cs typeface="Arial MT"/>
            </a:endParaRPr>
          </a:p>
          <a:p>
            <a:pPr marL="1003300">
              <a:lnSpc>
                <a:spcPct val="100000"/>
              </a:lnSpc>
            </a:pP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3;</a:t>
            </a:r>
            <a:r>
              <a:rPr sz="24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4;</a:t>
            </a:r>
            <a:endParaRPr sz="2400">
              <a:latin typeface="Arial MT"/>
              <a:cs typeface="Arial MT"/>
            </a:endParaRPr>
          </a:p>
          <a:p>
            <a:pPr marL="1003300" marR="75565">
              <a:lnSpc>
                <a:spcPct val="100000"/>
              </a:lnSpc>
            </a:pPr>
            <a:r>
              <a:rPr sz="2400" dirty="0">
                <a:solidFill>
                  <a:srgbClr val="0000FF"/>
                </a:solidFill>
                <a:latin typeface="Arial MT"/>
                <a:cs typeface="Arial MT"/>
              </a:rPr>
              <a:t>c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=</a:t>
            </a:r>
            <a:r>
              <a:rPr sz="24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a</a:t>
            </a:r>
            <a:r>
              <a:rPr sz="2400" spc="-25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+</a:t>
            </a:r>
            <a:r>
              <a:rPr sz="24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00FF"/>
                </a:solidFill>
                <a:latin typeface="Arial MT"/>
                <a:cs typeface="Arial MT"/>
              </a:rPr>
              <a:t>b</a:t>
            </a:r>
            <a:r>
              <a:rPr sz="2400" spc="-2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+</a:t>
            </a:r>
            <a:r>
              <a:rPr sz="24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FF0000"/>
                </a:solidFill>
                <a:latin typeface="Arial MT"/>
                <a:cs typeface="Arial MT"/>
              </a:rPr>
              <a:t>arg1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; </a:t>
            </a:r>
            <a:r>
              <a:rPr sz="2400" spc="-65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return</a:t>
            </a:r>
            <a:r>
              <a:rPr sz="2400" spc="-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08000"/>
                </a:solidFill>
                <a:latin typeface="Arial MT"/>
                <a:cs typeface="Arial MT"/>
              </a:rPr>
              <a:t>c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;</a:t>
            </a:r>
            <a:endParaRPr sz="2400">
              <a:latin typeface="Arial MT"/>
              <a:cs typeface="Arial MT"/>
            </a:endParaRPr>
          </a:p>
          <a:p>
            <a:pPr marL="88900">
              <a:lnSpc>
                <a:spcPts val="2790"/>
              </a:lnSpc>
            </a:pP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814571" y="1871472"/>
            <a:ext cx="1519555" cy="937260"/>
          </a:xfrm>
          <a:custGeom>
            <a:avLst/>
            <a:gdLst/>
            <a:ahLst/>
            <a:cxnLst/>
            <a:rect l="l" t="t" r="r" b="b"/>
            <a:pathLst>
              <a:path w="1519554" h="937260">
                <a:moveTo>
                  <a:pt x="864107" y="0"/>
                </a:moveTo>
                <a:lnTo>
                  <a:pt x="810961" y="3121"/>
                </a:lnTo>
                <a:lnTo>
                  <a:pt x="760235" y="12190"/>
                </a:lnTo>
                <a:lnTo>
                  <a:pt x="712486" y="26762"/>
                </a:lnTo>
                <a:lnTo>
                  <a:pt x="668271" y="46390"/>
                </a:lnTo>
                <a:lnTo>
                  <a:pt x="628145" y="70632"/>
                </a:lnTo>
                <a:lnTo>
                  <a:pt x="592666" y="99041"/>
                </a:lnTo>
                <a:lnTo>
                  <a:pt x="562390" y="131173"/>
                </a:lnTo>
                <a:lnTo>
                  <a:pt x="537873" y="166584"/>
                </a:lnTo>
                <a:lnTo>
                  <a:pt x="519672" y="204828"/>
                </a:lnTo>
                <a:lnTo>
                  <a:pt x="508343" y="245460"/>
                </a:lnTo>
                <a:lnTo>
                  <a:pt x="504443" y="288036"/>
                </a:lnTo>
                <a:lnTo>
                  <a:pt x="508343" y="330611"/>
                </a:lnTo>
                <a:lnTo>
                  <a:pt x="519672" y="371243"/>
                </a:lnTo>
                <a:lnTo>
                  <a:pt x="537873" y="409487"/>
                </a:lnTo>
                <a:lnTo>
                  <a:pt x="562390" y="444898"/>
                </a:lnTo>
                <a:lnTo>
                  <a:pt x="592666" y="477030"/>
                </a:lnTo>
                <a:lnTo>
                  <a:pt x="628145" y="505439"/>
                </a:lnTo>
                <a:lnTo>
                  <a:pt x="668271" y="529681"/>
                </a:lnTo>
                <a:lnTo>
                  <a:pt x="712486" y="549309"/>
                </a:lnTo>
                <a:lnTo>
                  <a:pt x="760235" y="563881"/>
                </a:lnTo>
                <a:lnTo>
                  <a:pt x="810961" y="572950"/>
                </a:lnTo>
                <a:lnTo>
                  <a:pt x="864107" y="576072"/>
                </a:lnTo>
                <a:lnTo>
                  <a:pt x="917254" y="572950"/>
                </a:lnTo>
                <a:lnTo>
                  <a:pt x="967980" y="563881"/>
                </a:lnTo>
                <a:lnTo>
                  <a:pt x="1015729" y="549309"/>
                </a:lnTo>
                <a:lnTo>
                  <a:pt x="1059944" y="529681"/>
                </a:lnTo>
                <a:lnTo>
                  <a:pt x="1100070" y="505439"/>
                </a:lnTo>
                <a:lnTo>
                  <a:pt x="1135549" y="477030"/>
                </a:lnTo>
                <a:lnTo>
                  <a:pt x="1165825" y="444898"/>
                </a:lnTo>
                <a:lnTo>
                  <a:pt x="1190342" y="409487"/>
                </a:lnTo>
                <a:lnTo>
                  <a:pt x="1208543" y="371243"/>
                </a:lnTo>
                <a:lnTo>
                  <a:pt x="1219872" y="330611"/>
                </a:lnTo>
                <a:lnTo>
                  <a:pt x="1223772" y="288036"/>
                </a:lnTo>
                <a:lnTo>
                  <a:pt x="1219872" y="245460"/>
                </a:lnTo>
                <a:lnTo>
                  <a:pt x="1208543" y="204828"/>
                </a:lnTo>
                <a:lnTo>
                  <a:pt x="1190342" y="166584"/>
                </a:lnTo>
                <a:lnTo>
                  <a:pt x="1165825" y="131173"/>
                </a:lnTo>
                <a:lnTo>
                  <a:pt x="1135549" y="99041"/>
                </a:lnTo>
                <a:lnTo>
                  <a:pt x="1100070" y="70632"/>
                </a:lnTo>
                <a:lnTo>
                  <a:pt x="1059944" y="46390"/>
                </a:lnTo>
                <a:lnTo>
                  <a:pt x="1015729" y="26762"/>
                </a:lnTo>
                <a:lnTo>
                  <a:pt x="967980" y="12190"/>
                </a:lnTo>
                <a:lnTo>
                  <a:pt x="917254" y="3121"/>
                </a:lnTo>
                <a:lnTo>
                  <a:pt x="864107" y="0"/>
                </a:lnTo>
                <a:close/>
              </a:path>
              <a:path w="1519554" h="937260">
                <a:moveTo>
                  <a:pt x="759713" y="361188"/>
                </a:moveTo>
                <a:lnTo>
                  <a:pt x="694158" y="362244"/>
                </a:lnTo>
                <a:lnTo>
                  <a:pt x="630152" y="365357"/>
                </a:lnTo>
                <a:lnTo>
                  <a:pt x="567924" y="370440"/>
                </a:lnTo>
                <a:lnTo>
                  <a:pt x="507700" y="377406"/>
                </a:lnTo>
                <a:lnTo>
                  <a:pt x="449710" y="386170"/>
                </a:lnTo>
                <a:lnTo>
                  <a:pt x="394181" y="396644"/>
                </a:lnTo>
                <a:lnTo>
                  <a:pt x="341342" y="408743"/>
                </a:lnTo>
                <a:lnTo>
                  <a:pt x="291419" y="422380"/>
                </a:lnTo>
                <a:lnTo>
                  <a:pt x="244642" y="437469"/>
                </a:lnTo>
                <a:lnTo>
                  <a:pt x="201237" y="453924"/>
                </a:lnTo>
                <a:lnTo>
                  <a:pt x="161434" y="471658"/>
                </a:lnTo>
                <a:lnTo>
                  <a:pt x="125459" y="490585"/>
                </a:lnTo>
                <a:lnTo>
                  <a:pt x="65909" y="531672"/>
                </a:lnTo>
                <a:lnTo>
                  <a:pt x="24411" y="576495"/>
                </a:lnTo>
                <a:lnTo>
                  <a:pt x="2788" y="624363"/>
                </a:lnTo>
                <a:lnTo>
                  <a:pt x="0" y="649224"/>
                </a:lnTo>
                <a:lnTo>
                  <a:pt x="2788" y="674084"/>
                </a:lnTo>
                <a:lnTo>
                  <a:pt x="24411" y="721952"/>
                </a:lnTo>
                <a:lnTo>
                  <a:pt x="65909" y="766775"/>
                </a:lnTo>
                <a:lnTo>
                  <a:pt x="125459" y="807862"/>
                </a:lnTo>
                <a:lnTo>
                  <a:pt x="161434" y="826789"/>
                </a:lnTo>
                <a:lnTo>
                  <a:pt x="201237" y="844523"/>
                </a:lnTo>
                <a:lnTo>
                  <a:pt x="244642" y="860978"/>
                </a:lnTo>
                <a:lnTo>
                  <a:pt x="291419" y="876067"/>
                </a:lnTo>
                <a:lnTo>
                  <a:pt x="341342" y="889704"/>
                </a:lnTo>
                <a:lnTo>
                  <a:pt x="394181" y="901803"/>
                </a:lnTo>
                <a:lnTo>
                  <a:pt x="449710" y="912277"/>
                </a:lnTo>
                <a:lnTo>
                  <a:pt x="507700" y="921041"/>
                </a:lnTo>
                <a:lnTo>
                  <a:pt x="567924" y="928007"/>
                </a:lnTo>
                <a:lnTo>
                  <a:pt x="630152" y="933090"/>
                </a:lnTo>
                <a:lnTo>
                  <a:pt x="694158" y="936203"/>
                </a:lnTo>
                <a:lnTo>
                  <a:pt x="759713" y="937260"/>
                </a:lnTo>
                <a:lnTo>
                  <a:pt x="825269" y="936203"/>
                </a:lnTo>
                <a:lnTo>
                  <a:pt x="889275" y="933090"/>
                </a:lnTo>
                <a:lnTo>
                  <a:pt x="951503" y="928007"/>
                </a:lnTo>
                <a:lnTo>
                  <a:pt x="1011727" y="921041"/>
                </a:lnTo>
                <a:lnTo>
                  <a:pt x="1069717" y="912277"/>
                </a:lnTo>
                <a:lnTo>
                  <a:pt x="1125246" y="901803"/>
                </a:lnTo>
                <a:lnTo>
                  <a:pt x="1178085" y="889704"/>
                </a:lnTo>
                <a:lnTo>
                  <a:pt x="1228008" y="876067"/>
                </a:lnTo>
                <a:lnTo>
                  <a:pt x="1274785" y="860978"/>
                </a:lnTo>
                <a:lnTo>
                  <a:pt x="1318190" y="844523"/>
                </a:lnTo>
                <a:lnTo>
                  <a:pt x="1357993" y="826789"/>
                </a:lnTo>
                <a:lnTo>
                  <a:pt x="1393968" y="807862"/>
                </a:lnTo>
                <a:lnTo>
                  <a:pt x="1453518" y="766775"/>
                </a:lnTo>
                <a:lnTo>
                  <a:pt x="1495016" y="721952"/>
                </a:lnTo>
                <a:lnTo>
                  <a:pt x="1516639" y="674084"/>
                </a:lnTo>
                <a:lnTo>
                  <a:pt x="1519427" y="649224"/>
                </a:lnTo>
                <a:lnTo>
                  <a:pt x="1516639" y="624363"/>
                </a:lnTo>
                <a:lnTo>
                  <a:pt x="1495016" y="576495"/>
                </a:lnTo>
                <a:lnTo>
                  <a:pt x="1453518" y="531672"/>
                </a:lnTo>
                <a:lnTo>
                  <a:pt x="1393968" y="490585"/>
                </a:lnTo>
                <a:lnTo>
                  <a:pt x="1357993" y="471658"/>
                </a:lnTo>
                <a:lnTo>
                  <a:pt x="1318190" y="453924"/>
                </a:lnTo>
                <a:lnTo>
                  <a:pt x="1274785" y="437469"/>
                </a:lnTo>
                <a:lnTo>
                  <a:pt x="1228008" y="422380"/>
                </a:lnTo>
                <a:lnTo>
                  <a:pt x="1178085" y="408743"/>
                </a:lnTo>
                <a:lnTo>
                  <a:pt x="1125246" y="396644"/>
                </a:lnTo>
                <a:lnTo>
                  <a:pt x="1069717" y="386170"/>
                </a:lnTo>
                <a:lnTo>
                  <a:pt x="1011727" y="377406"/>
                </a:lnTo>
                <a:lnTo>
                  <a:pt x="951503" y="370440"/>
                </a:lnTo>
                <a:lnTo>
                  <a:pt x="889275" y="365357"/>
                </a:lnTo>
                <a:lnTo>
                  <a:pt x="825269" y="362244"/>
                </a:lnTo>
                <a:lnTo>
                  <a:pt x="759713" y="361188"/>
                </a:lnTo>
                <a:close/>
              </a:path>
            </a:pathLst>
          </a:custGeom>
          <a:ln w="36576">
            <a:solidFill>
              <a:srgbClr val="DC22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741414" y="1526286"/>
            <a:ext cx="2517775" cy="3139440"/>
          </a:xfrm>
          <a:prstGeom prst="rect">
            <a:avLst/>
          </a:prstGeom>
          <a:solidFill>
            <a:srgbClr val="FFE6D4"/>
          </a:solidFill>
          <a:ln w="3175">
            <a:solidFill>
              <a:srgbClr val="15111D"/>
            </a:solidFill>
          </a:ln>
        </p:spPr>
        <p:txBody>
          <a:bodyPr vert="horz" wrap="square" lIns="0" tIns="86995" rIns="0" bIns="0" rtlCol="0">
            <a:spAutoFit/>
          </a:bodyPr>
          <a:lstStyle/>
          <a:p>
            <a:pPr marL="203200">
              <a:lnSpc>
                <a:spcPct val="100000"/>
              </a:lnSpc>
              <a:spcBef>
                <a:spcPts val="685"/>
              </a:spcBef>
            </a:pPr>
            <a:r>
              <a:rPr sz="1800" spc="-5" dirty="0">
                <a:latin typeface="Arial MT"/>
                <a:cs typeface="Arial MT"/>
              </a:rPr>
              <a:t>Activation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block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973061" y="2039873"/>
            <a:ext cx="1967864" cy="312420"/>
          </a:xfrm>
          <a:prstGeom prst="rect">
            <a:avLst/>
          </a:prstGeom>
          <a:solidFill>
            <a:srgbClr val="A1D0D9"/>
          </a:solidFill>
          <a:ln w="3175">
            <a:solidFill>
              <a:srgbClr val="15111D"/>
            </a:solidFill>
          </a:ln>
        </p:spPr>
        <p:txBody>
          <a:bodyPr vert="horz" wrap="square" lIns="0" tIns="52705" rIns="0" bIns="0" rtlCol="0">
            <a:spAutoFit/>
          </a:bodyPr>
          <a:lstStyle/>
          <a:p>
            <a:pPr marL="346075">
              <a:lnSpc>
                <a:spcPct val="100000"/>
              </a:lnSpc>
              <a:spcBef>
                <a:spcPts val="415"/>
              </a:spcBef>
            </a:pPr>
            <a:r>
              <a:rPr sz="1500" dirty="0">
                <a:latin typeface="Arial MT"/>
                <a:cs typeface="Arial MT"/>
              </a:rPr>
              <a:t>Arguments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71538" y="2465070"/>
            <a:ext cx="1965960" cy="311150"/>
          </a:xfrm>
          <a:prstGeom prst="rect">
            <a:avLst/>
          </a:prstGeom>
          <a:solidFill>
            <a:srgbClr val="A1D0D9"/>
          </a:solidFill>
          <a:ln w="3175">
            <a:solidFill>
              <a:srgbClr val="15111D"/>
            </a:solidFill>
          </a:ln>
        </p:spPr>
        <p:txBody>
          <a:bodyPr vert="horz" wrap="square" lIns="0" tIns="67945" rIns="0" bIns="0" rtlCol="0">
            <a:spAutoFit/>
          </a:bodyPr>
          <a:lstStyle/>
          <a:p>
            <a:pPr marL="203835">
              <a:lnSpc>
                <a:spcPct val="100000"/>
              </a:lnSpc>
              <a:spcBef>
                <a:spcPts val="535"/>
              </a:spcBef>
            </a:pPr>
            <a:r>
              <a:rPr sz="1500" spc="-5" dirty="0">
                <a:latin typeface="Arial MT"/>
                <a:cs typeface="Arial MT"/>
              </a:rPr>
              <a:t>Return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address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979157" y="2867405"/>
            <a:ext cx="1964689" cy="312420"/>
          </a:xfrm>
          <a:prstGeom prst="rect">
            <a:avLst/>
          </a:prstGeom>
          <a:solidFill>
            <a:srgbClr val="A1D0D9"/>
          </a:solidFill>
          <a:ln w="3175">
            <a:solidFill>
              <a:srgbClr val="15111D"/>
            </a:solidFill>
          </a:ln>
        </p:spPr>
        <p:txBody>
          <a:bodyPr vert="horz" wrap="square" lIns="0" tIns="62230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490"/>
              </a:spcBef>
            </a:pPr>
            <a:r>
              <a:rPr sz="1500" dirty="0">
                <a:latin typeface="Arial MT"/>
                <a:cs typeface="Arial MT"/>
              </a:rPr>
              <a:t>Register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spill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area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979157" y="3310890"/>
            <a:ext cx="1964689" cy="1257300"/>
          </a:xfrm>
          <a:prstGeom prst="rect">
            <a:avLst/>
          </a:prstGeom>
          <a:solidFill>
            <a:srgbClr val="A1D0D9"/>
          </a:solidFill>
          <a:ln w="3175">
            <a:solidFill>
              <a:srgbClr val="15111D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650">
              <a:latin typeface="Times New Roman"/>
              <a:cs typeface="Times New Roman"/>
            </a:endParaRPr>
          </a:p>
          <a:p>
            <a:pPr marL="236220">
              <a:lnSpc>
                <a:spcPct val="100000"/>
              </a:lnSpc>
            </a:pPr>
            <a:r>
              <a:rPr sz="1500" spc="-5" dirty="0">
                <a:latin typeface="Arial MT"/>
                <a:cs typeface="Arial MT"/>
              </a:rPr>
              <a:t>Local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5" dirty="0">
                <a:latin typeface="Arial MT"/>
                <a:cs typeface="Arial MT"/>
              </a:rPr>
              <a:t>variables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173979" y="2574163"/>
            <a:ext cx="1736089" cy="824865"/>
          </a:xfrm>
          <a:custGeom>
            <a:avLst/>
            <a:gdLst/>
            <a:ahLst/>
            <a:cxnLst/>
            <a:rect l="l" t="t" r="r" b="b"/>
            <a:pathLst>
              <a:path w="1736090" h="824864">
                <a:moveTo>
                  <a:pt x="1633873" y="782464"/>
                </a:moveTo>
                <a:lnTo>
                  <a:pt x="1574673" y="788288"/>
                </a:lnTo>
                <a:lnTo>
                  <a:pt x="1558290" y="808227"/>
                </a:lnTo>
                <a:lnTo>
                  <a:pt x="1560423" y="815163"/>
                </a:lnTo>
                <a:lnTo>
                  <a:pt x="1564878" y="820562"/>
                </a:lnTo>
                <a:lnTo>
                  <a:pt x="1571023" y="823890"/>
                </a:lnTo>
                <a:lnTo>
                  <a:pt x="1578228" y="824611"/>
                </a:lnTo>
                <a:lnTo>
                  <a:pt x="1720448" y="810640"/>
                </a:lnTo>
                <a:lnTo>
                  <a:pt x="1695323" y="810640"/>
                </a:lnTo>
                <a:lnTo>
                  <a:pt x="1633873" y="782464"/>
                </a:lnTo>
                <a:close/>
              </a:path>
              <a:path w="1736090" h="824864">
                <a:moveTo>
                  <a:pt x="1669940" y="778915"/>
                </a:moveTo>
                <a:lnTo>
                  <a:pt x="1633873" y="782464"/>
                </a:lnTo>
                <a:lnTo>
                  <a:pt x="1695323" y="810640"/>
                </a:lnTo>
                <a:lnTo>
                  <a:pt x="1698115" y="804545"/>
                </a:lnTo>
                <a:lnTo>
                  <a:pt x="1687956" y="804545"/>
                </a:lnTo>
                <a:lnTo>
                  <a:pt x="1669940" y="778915"/>
                </a:lnTo>
                <a:close/>
              </a:path>
              <a:path w="1736090" h="824864">
                <a:moveTo>
                  <a:pt x="1633029" y="672068"/>
                </a:moveTo>
                <a:lnTo>
                  <a:pt x="1626024" y="672201"/>
                </a:lnTo>
                <a:lnTo>
                  <a:pt x="1619377" y="675132"/>
                </a:lnTo>
                <a:lnTo>
                  <a:pt x="1614378" y="680424"/>
                </a:lnTo>
                <a:lnTo>
                  <a:pt x="1611868" y="686990"/>
                </a:lnTo>
                <a:lnTo>
                  <a:pt x="1612001" y="694009"/>
                </a:lnTo>
                <a:lnTo>
                  <a:pt x="1614931" y="700659"/>
                </a:lnTo>
                <a:lnTo>
                  <a:pt x="1649014" y="749144"/>
                </a:lnTo>
                <a:lnTo>
                  <a:pt x="1710563" y="777366"/>
                </a:lnTo>
                <a:lnTo>
                  <a:pt x="1695323" y="810640"/>
                </a:lnTo>
                <a:lnTo>
                  <a:pt x="1720448" y="810640"/>
                </a:lnTo>
                <a:lnTo>
                  <a:pt x="1735963" y="809116"/>
                </a:lnTo>
                <a:lnTo>
                  <a:pt x="1644777" y="679576"/>
                </a:lnTo>
                <a:lnTo>
                  <a:pt x="1639558" y="674578"/>
                </a:lnTo>
                <a:lnTo>
                  <a:pt x="1633029" y="672068"/>
                </a:lnTo>
                <a:close/>
              </a:path>
              <a:path w="1736090" h="824864">
                <a:moveTo>
                  <a:pt x="1701165" y="775842"/>
                </a:moveTo>
                <a:lnTo>
                  <a:pt x="1669940" y="778915"/>
                </a:lnTo>
                <a:lnTo>
                  <a:pt x="1687956" y="804545"/>
                </a:lnTo>
                <a:lnTo>
                  <a:pt x="1701165" y="775842"/>
                </a:lnTo>
                <a:close/>
              </a:path>
              <a:path w="1736090" h="824864">
                <a:moveTo>
                  <a:pt x="1707239" y="775842"/>
                </a:moveTo>
                <a:lnTo>
                  <a:pt x="1701165" y="775842"/>
                </a:lnTo>
                <a:lnTo>
                  <a:pt x="1687956" y="804545"/>
                </a:lnTo>
                <a:lnTo>
                  <a:pt x="1698115" y="804545"/>
                </a:lnTo>
                <a:lnTo>
                  <a:pt x="1710563" y="777366"/>
                </a:lnTo>
                <a:lnTo>
                  <a:pt x="1707239" y="775842"/>
                </a:lnTo>
                <a:close/>
              </a:path>
              <a:path w="1736090" h="824864">
                <a:moveTo>
                  <a:pt x="15240" y="0"/>
                </a:moveTo>
                <a:lnTo>
                  <a:pt x="0" y="33274"/>
                </a:lnTo>
                <a:lnTo>
                  <a:pt x="1633873" y="782464"/>
                </a:lnTo>
                <a:lnTo>
                  <a:pt x="1669940" y="778915"/>
                </a:lnTo>
                <a:lnTo>
                  <a:pt x="1649014" y="749144"/>
                </a:lnTo>
                <a:lnTo>
                  <a:pt x="15240" y="0"/>
                </a:lnTo>
                <a:close/>
              </a:path>
              <a:path w="1736090" h="824864">
                <a:moveTo>
                  <a:pt x="1649014" y="749144"/>
                </a:moveTo>
                <a:lnTo>
                  <a:pt x="1669940" y="778915"/>
                </a:lnTo>
                <a:lnTo>
                  <a:pt x="1701165" y="775842"/>
                </a:lnTo>
                <a:lnTo>
                  <a:pt x="1707239" y="775842"/>
                </a:lnTo>
                <a:lnTo>
                  <a:pt x="1649014" y="74914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036311" y="1998091"/>
            <a:ext cx="1946910" cy="299085"/>
          </a:xfrm>
          <a:custGeom>
            <a:avLst/>
            <a:gdLst/>
            <a:ahLst/>
            <a:cxnLst/>
            <a:rect l="l" t="t" r="r" b="b"/>
            <a:pathLst>
              <a:path w="1946909" h="299085">
                <a:moveTo>
                  <a:pt x="1841350" y="239827"/>
                </a:moveTo>
                <a:lnTo>
                  <a:pt x="1787143" y="263906"/>
                </a:lnTo>
                <a:lnTo>
                  <a:pt x="1781212" y="268104"/>
                </a:lnTo>
                <a:lnTo>
                  <a:pt x="1777507" y="274066"/>
                </a:lnTo>
                <a:lnTo>
                  <a:pt x="1776303" y="280979"/>
                </a:lnTo>
                <a:lnTo>
                  <a:pt x="1777872" y="288036"/>
                </a:lnTo>
                <a:lnTo>
                  <a:pt x="1782054" y="293985"/>
                </a:lnTo>
                <a:lnTo>
                  <a:pt x="1787985" y="297719"/>
                </a:lnTo>
                <a:lnTo>
                  <a:pt x="1794892" y="298930"/>
                </a:lnTo>
                <a:lnTo>
                  <a:pt x="1802003" y="297307"/>
                </a:lnTo>
                <a:lnTo>
                  <a:pt x="1914736" y="247269"/>
                </a:lnTo>
                <a:lnTo>
                  <a:pt x="1908683" y="247269"/>
                </a:lnTo>
                <a:lnTo>
                  <a:pt x="1841350" y="239827"/>
                </a:lnTo>
                <a:close/>
              </a:path>
              <a:path w="1946909" h="299085">
                <a:moveTo>
                  <a:pt x="1874617" y="225050"/>
                </a:moveTo>
                <a:lnTo>
                  <a:pt x="1841350" y="239827"/>
                </a:lnTo>
                <a:lnTo>
                  <a:pt x="1908683" y="247269"/>
                </a:lnTo>
                <a:lnTo>
                  <a:pt x="1909068" y="243712"/>
                </a:lnTo>
                <a:lnTo>
                  <a:pt x="1899792" y="243712"/>
                </a:lnTo>
                <a:lnTo>
                  <a:pt x="1874617" y="225050"/>
                </a:lnTo>
                <a:close/>
              </a:path>
              <a:path w="1946909" h="299085">
                <a:moveTo>
                  <a:pt x="1805955" y="135302"/>
                </a:moveTo>
                <a:lnTo>
                  <a:pt x="1799365" y="137630"/>
                </a:lnTo>
                <a:lnTo>
                  <a:pt x="1794002" y="142494"/>
                </a:lnTo>
                <a:lnTo>
                  <a:pt x="1790880" y="149072"/>
                </a:lnTo>
                <a:lnTo>
                  <a:pt x="1790557" y="156067"/>
                </a:lnTo>
                <a:lnTo>
                  <a:pt x="1792876" y="162657"/>
                </a:lnTo>
                <a:lnTo>
                  <a:pt x="1797685" y="168021"/>
                </a:lnTo>
                <a:lnTo>
                  <a:pt x="1845599" y="203539"/>
                </a:lnTo>
                <a:lnTo>
                  <a:pt x="1912619" y="210947"/>
                </a:lnTo>
                <a:lnTo>
                  <a:pt x="1908683" y="247269"/>
                </a:lnTo>
                <a:lnTo>
                  <a:pt x="1914736" y="247269"/>
                </a:lnTo>
                <a:lnTo>
                  <a:pt x="1946783" y="233045"/>
                </a:lnTo>
                <a:lnTo>
                  <a:pt x="1819529" y="138684"/>
                </a:lnTo>
                <a:lnTo>
                  <a:pt x="1812950" y="135618"/>
                </a:lnTo>
                <a:lnTo>
                  <a:pt x="1805955" y="135302"/>
                </a:lnTo>
                <a:close/>
              </a:path>
              <a:path w="1946909" h="299085">
                <a:moveTo>
                  <a:pt x="1903221" y="212344"/>
                </a:moveTo>
                <a:lnTo>
                  <a:pt x="1874617" y="225050"/>
                </a:lnTo>
                <a:lnTo>
                  <a:pt x="1899792" y="243712"/>
                </a:lnTo>
                <a:lnTo>
                  <a:pt x="1903221" y="212344"/>
                </a:lnTo>
                <a:close/>
              </a:path>
              <a:path w="1946909" h="299085">
                <a:moveTo>
                  <a:pt x="1912468" y="212344"/>
                </a:moveTo>
                <a:lnTo>
                  <a:pt x="1903221" y="212344"/>
                </a:lnTo>
                <a:lnTo>
                  <a:pt x="1899792" y="243712"/>
                </a:lnTo>
                <a:lnTo>
                  <a:pt x="1909068" y="243712"/>
                </a:lnTo>
                <a:lnTo>
                  <a:pt x="1912468" y="212344"/>
                </a:lnTo>
                <a:close/>
              </a:path>
              <a:path w="1946909" h="299085">
                <a:moveTo>
                  <a:pt x="4063" y="0"/>
                </a:moveTo>
                <a:lnTo>
                  <a:pt x="0" y="36322"/>
                </a:lnTo>
                <a:lnTo>
                  <a:pt x="1841350" y="239827"/>
                </a:lnTo>
                <a:lnTo>
                  <a:pt x="1874617" y="225050"/>
                </a:lnTo>
                <a:lnTo>
                  <a:pt x="1845599" y="203539"/>
                </a:lnTo>
                <a:lnTo>
                  <a:pt x="4063" y="0"/>
                </a:lnTo>
                <a:close/>
              </a:path>
              <a:path w="1946909" h="299085">
                <a:moveTo>
                  <a:pt x="1845599" y="203539"/>
                </a:moveTo>
                <a:lnTo>
                  <a:pt x="1874617" y="225050"/>
                </a:lnTo>
                <a:lnTo>
                  <a:pt x="1903221" y="212344"/>
                </a:lnTo>
                <a:lnTo>
                  <a:pt x="1912468" y="212344"/>
                </a:lnTo>
                <a:lnTo>
                  <a:pt x="1912619" y="210947"/>
                </a:lnTo>
                <a:lnTo>
                  <a:pt x="1845599" y="203539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298780"/>
            <a:ext cx="77641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300" dirty="0"/>
              <a:t>Organising</a:t>
            </a:r>
            <a:r>
              <a:rPr sz="4000" spc="254" dirty="0"/>
              <a:t> </a:t>
            </a:r>
            <a:r>
              <a:rPr sz="4000" spc="275" dirty="0"/>
              <a:t>Activation</a:t>
            </a:r>
            <a:r>
              <a:rPr sz="4000" spc="254" dirty="0"/>
              <a:t> </a:t>
            </a:r>
            <a:r>
              <a:rPr sz="4000" spc="265" dirty="0"/>
              <a:t>Blocks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03605" y="1372615"/>
            <a:ext cx="10939145" cy="347726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35280" marR="34925" indent="-323215">
              <a:lnSpc>
                <a:spcPts val="2810"/>
              </a:lnSpc>
              <a:spcBef>
                <a:spcPts val="45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600" spc="155" dirty="0">
                <a:latin typeface="Cambria"/>
                <a:cs typeface="Cambria"/>
              </a:rPr>
              <a:t>All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the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information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155" dirty="0">
                <a:latin typeface="Cambria"/>
                <a:cs typeface="Cambria"/>
              </a:rPr>
              <a:t>an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95" dirty="0">
                <a:latin typeface="Cambria"/>
                <a:cs typeface="Cambria"/>
              </a:rPr>
              <a:t>executing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function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is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stored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114" dirty="0">
                <a:latin typeface="Cambria"/>
                <a:cs typeface="Cambria"/>
              </a:rPr>
              <a:t>in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its</a:t>
            </a:r>
            <a:r>
              <a:rPr sz="2600" spc="180" dirty="0">
                <a:latin typeface="Cambria"/>
                <a:cs typeface="Cambria"/>
              </a:rPr>
              <a:t> </a:t>
            </a:r>
            <a:r>
              <a:rPr sz="2600" spc="90" dirty="0">
                <a:solidFill>
                  <a:srgbClr val="0000FF"/>
                </a:solidFill>
                <a:latin typeface="Cambria"/>
                <a:cs typeface="Cambria"/>
              </a:rPr>
              <a:t>activation </a:t>
            </a:r>
            <a:r>
              <a:rPr sz="2600" spc="-5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600" spc="45" dirty="0">
                <a:solidFill>
                  <a:srgbClr val="0000FF"/>
                </a:solidFill>
                <a:latin typeface="Cambria"/>
                <a:cs typeface="Cambria"/>
              </a:rPr>
              <a:t>block</a:t>
            </a:r>
            <a:endParaRPr sz="2600">
              <a:latin typeface="Cambria"/>
              <a:cs typeface="Cambria"/>
            </a:endParaRPr>
          </a:p>
          <a:p>
            <a:pPr marL="335280" marR="5080" indent="-323215">
              <a:lnSpc>
                <a:spcPts val="2810"/>
              </a:lnSpc>
              <a:spcBef>
                <a:spcPts val="239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600" spc="100" dirty="0">
                <a:latin typeface="Cambria"/>
                <a:cs typeface="Cambria"/>
              </a:rPr>
              <a:t>These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50" dirty="0">
                <a:latin typeface="Cambria"/>
                <a:cs typeface="Cambria"/>
              </a:rPr>
              <a:t>blocks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65" dirty="0">
                <a:latin typeface="Cambria"/>
                <a:cs typeface="Cambria"/>
              </a:rPr>
              <a:t>need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25" dirty="0">
                <a:latin typeface="Cambria"/>
                <a:cs typeface="Cambria"/>
              </a:rPr>
              <a:t>to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25" dirty="0">
                <a:latin typeface="Cambria"/>
                <a:cs typeface="Cambria"/>
              </a:rPr>
              <a:t>be</a:t>
            </a:r>
            <a:r>
              <a:rPr sz="2600" spc="160" dirty="0">
                <a:latin typeface="Cambria"/>
                <a:cs typeface="Cambria"/>
              </a:rPr>
              <a:t> </a:t>
            </a:r>
            <a:r>
              <a:rPr sz="2600" spc="105" dirty="0">
                <a:latin typeface="Cambria"/>
                <a:cs typeface="Cambria"/>
              </a:rPr>
              <a:t>dynamically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70" dirty="0">
                <a:solidFill>
                  <a:srgbClr val="B84600"/>
                </a:solidFill>
                <a:latin typeface="Cambria"/>
                <a:cs typeface="Cambria"/>
              </a:rPr>
              <a:t>created</a:t>
            </a:r>
            <a:r>
              <a:rPr sz="2600" spc="125" dirty="0">
                <a:solidFill>
                  <a:srgbClr val="B84600"/>
                </a:solidFill>
                <a:latin typeface="Cambria"/>
                <a:cs typeface="Cambria"/>
              </a:rPr>
              <a:t> </a:t>
            </a:r>
            <a:r>
              <a:rPr sz="2600" spc="120" dirty="0">
                <a:solidFill>
                  <a:srgbClr val="B84600"/>
                </a:solidFill>
                <a:latin typeface="Cambria"/>
                <a:cs typeface="Cambria"/>
              </a:rPr>
              <a:t>and</a:t>
            </a:r>
            <a:r>
              <a:rPr sz="2600" spc="135" dirty="0">
                <a:solidFill>
                  <a:srgbClr val="B84600"/>
                </a:solidFill>
                <a:latin typeface="Cambria"/>
                <a:cs typeface="Cambria"/>
              </a:rPr>
              <a:t> </a:t>
            </a:r>
            <a:r>
              <a:rPr sz="2600" spc="50" dirty="0">
                <a:solidFill>
                  <a:srgbClr val="B84600"/>
                </a:solidFill>
                <a:latin typeface="Cambria"/>
                <a:cs typeface="Cambria"/>
              </a:rPr>
              <a:t>destroyed</a:t>
            </a:r>
            <a:r>
              <a:rPr sz="2600" spc="155" dirty="0">
                <a:solidFill>
                  <a:srgbClr val="B84600"/>
                </a:solidFill>
                <a:latin typeface="Cambria"/>
                <a:cs typeface="Cambria"/>
              </a:rPr>
              <a:t> </a:t>
            </a:r>
            <a:r>
              <a:rPr sz="2600" spc="145" dirty="0">
                <a:latin typeface="Cambria"/>
                <a:cs typeface="Cambria"/>
              </a:rPr>
              <a:t>–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85" dirty="0">
                <a:latin typeface="Cambria"/>
                <a:cs typeface="Cambria"/>
              </a:rPr>
              <a:t>millions </a:t>
            </a:r>
            <a:r>
              <a:rPr sz="2600" spc="-555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times</a:t>
            </a:r>
            <a:endParaRPr sz="2600">
              <a:latin typeface="Cambria"/>
              <a:cs typeface="Cambria"/>
            </a:endParaRPr>
          </a:p>
          <a:p>
            <a:pPr marL="335280" marR="408305" indent="-323215">
              <a:lnSpc>
                <a:spcPts val="2810"/>
              </a:lnSpc>
              <a:spcBef>
                <a:spcPts val="240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600" spc="155" dirty="0">
                <a:latin typeface="Cambria"/>
                <a:cs typeface="Cambria"/>
              </a:rPr>
              <a:t>What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is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the</a:t>
            </a:r>
            <a:r>
              <a:rPr sz="2600" spc="145" dirty="0">
                <a:latin typeface="Cambria"/>
                <a:cs typeface="Cambria"/>
              </a:rPr>
              <a:t> </a:t>
            </a:r>
            <a:r>
              <a:rPr sz="2600" spc="35" dirty="0">
                <a:latin typeface="Cambria"/>
                <a:cs typeface="Cambria"/>
              </a:rPr>
              <a:t>correct</a:t>
            </a:r>
            <a:r>
              <a:rPr sz="2600" spc="120" dirty="0">
                <a:latin typeface="Cambria"/>
                <a:cs typeface="Cambria"/>
              </a:rPr>
              <a:t> </a:t>
            </a:r>
            <a:r>
              <a:rPr sz="2600" spc="90" dirty="0">
                <a:latin typeface="Cambria"/>
                <a:cs typeface="Cambria"/>
              </a:rPr>
              <a:t>way</a:t>
            </a:r>
            <a:r>
              <a:rPr sz="2600" spc="150" dirty="0">
                <a:latin typeface="Cambria"/>
                <a:cs typeface="Cambria"/>
              </a:rPr>
              <a:t> </a:t>
            </a:r>
            <a:r>
              <a:rPr sz="2600" dirty="0">
                <a:latin typeface="Cambria"/>
                <a:cs typeface="Cambria"/>
              </a:rPr>
              <a:t>of</a:t>
            </a:r>
            <a:r>
              <a:rPr sz="2600" spc="155" dirty="0">
                <a:latin typeface="Cambria"/>
                <a:cs typeface="Cambria"/>
              </a:rPr>
              <a:t> </a:t>
            </a:r>
            <a:r>
              <a:rPr sz="2600" spc="135" dirty="0">
                <a:latin typeface="Cambria"/>
                <a:cs typeface="Cambria"/>
              </a:rPr>
              <a:t>managing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125" dirty="0">
                <a:latin typeface="Cambria"/>
                <a:cs typeface="Cambria"/>
              </a:rPr>
              <a:t>them,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120" dirty="0">
                <a:latin typeface="Cambria"/>
                <a:cs typeface="Cambria"/>
              </a:rPr>
              <a:t>and</a:t>
            </a:r>
            <a:r>
              <a:rPr sz="2600" spc="13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ensuring</a:t>
            </a:r>
            <a:r>
              <a:rPr sz="2600" spc="165" dirty="0">
                <a:latin typeface="Cambria"/>
                <a:cs typeface="Cambria"/>
              </a:rPr>
              <a:t> </a:t>
            </a:r>
            <a:r>
              <a:rPr sz="2600" spc="95" dirty="0">
                <a:solidFill>
                  <a:srgbClr val="33CC66"/>
                </a:solidFill>
                <a:latin typeface="Cambria"/>
                <a:cs typeface="Cambria"/>
              </a:rPr>
              <a:t>their</a:t>
            </a:r>
            <a:r>
              <a:rPr sz="2600" spc="135" dirty="0">
                <a:solidFill>
                  <a:srgbClr val="33CC66"/>
                </a:solidFill>
                <a:latin typeface="Cambria"/>
                <a:cs typeface="Cambria"/>
              </a:rPr>
              <a:t> </a:t>
            </a:r>
            <a:r>
              <a:rPr sz="2600" spc="120" dirty="0">
                <a:solidFill>
                  <a:srgbClr val="33CC66"/>
                </a:solidFill>
                <a:latin typeface="Cambria"/>
                <a:cs typeface="Cambria"/>
              </a:rPr>
              <a:t>fast </a:t>
            </a:r>
            <a:r>
              <a:rPr sz="2600" spc="-560" dirty="0">
                <a:solidFill>
                  <a:srgbClr val="33CC66"/>
                </a:solidFill>
                <a:latin typeface="Cambria"/>
                <a:cs typeface="Cambria"/>
              </a:rPr>
              <a:t> </a:t>
            </a:r>
            <a:r>
              <a:rPr sz="2600" spc="70" dirty="0">
                <a:solidFill>
                  <a:srgbClr val="33CC66"/>
                </a:solidFill>
                <a:latin typeface="Cambria"/>
                <a:cs typeface="Cambria"/>
              </a:rPr>
              <a:t>creation</a:t>
            </a:r>
            <a:r>
              <a:rPr sz="2600" spc="120" dirty="0">
                <a:solidFill>
                  <a:srgbClr val="33CC66"/>
                </a:solidFill>
                <a:latin typeface="Cambria"/>
                <a:cs typeface="Cambria"/>
              </a:rPr>
              <a:t> and</a:t>
            </a:r>
            <a:r>
              <a:rPr sz="2600" spc="130" dirty="0">
                <a:solidFill>
                  <a:srgbClr val="33CC66"/>
                </a:solidFill>
                <a:latin typeface="Cambria"/>
                <a:cs typeface="Cambria"/>
              </a:rPr>
              <a:t> </a:t>
            </a:r>
            <a:r>
              <a:rPr sz="2600" spc="60" dirty="0">
                <a:solidFill>
                  <a:srgbClr val="33CC66"/>
                </a:solidFill>
                <a:latin typeface="Cambria"/>
                <a:cs typeface="Cambria"/>
              </a:rPr>
              <a:t>deletion</a:t>
            </a:r>
            <a:r>
              <a:rPr sz="2600" spc="135" dirty="0">
                <a:solidFill>
                  <a:srgbClr val="33CC66"/>
                </a:solidFill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?</a:t>
            </a:r>
            <a:endParaRPr sz="26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204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600" spc="150" dirty="0">
                <a:latin typeface="Cambria"/>
                <a:cs typeface="Cambria"/>
              </a:rPr>
              <a:t>Is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80" dirty="0">
                <a:latin typeface="Cambria"/>
                <a:cs typeface="Cambria"/>
              </a:rPr>
              <a:t>there</a:t>
            </a:r>
            <a:r>
              <a:rPr sz="2600" spc="114" dirty="0">
                <a:latin typeface="Cambria"/>
                <a:cs typeface="Cambria"/>
              </a:rPr>
              <a:t> </a:t>
            </a:r>
            <a:r>
              <a:rPr sz="2600" spc="175" dirty="0">
                <a:latin typeface="Cambria"/>
                <a:cs typeface="Cambria"/>
              </a:rPr>
              <a:t>a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100" dirty="0">
                <a:latin typeface="Cambria"/>
                <a:cs typeface="Cambria"/>
              </a:rPr>
              <a:t>pattern</a:t>
            </a:r>
            <a:r>
              <a:rPr sz="2600" spc="135" dirty="0">
                <a:latin typeface="Cambria"/>
                <a:cs typeface="Cambria"/>
              </a:rPr>
              <a:t> </a:t>
            </a:r>
            <a:r>
              <a:rPr sz="2600" spc="55" dirty="0">
                <a:latin typeface="Cambria"/>
                <a:cs typeface="Cambria"/>
              </a:rPr>
              <a:t>?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34661" y="1846326"/>
            <a:ext cx="1584960" cy="576580"/>
          </a:xfrm>
          <a:prstGeom prst="rect">
            <a:avLst/>
          </a:prstGeom>
          <a:solidFill>
            <a:srgbClr val="FFFF99"/>
          </a:solidFill>
          <a:ln w="3175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5401" y="432942"/>
            <a:ext cx="67202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95" dirty="0"/>
              <a:t>Pattern</a:t>
            </a:r>
            <a:r>
              <a:rPr sz="4000" spc="245" dirty="0"/>
              <a:t> </a:t>
            </a:r>
            <a:r>
              <a:rPr sz="4000" spc="195" dirty="0"/>
              <a:t>of</a:t>
            </a:r>
            <a:r>
              <a:rPr sz="4000" spc="240" dirty="0"/>
              <a:t> </a:t>
            </a:r>
            <a:r>
              <a:rPr sz="4000" spc="325" dirty="0"/>
              <a:t>Function</a:t>
            </a:r>
            <a:r>
              <a:rPr sz="4000" spc="240" dirty="0"/>
              <a:t> </a:t>
            </a:r>
            <a:r>
              <a:rPr sz="4000" spc="325" dirty="0"/>
              <a:t>Calls</a:t>
            </a:r>
            <a:endParaRPr sz="4000"/>
          </a:p>
        </p:txBody>
      </p:sp>
      <p:sp>
        <p:nvSpPr>
          <p:cNvPr id="5" name="object 5"/>
          <p:cNvSpPr txBox="1"/>
          <p:nvPr/>
        </p:nvSpPr>
        <p:spPr>
          <a:xfrm>
            <a:off x="2439161" y="1872233"/>
            <a:ext cx="1583690" cy="576580"/>
          </a:xfrm>
          <a:prstGeom prst="rect">
            <a:avLst/>
          </a:prstGeom>
          <a:solidFill>
            <a:srgbClr val="99CCFF"/>
          </a:solidFill>
          <a:ln w="3175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135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main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568761" y="1205293"/>
            <a:ext cx="1585595" cy="578485"/>
            <a:chOff x="4568761" y="1205293"/>
            <a:chExt cx="1585595" cy="578485"/>
          </a:xfrm>
        </p:grpSpPr>
        <p:sp>
          <p:nvSpPr>
            <p:cNvPr id="7" name="object 7"/>
            <p:cNvSpPr/>
            <p:nvPr/>
          </p:nvSpPr>
          <p:spPr>
            <a:xfrm>
              <a:off x="4569713" y="1206245"/>
              <a:ext cx="1583690" cy="576580"/>
            </a:xfrm>
            <a:custGeom>
              <a:avLst/>
              <a:gdLst/>
              <a:ahLst/>
              <a:cxnLst/>
              <a:rect l="l" t="t" r="r" b="b"/>
              <a:pathLst>
                <a:path w="1583689" h="576580">
                  <a:moveTo>
                    <a:pt x="1583436" y="0"/>
                  </a:moveTo>
                  <a:lnTo>
                    <a:pt x="0" y="0"/>
                  </a:lnTo>
                  <a:lnTo>
                    <a:pt x="0" y="576072"/>
                  </a:lnTo>
                  <a:lnTo>
                    <a:pt x="1583436" y="576072"/>
                  </a:lnTo>
                  <a:lnTo>
                    <a:pt x="1583436" y="0"/>
                  </a:lnTo>
                  <a:close/>
                </a:path>
              </a:pathLst>
            </a:custGeom>
            <a:solidFill>
              <a:srgbClr val="FF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69713" y="1206245"/>
              <a:ext cx="1583690" cy="576580"/>
            </a:xfrm>
            <a:custGeom>
              <a:avLst/>
              <a:gdLst/>
              <a:ahLst/>
              <a:cxnLst/>
              <a:rect l="l" t="t" r="r" b="b"/>
              <a:pathLst>
                <a:path w="1583689" h="576580">
                  <a:moveTo>
                    <a:pt x="0" y="576072"/>
                  </a:moveTo>
                  <a:lnTo>
                    <a:pt x="1583436" y="576072"/>
                  </a:lnTo>
                  <a:lnTo>
                    <a:pt x="1583436" y="0"/>
                  </a:lnTo>
                  <a:lnTo>
                    <a:pt x="0" y="0"/>
                  </a:lnTo>
                  <a:lnTo>
                    <a:pt x="0" y="57607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64073" y="1338198"/>
            <a:ext cx="394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576821" y="1223010"/>
            <a:ext cx="1583690" cy="576580"/>
          </a:xfrm>
          <a:prstGeom prst="rect">
            <a:avLst/>
          </a:prstGeom>
          <a:solidFill>
            <a:srgbClr val="FFFFCC"/>
          </a:solidFill>
          <a:ln w="3175">
            <a:solidFill>
              <a:srgbClr val="00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14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test2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02858" y="2082673"/>
            <a:ext cx="502920" cy="103505"/>
          </a:xfrm>
          <a:custGeom>
            <a:avLst/>
            <a:gdLst/>
            <a:ahLst/>
            <a:cxnLst/>
            <a:rect l="l" t="t" r="r" b="b"/>
            <a:pathLst>
              <a:path w="502920" h="103505">
                <a:moveTo>
                  <a:pt x="477810" y="51688"/>
                </a:moveTo>
                <a:lnTo>
                  <a:pt x="407923" y="92455"/>
                </a:lnTo>
                <a:lnTo>
                  <a:pt x="406908" y="96265"/>
                </a:lnTo>
                <a:lnTo>
                  <a:pt x="410463" y="102362"/>
                </a:lnTo>
                <a:lnTo>
                  <a:pt x="414273" y="103377"/>
                </a:lnTo>
                <a:lnTo>
                  <a:pt x="492029" y="58038"/>
                </a:lnTo>
                <a:lnTo>
                  <a:pt x="490346" y="58038"/>
                </a:lnTo>
                <a:lnTo>
                  <a:pt x="490346" y="57150"/>
                </a:lnTo>
                <a:lnTo>
                  <a:pt x="487171" y="57150"/>
                </a:lnTo>
                <a:lnTo>
                  <a:pt x="477810" y="51688"/>
                </a:lnTo>
                <a:close/>
              </a:path>
              <a:path w="502920" h="103505">
                <a:moveTo>
                  <a:pt x="46692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466924" y="58038"/>
                </a:lnTo>
                <a:lnTo>
                  <a:pt x="477810" y="51688"/>
                </a:lnTo>
                <a:lnTo>
                  <a:pt x="466924" y="45338"/>
                </a:lnTo>
                <a:close/>
              </a:path>
              <a:path w="502920" h="103505">
                <a:moveTo>
                  <a:pt x="492029" y="45338"/>
                </a:moveTo>
                <a:lnTo>
                  <a:pt x="490346" y="45338"/>
                </a:lnTo>
                <a:lnTo>
                  <a:pt x="490346" y="58038"/>
                </a:lnTo>
                <a:lnTo>
                  <a:pt x="492029" y="58038"/>
                </a:lnTo>
                <a:lnTo>
                  <a:pt x="502919" y="51688"/>
                </a:lnTo>
                <a:lnTo>
                  <a:pt x="492029" y="45338"/>
                </a:lnTo>
                <a:close/>
              </a:path>
              <a:path w="502920" h="103505">
                <a:moveTo>
                  <a:pt x="487171" y="46227"/>
                </a:moveTo>
                <a:lnTo>
                  <a:pt x="477810" y="51688"/>
                </a:lnTo>
                <a:lnTo>
                  <a:pt x="487171" y="57150"/>
                </a:lnTo>
                <a:lnTo>
                  <a:pt x="487171" y="46227"/>
                </a:lnTo>
                <a:close/>
              </a:path>
              <a:path w="502920" h="103505">
                <a:moveTo>
                  <a:pt x="490346" y="46227"/>
                </a:moveTo>
                <a:lnTo>
                  <a:pt x="487171" y="46227"/>
                </a:lnTo>
                <a:lnTo>
                  <a:pt x="487171" y="57150"/>
                </a:lnTo>
                <a:lnTo>
                  <a:pt x="490346" y="57150"/>
                </a:lnTo>
                <a:lnTo>
                  <a:pt x="490346" y="46227"/>
                </a:lnTo>
                <a:close/>
              </a:path>
              <a:path w="502920" h="103505">
                <a:moveTo>
                  <a:pt x="414273" y="0"/>
                </a:moveTo>
                <a:lnTo>
                  <a:pt x="410463" y="1015"/>
                </a:lnTo>
                <a:lnTo>
                  <a:pt x="406908" y="7112"/>
                </a:lnTo>
                <a:lnTo>
                  <a:pt x="407923" y="10922"/>
                </a:lnTo>
                <a:lnTo>
                  <a:pt x="477810" y="51688"/>
                </a:lnTo>
                <a:lnTo>
                  <a:pt x="487171" y="46227"/>
                </a:lnTo>
                <a:lnTo>
                  <a:pt x="490346" y="46227"/>
                </a:lnTo>
                <a:lnTo>
                  <a:pt x="490346" y="45338"/>
                </a:lnTo>
                <a:lnTo>
                  <a:pt x="492029" y="45338"/>
                </a:lnTo>
                <a:lnTo>
                  <a:pt x="41427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596633" y="1888998"/>
            <a:ext cx="1584960" cy="576580"/>
          </a:xfrm>
          <a:prstGeom prst="rect">
            <a:avLst/>
          </a:prstGeom>
          <a:solidFill>
            <a:srgbClr val="FFFF99"/>
          </a:solidFill>
          <a:ln w="3175">
            <a:solidFill>
              <a:srgbClr val="000000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468630">
              <a:lnSpc>
                <a:spcPct val="100000"/>
              </a:lnSpc>
              <a:spcBef>
                <a:spcPts val="114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foobar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711945" y="1846326"/>
            <a:ext cx="1434465" cy="576580"/>
          </a:xfrm>
          <a:prstGeom prst="rect">
            <a:avLst/>
          </a:prstGeom>
          <a:solidFill>
            <a:srgbClr val="FFFF99"/>
          </a:solidFill>
          <a:ln w="3175">
            <a:solidFill>
              <a:srgbClr val="000000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229235">
              <a:lnSpc>
                <a:spcPct val="100000"/>
              </a:lnSpc>
              <a:spcBef>
                <a:spcPts val="1135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foobarbar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205978" y="2122297"/>
            <a:ext cx="502920" cy="103505"/>
          </a:xfrm>
          <a:custGeom>
            <a:avLst/>
            <a:gdLst/>
            <a:ahLst/>
            <a:cxnLst/>
            <a:rect l="l" t="t" r="r" b="b"/>
            <a:pathLst>
              <a:path w="502920" h="103505">
                <a:moveTo>
                  <a:pt x="477810" y="51688"/>
                </a:moveTo>
                <a:lnTo>
                  <a:pt x="407924" y="92455"/>
                </a:lnTo>
                <a:lnTo>
                  <a:pt x="406907" y="96265"/>
                </a:lnTo>
                <a:lnTo>
                  <a:pt x="410464" y="102362"/>
                </a:lnTo>
                <a:lnTo>
                  <a:pt x="414274" y="103377"/>
                </a:lnTo>
                <a:lnTo>
                  <a:pt x="492029" y="58038"/>
                </a:lnTo>
                <a:lnTo>
                  <a:pt x="490347" y="58038"/>
                </a:lnTo>
                <a:lnTo>
                  <a:pt x="490347" y="57150"/>
                </a:lnTo>
                <a:lnTo>
                  <a:pt x="487172" y="57150"/>
                </a:lnTo>
                <a:lnTo>
                  <a:pt x="477810" y="51688"/>
                </a:lnTo>
                <a:close/>
              </a:path>
              <a:path w="502920" h="103505">
                <a:moveTo>
                  <a:pt x="46692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466924" y="58038"/>
                </a:lnTo>
                <a:lnTo>
                  <a:pt x="477810" y="51688"/>
                </a:lnTo>
                <a:lnTo>
                  <a:pt x="466924" y="45338"/>
                </a:lnTo>
                <a:close/>
              </a:path>
              <a:path w="502920" h="103505">
                <a:moveTo>
                  <a:pt x="492029" y="45338"/>
                </a:moveTo>
                <a:lnTo>
                  <a:pt x="490347" y="45338"/>
                </a:lnTo>
                <a:lnTo>
                  <a:pt x="490347" y="58038"/>
                </a:lnTo>
                <a:lnTo>
                  <a:pt x="492029" y="58038"/>
                </a:lnTo>
                <a:lnTo>
                  <a:pt x="502920" y="51688"/>
                </a:lnTo>
                <a:lnTo>
                  <a:pt x="492029" y="45338"/>
                </a:lnTo>
                <a:close/>
              </a:path>
              <a:path w="502920" h="103505">
                <a:moveTo>
                  <a:pt x="487172" y="46227"/>
                </a:moveTo>
                <a:lnTo>
                  <a:pt x="477810" y="51688"/>
                </a:lnTo>
                <a:lnTo>
                  <a:pt x="487172" y="57150"/>
                </a:lnTo>
                <a:lnTo>
                  <a:pt x="487172" y="46227"/>
                </a:lnTo>
                <a:close/>
              </a:path>
              <a:path w="502920" h="103505">
                <a:moveTo>
                  <a:pt x="490347" y="46227"/>
                </a:moveTo>
                <a:lnTo>
                  <a:pt x="487172" y="46227"/>
                </a:lnTo>
                <a:lnTo>
                  <a:pt x="487172" y="57150"/>
                </a:lnTo>
                <a:lnTo>
                  <a:pt x="490347" y="57150"/>
                </a:lnTo>
                <a:lnTo>
                  <a:pt x="490347" y="46227"/>
                </a:lnTo>
                <a:close/>
              </a:path>
              <a:path w="502920" h="103505">
                <a:moveTo>
                  <a:pt x="414274" y="0"/>
                </a:moveTo>
                <a:lnTo>
                  <a:pt x="410464" y="1015"/>
                </a:lnTo>
                <a:lnTo>
                  <a:pt x="406907" y="7112"/>
                </a:lnTo>
                <a:lnTo>
                  <a:pt x="407924" y="10922"/>
                </a:lnTo>
                <a:lnTo>
                  <a:pt x="477810" y="51688"/>
                </a:lnTo>
                <a:lnTo>
                  <a:pt x="487172" y="46227"/>
                </a:lnTo>
                <a:lnTo>
                  <a:pt x="490347" y="46227"/>
                </a:lnTo>
                <a:lnTo>
                  <a:pt x="490347" y="45338"/>
                </a:lnTo>
                <a:lnTo>
                  <a:pt x="492029" y="45338"/>
                </a:lnTo>
                <a:lnTo>
                  <a:pt x="414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031741" y="2076576"/>
            <a:ext cx="502920" cy="103505"/>
          </a:xfrm>
          <a:custGeom>
            <a:avLst/>
            <a:gdLst/>
            <a:ahLst/>
            <a:cxnLst/>
            <a:rect l="l" t="t" r="r" b="b"/>
            <a:pathLst>
              <a:path w="502920" h="103505">
                <a:moveTo>
                  <a:pt x="477810" y="51688"/>
                </a:moveTo>
                <a:lnTo>
                  <a:pt x="407924" y="92456"/>
                </a:lnTo>
                <a:lnTo>
                  <a:pt x="406908" y="96265"/>
                </a:lnTo>
                <a:lnTo>
                  <a:pt x="410463" y="102362"/>
                </a:lnTo>
                <a:lnTo>
                  <a:pt x="414274" y="103377"/>
                </a:lnTo>
                <a:lnTo>
                  <a:pt x="492029" y="58038"/>
                </a:lnTo>
                <a:lnTo>
                  <a:pt x="490347" y="58038"/>
                </a:lnTo>
                <a:lnTo>
                  <a:pt x="490347" y="57150"/>
                </a:lnTo>
                <a:lnTo>
                  <a:pt x="487172" y="57150"/>
                </a:lnTo>
                <a:lnTo>
                  <a:pt x="477810" y="51688"/>
                </a:lnTo>
                <a:close/>
              </a:path>
              <a:path w="502920" h="103505">
                <a:moveTo>
                  <a:pt x="466924" y="45338"/>
                </a:moveTo>
                <a:lnTo>
                  <a:pt x="0" y="45338"/>
                </a:lnTo>
                <a:lnTo>
                  <a:pt x="0" y="58038"/>
                </a:lnTo>
                <a:lnTo>
                  <a:pt x="466924" y="58038"/>
                </a:lnTo>
                <a:lnTo>
                  <a:pt x="477810" y="51688"/>
                </a:lnTo>
                <a:lnTo>
                  <a:pt x="466924" y="45338"/>
                </a:lnTo>
                <a:close/>
              </a:path>
              <a:path w="502920" h="103505">
                <a:moveTo>
                  <a:pt x="492029" y="45338"/>
                </a:moveTo>
                <a:lnTo>
                  <a:pt x="490347" y="45338"/>
                </a:lnTo>
                <a:lnTo>
                  <a:pt x="490347" y="58038"/>
                </a:lnTo>
                <a:lnTo>
                  <a:pt x="492029" y="58038"/>
                </a:lnTo>
                <a:lnTo>
                  <a:pt x="502920" y="51688"/>
                </a:lnTo>
                <a:lnTo>
                  <a:pt x="492029" y="45338"/>
                </a:lnTo>
                <a:close/>
              </a:path>
              <a:path w="502920" h="103505">
                <a:moveTo>
                  <a:pt x="487172" y="46227"/>
                </a:moveTo>
                <a:lnTo>
                  <a:pt x="477810" y="51688"/>
                </a:lnTo>
                <a:lnTo>
                  <a:pt x="487172" y="57150"/>
                </a:lnTo>
                <a:lnTo>
                  <a:pt x="487172" y="46227"/>
                </a:lnTo>
                <a:close/>
              </a:path>
              <a:path w="502920" h="103505">
                <a:moveTo>
                  <a:pt x="490347" y="46227"/>
                </a:moveTo>
                <a:lnTo>
                  <a:pt x="487172" y="46227"/>
                </a:lnTo>
                <a:lnTo>
                  <a:pt x="487172" y="57150"/>
                </a:lnTo>
                <a:lnTo>
                  <a:pt x="490347" y="57150"/>
                </a:lnTo>
                <a:lnTo>
                  <a:pt x="490347" y="46227"/>
                </a:lnTo>
                <a:close/>
              </a:path>
              <a:path w="502920" h="103505">
                <a:moveTo>
                  <a:pt x="414274" y="0"/>
                </a:moveTo>
                <a:lnTo>
                  <a:pt x="410463" y="1015"/>
                </a:lnTo>
                <a:lnTo>
                  <a:pt x="406908" y="7112"/>
                </a:lnTo>
                <a:lnTo>
                  <a:pt x="407924" y="10922"/>
                </a:lnTo>
                <a:lnTo>
                  <a:pt x="477810" y="51688"/>
                </a:lnTo>
                <a:lnTo>
                  <a:pt x="487172" y="46227"/>
                </a:lnTo>
                <a:lnTo>
                  <a:pt x="490347" y="46227"/>
                </a:lnTo>
                <a:lnTo>
                  <a:pt x="490347" y="45338"/>
                </a:lnTo>
                <a:lnTo>
                  <a:pt x="492029" y="45338"/>
                </a:lnTo>
                <a:lnTo>
                  <a:pt x="4142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2509837" y="3023425"/>
            <a:ext cx="2233295" cy="1082675"/>
            <a:chOff x="2509837" y="3023425"/>
            <a:chExt cx="2233295" cy="1082675"/>
          </a:xfrm>
        </p:grpSpPr>
        <p:sp>
          <p:nvSpPr>
            <p:cNvPr id="17" name="object 17"/>
            <p:cNvSpPr/>
            <p:nvPr/>
          </p:nvSpPr>
          <p:spPr>
            <a:xfrm>
              <a:off x="2510790" y="3024378"/>
              <a:ext cx="2231390" cy="1080770"/>
            </a:xfrm>
            <a:custGeom>
              <a:avLst/>
              <a:gdLst/>
              <a:ahLst/>
              <a:cxnLst/>
              <a:rect l="l" t="t" r="r" b="b"/>
              <a:pathLst>
                <a:path w="2231390" h="1080770">
                  <a:moveTo>
                    <a:pt x="2231136" y="0"/>
                  </a:moveTo>
                  <a:lnTo>
                    <a:pt x="0" y="0"/>
                  </a:lnTo>
                  <a:lnTo>
                    <a:pt x="0" y="1080516"/>
                  </a:lnTo>
                  <a:lnTo>
                    <a:pt x="2231136" y="1080516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10790" y="3024378"/>
              <a:ext cx="2231390" cy="1080770"/>
            </a:xfrm>
            <a:custGeom>
              <a:avLst/>
              <a:gdLst/>
              <a:ahLst/>
              <a:cxnLst/>
              <a:rect l="l" t="t" r="r" b="b"/>
              <a:pathLst>
                <a:path w="2231390" h="1080770">
                  <a:moveTo>
                    <a:pt x="0" y="1080516"/>
                  </a:moveTo>
                  <a:lnTo>
                    <a:pt x="2231136" y="1080516"/>
                  </a:lnTo>
                  <a:lnTo>
                    <a:pt x="2231136" y="0"/>
                  </a:lnTo>
                  <a:lnTo>
                    <a:pt x="0" y="0"/>
                  </a:lnTo>
                  <a:lnTo>
                    <a:pt x="0" y="1080516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587498" y="2997453"/>
            <a:ext cx="812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main()</a:t>
            </a:r>
            <a:r>
              <a:rPr sz="1800" spc="-7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501897" y="3271773"/>
            <a:ext cx="6102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test();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foo();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87498" y="3820414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46941" y="3023425"/>
            <a:ext cx="2233295" cy="1297305"/>
            <a:chOff x="5246941" y="3023425"/>
            <a:chExt cx="2233295" cy="1297305"/>
          </a:xfrm>
        </p:grpSpPr>
        <p:sp>
          <p:nvSpPr>
            <p:cNvPr id="23" name="object 23"/>
            <p:cNvSpPr/>
            <p:nvPr/>
          </p:nvSpPr>
          <p:spPr>
            <a:xfrm>
              <a:off x="5247893" y="3024378"/>
              <a:ext cx="2231390" cy="1295400"/>
            </a:xfrm>
            <a:custGeom>
              <a:avLst/>
              <a:gdLst/>
              <a:ahLst/>
              <a:cxnLst/>
              <a:rect l="l" t="t" r="r" b="b"/>
              <a:pathLst>
                <a:path w="2231390" h="1295400">
                  <a:moveTo>
                    <a:pt x="2231136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231136" y="1295400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247893" y="3024378"/>
              <a:ext cx="2231390" cy="1295400"/>
            </a:xfrm>
            <a:custGeom>
              <a:avLst/>
              <a:gdLst/>
              <a:ahLst/>
              <a:cxnLst/>
              <a:rect l="l" t="t" r="r" b="b"/>
              <a:pathLst>
                <a:path w="2231390" h="1295400">
                  <a:moveTo>
                    <a:pt x="0" y="1295400"/>
                  </a:moveTo>
                  <a:lnTo>
                    <a:pt x="2231136" y="1295400"/>
                  </a:lnTo>
                  <a:lnTo>
                    <a:pt x="2231136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5324602" y="2967990"/>
            <a:ext cx="686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test()</a:t>
            </a:r>
            <a:r>
              <a:rPr sz="1800" spc="-8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39002" y="3242564"/>
            <a:ext cx="73723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12700" marR="5080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test2(); 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return;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24602" y="4065523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766113" y="3023425"/>
            <a:ext cx="2233295" cy="1010919"/>
            <a:chOff x="7766113" y="3023425"/>
            <a:chExt cx="2233295" cy="1010919"/>
          </a:xfrm>
        </p:grpSpPr>
        <p:sp>
          <p:nvSpPr>
            <p:cNvPr id="29" name="object 29"/>
            <p:cNvSpPr/>
            <p:nvPr/>
          </p:nvSpPr>
          <p:spPr>
            <a:xfrm>
              <a:off x="7767066" y="3024378"/>
              <a:ext cx="2231390" cy="1009015"/>
            </a:xfrm>
            <a:custGeom>
              <a:avLst/>
              <a:gdLst/>
              <a:ahLst/>
              <a:cxnLst/>
              <a:rect l="l" t="t" r="r" b="b"/>
              <a:pathLst>
                <a:path w="2231390" h="1009014">
                  <a:moveTo>
                    <a:pt x="2231135" y="0"/>
                  </a:moveTo>
                  <a:lnTo>
                    <a:pt x="0" y="0"/>
                  </a:lnTo>
                  <a:lnTo>
                    <a:pt x="0" y="1008888"/>
                  </a:lnTo>
                  <a:lnTo>
                    <a:pt x="2231135" y="1008888"/>
                  </a:lnTo>
                  <a:lnTo>
                    <a:pt x="2231135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7066" y="3024378"/>
              <a:ext cx="2231390" cy="1009015"/>
            </a:xfrm>
            <a:custGeom>
              <a:avLst/>
              <a:gdLst/>
              <a:ahLst/>
              <a:cxnLst/>
              <a:rect l="l" t="t" r="r" b="b"/>
              <a:pathLst>
                <a:path w="2231390" h="1009014">
                  <a:moveTo>
                    <a:pt x="0" y="1008888"/>
                  </a:moveTo>
                  <a:lnTo>
                    <a:pt x="2231135" y="1008888"/>
                  </a:lnTo>
                  <a:lnTo>
                    <a:pt x="2231135" y="0"/>
                  </a:lnTo>
                  <a:lnTo>
                    <a:pt x="0" y="0"/>
                  </a:lnTo>
                  <a:lnTo>
                    <a:pt x="0" y="1008888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7844155" y="2961513"/>
            <a:ext cx="8121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test2()</a:t>
            </a:r>
            <a:r>
              <a:rPr sz="1800" spc="-9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58808" y="3235833"/>
            <a:ext cx="68516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r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e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tur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;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844155" y="3784854"/>
            <a:ext cx="1022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510789" y="4680965"/>
            <a:ext cx="2231390" cy="1295400"/>
          </a:xfrm>
          <a:custGeom>
            <a:avLst/>
            <a:gdLst/>
            <a:ahLst/>
            <a:cxnLst/>
            <a:rect l="l" t="t" r="r" b="b"/>
            <a:pathLst>
              <a:path w="2231390" h="1295400">
                <a:moveTo>
                  <a:pt x="2231136" y="0"/>
                </a:moveTo>
                <a:lnTo>
                  <a:pt x="0" y="0"/>
                </a:lnTo>
                <a:lnTo>
                  <a:pt x="0" y="1295400"/>
                </a:lnTo>
                <a:lnTo>
                  <a:pt x="2231136" y="1295400"/>
                </a:lnTo>
                <a:lnTo>
                  <a:pt x="2231136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510789" y="4680965"/>
            <a:ext cx="2231390" cy="1295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8900">
              <a:lnSpc>
                <a:spcPts val="1810"/>
              </a:lnSpc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foo()</a:t>
            </a:r>
            <a:r>
              <a:rPr sz="1800" spc="-5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003300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1003300" marR="357505">
              <a:lnSpc>
                <a:spcPct val="100000"/>
              </a:lnSpc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b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r(); 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return;</a:t>
            </a:r>
            <a:endParaRPr sz="1800">
              <a:latin typeface="Arial MT"/>
              <a:cs typeface="Arial MT"/>
            </a:endParaRPr>
          </a:p>
          <a:p>
            <a:pPr marL="88900">
              <a:lnSpc>
                <a:spcPts val="1905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5029009" y="4680013"/>
            <a:ext cx="2233295" cy="1297305"/>
            <a:chOff x="5029009" y="4680013"/>
            <a:chExt cx="2233295" cy="1297305"/>
          </a:xfrm>
        </p:grpSpPr>
        <p:sp>
          <p:nvSpPr>
            <p:cNvPr id="37" name="object 37"/>
            <p:cNvSpPr/>
            <p:nvPr/>
          </p:nvSpPr>
          <p:spPr>
            <a:xfrm>
              <a:off x="5029961" y="4680966"/>
              <a:ext cx="2231390" cy="1295400"/>
            </a:xfrm>
            <a:custGeom>
              <a:avLst/>
              <a:gdLst/>
              <a:ahLst/>
              <a:cxnLst/>
              <a:rect l="l" t="t" r="r" b="b"/>
              <a:pathLst>
                <a:path w="2231390" h="1295400">
                  <a:moveTo>
                    <a:pt x="2231136" y="0"/>
                  </a:moveTo>
                  <a:lnTo>
                    <a:pt x="0" y="0"/>
                  </a:lnTo>
                  <a:lnTo>
                    <a:pt x="0" y="1295400"/>
                  </a:lnTo>
                  <a:lnTo>
                    <a:pt x="2231136" y="1295400"/>
                  </a:lnTo>
                  <a:lnTo>
                    <a:pt x="2231136" y="0"/>
                  </a:lnTo>
                  <a:close/>
                </a:path>
              </a:pathLst>
            </a:custGeom>
            <a:solidFill>
              <a:srgbClr val="99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5029961" y="4680966"/>
              <a:ext cx="2231390" cy="1295400"/>
            </a:xfrm>
            <a:custGeom>
              <a:avLst/>
              <a:gdLst/>
              <a:ahLst/>
              <a:cxnLst/>
              <a:rect l="l" t="t" r="r" b="b"/>
              <a:pathLst>
                <a:path w="2231390" h="1295400">
                  <a:moveTo>
                    <a:pt x="0" y="1295400"/>
                  </a:moveTo>
                  <a:lnTo>
                    <a:pt x="2231136" y="1295400"/>
                  </a:lnTo>
                  <a:lnTo>
                    <a:pt x="2231136" y="0"/>
                  </a:lnTo>
                  <a:lnTo>
                    <a:pt x="0" y="0"/>
                  </a:lnTo>
                  <a:lnTo>
                    <a:pt x="0" y="1295400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5107051" y="4623942"/>
            <a:ext cx="2131695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foobar()</a:t>
            </a:r>
            <a:r>
              <a:rPr sz="1800" spc="-3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927100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 marL="927100" marR="5080">
              <a:lnSpc>
                <a:spcPct val="100000"/>
              </a:lnSpc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b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rb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a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r(); 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return;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7550657" y="4680965"/>
            <a:ext cx="2232660" cy="1295400"/>
          </a:xfrm>
          <a:custGeom>
            <a:avLst/>
            <a:gdLst/>
            <a:ahLst/>
            <a:cxnLst/>
            <a:rect l="l" t="t" r="r" b="b"/>
            <a:pathLst>
              <a:path w="2232659" h="1295400">
                <a:moveTo>
                  <a:pt x="2232659" y="0"/>
                </a:moveTo>
                <a:lnTo>
                  <a:pt x="0" y="0"/>
                </a:lnTo>
                <a:lnTo>
                  <a:pt x="0" y="1295400"/>
                </a:lnTo>
                <a:lnTo>
                  <a:pt x="2232659" y="1295400"/>
                </a:lnTo>
                <a:lnTo>
                  <a:pt x="2232659" y="0"/>
                </a:lnTo>
                <a:close/>
              </a:path>
            </a:pathLst>
          </a:custGeom>
          <a:solidFill>
            <a:srgbClr val="99CC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7550657" y="4680965"/>
            <a:ext cx="2232660" cy="1295400"/>
          </a:xfrm>
          <a:prstGeom prst="rect">
            <a:avLst/>
          </a:prstGeom>
          <a:ln w="3175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90170">
              <a:lnSpc>
                <a:spcPts val="1810"/>
              </a:lnSpc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foobarbar()</a:t>
            </a:r>
            <a:r>
              <a:rPr sz="1800" spc="-3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{</a:t>
            </a:r>
            <a:endParaRPr sz="1800">
              <a:latin typeface="Arial MT"/>
              <a:cs typeface="Arial MT"/>
            </a:endParaRPr>
          </a:p>
          <a:p>
            <a:pPr marL="1004569">
              <a:lnSpc>
                <a:spcPct val="100000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...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004569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return;</a:t>
            </a:r>
            <a:endParaRPr sz="1800">
              <a:latin typeface="Arial MT"/>
              <a:cs typeface="Arial MT"/>
            </a:endParaRPr>
          </a:p>
          <a:p>
            <a:pPr marL="90170">
              <a:lnSpc>
                <a:spcPts val="1905"/>
              </a:lnSpc>
            </a:pP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}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870454" y="3138042"/>
            <a:ext cx="4968240" cy="2050414"/>
          </a:xfrm>
          <a:custGeom>
            <a:avLst/>
            <a:gdLst/>
            <a:ahLst/>
            <a:cxnLst/>
            <a:rect l="l" t="t" r="r" b="b"/>
            <a:pathLst>
              <a:path w="4968240" h="2050414">
                <a:moveTo>
                  <a:pt x="640842" y="600075"/>
                </a:moveTo>
                <a:lnTo>
                  <a:pt x="630174" y="592963"/>
                </a:lnTo>
                <a:lnTo>
                  <a:pt x="14808" y="1509534"/>
                </a:lnTo>
                <a:lnTo>
                  <a:pt x="18986" y="1443990"/>
                </a:lnTo>
                <a:lnTo>
                  <a:pt x="19177" y="1441323"/>
                </a:lnTo>
                <a:lnTo>
                  <a:pt x="16510" y="1438275"/>
                </a:lnTo>
                <a:lnTo>
                  <a:pt x="12954" y="1438148"/>
                </a:lnTo>
                <a:lnTo>
                  <a:pt x="9525" y="1437894"/>
                </a:lnTo>
                <a:lnTo>
                  <a:pt x="6477" y="1440561"/>
                </a:lnTo>
                <a:lnTo>
                  <a:pt x="6159" y="1444879"/>
                </a:lnTo>
                <a:lnTo>
                  <a:pt x="0" y="1542923"/>
                </a:lnTo>
                <a:lnTo>
                  <a:pt x="14160" y="1536065"/>
                </a:lnTo>
                <a:lnTo>
                  <a:pt x="92329" y="1498219"/>
                </a:lnTo>
                <a:lnTo>
                  <a:pt x="93599" y="1494409"/>
                </a:lnTo>
                <a:lnTo>
                  <a:pt x="90551" y="1488059"/>
                </a:lnTo>
                <a:lnTo>
                  <a:pt x="86741" y="1486789"/>
                </a:lnTo>
                <a:lnTo>
                  <a:pt x="25463" y="1516481"/>
                </a:lnTo>
                <a:lnTo>
                  <a:pt x="640842" y="600075"/>
                </a:lnTo>
                <a:close/>
              </a:path>
              <a:path w="4968240" h="2050414">
                <a:moveTo>
                  <a:pt x="2232660" y="1687703"/>
                </a:moveTo>
                <a:lnTo>
                  <a:pt x="2228304" y="1687322"/>
                </a:lnTo>
                <a:lnTo>
                  <a:pt x="2133981" y="1679067"/>
                </a:lnTo>
                <a:lnTo>
                  <a:pt x="2130425" y="1678686"/>
                </a:lnTo>
                <a:lnTo>
                  <a:pt x="2127377" y="1681353"/>
                </a:lnTo>
                <a:lnTo>
                  <a:pt x="2127123" y="1684782"/>
                </a:lnTo>
                <a:lnTo>
                  <a:pt x="2126742" y="1688338"/>
                </a:lnTo>
                <a:lnTo>
                  <a:pt x="2129409" y="1691386"/>
                </a:lnTo>
                <a:lnTo>
                  <a:pt x="2132838" y="1691767"/>
                </a:lnTo>
                <a:lnTo>
                  <a:pt x="2197290" y="1697367"/>
                </a:lnTo>
                <a:lnTo>
                  <a:pt x="1474089" y="2038604"/>
                </a:lnTo>
                <a:lnTo>
                  <a:pt x="1479423" y="2050034"/>
                </a:lnTo>
                <a:lnTo>
                  <a:pt x="2202751" y="1708785"/>
                </a:lnTo>
                <a:lnTo>
                  <a:pt x="2166112" y="1762125"/>
                </a:lnTo>
                <a:lnTo>
                  <a:pt x="2164080" y="1765046"/>
                </a:lnTo>
                <a:lnTo>
                  <a:pt x="2164842" y="1768983"/>
                </a:lnTo>
                <a:lnTo>
                  <a:pt x="2170684" y="1773047"/>
                </a:lnTo>
                <a:lnTo>
                  <a:pt x="2174621" y="1772285"/>
                </a:lnTo>
                <a:lnTo>
                  <a:pt x="2176526" y="1769364"/>
                </a:lnTo>
                <a:lnTo>
                  <a:pt x="2232660" y="1687703"/>
                </a:lnTo>
                <a:close/>
              </a:path>
              <a:path w="4968240" h="2050414">
                <a:moveTo>
                  <a:pt x="2447544" y="31115"/>
                </a:moveTo>
                <a:lnTo>
                  <a:pt x="2436736" y="27686"/>
                </a:lnTo>
                <a:lnTo>
                  <a:pt x="2353183" y="1143"/>
                </a:lnTo>
                <a:lnTo>
                  <a:pt x="2349754" y="0"/>
                </a:lnTo>
                <a:lnTo>
                  <a:pt x="2346198" y="1905"/>
                </a:lnTo>
                <a:lnTo>
                  <a:pt x="2345182" y="5207"/>
                </a:lnTo>
                <a:lnTo>
                  <a:pt x="2344039" y="8509"/>
                </a:lnTo>
                <a:lnTo>
                  <a:pt x="2345944" y="12065"/>
                </a:lnTo>
                <a:lnTo>
                  <a:pt x="2349246" y="13208"/>
                </a:lnTo>
                <a:lnTo>
                  <a:pt x="2410993" y="32804"/>
                </a:lnTo>
                <a:lnTo>
                  <a:pt x="1322959" y="276352"/>
                </a:lnTo>
                <a:lnTo>
                  <a:pt x="1325753" y="288798"/>
                </a:lnTo>
                <a:lnTo>
                  <a:pt x="2413774" y="45123"/>
                </a:lnTo>
                <a:lnTo>
                  <a:pt x="2366264" y="89281"/>
                </a:lnTo>
                <a:lnTo>
                  <a:pt x="2363724" y="91567"/>
                </a:lnTo>
                <a:lnTo>
                  <a:pt x="2363597" y="95631"/>
                </a:lnTo>
                <a:lnTo>
                  <a:pt x="2366010" y="98171"/>
                </a:lnTo>
                <a:lnTo>
                  <a:pt x="2368296" y="100838"/>
                </a:lnTo>
                <a:lnTo>
                  <a:pt x="2372360" y="100965"/>
                </a:lnTo>
                <a:lnTo>
                  <a:pt x="2374900" y="98552"/>
                </a:lnTo>
                <a:lnTo>
                  <a:pt x="2447544" y="31115"/>
                </a:lnTo>
                <a:close/>
              </a:path>
              <a:path w="4968240" h="2050414">
                <a:moveTo>
                  <a:pt x="4751832" y="1757807"/>
                </a:moveTo>
                <a:lnTo>
                  <a:pt x="4649343" y="1761236"/>
                </a:lnTo>
                <a:lnTo>
                  <a:pt x="4646549" y="1764157"/>
                </a:lnTo>
                <a:lnTo>
                  <a:pt x="4646790" y="1770888"/>
                </a:lnTo>
                <a:lnTo>
                  <a:pt x="4646904" y="1771256"/>
                </a:lnTo>
                <a:lnTo>
                  <a:pt x="4649724" y="1773936"/>
                </a:lnTo>
                <a:lnTo>
                  <a:pt x="4717821" y="1771675"/>
                </a:lnTo>
                <a:lnTo>
                  <a:pt x="4292727" y="2038985"/>
                </a:lnTo>
                <a:lnTo>
                  <a:pt x="4299585" y="2049653"/>
                </a:lnTo>
                <a:lnTo>
                  <a:pt x="4724705" y="1782381"/>
                </a:lnTo>
                <a:lnTo>
                  <a:pt x="4693031" y="1842897"/>
                </a:lnTo>
                <a:lnTo>
                  <a:pt x="4694301" y="1846707"/>
                </a:lnTo>
                <a:lnTo>
                  <a:pt x="4697349" y="1848358"/>
                </a:lnTo>
                <a:lnTo>
                  <a:pt x="4700524" y="1849882"/>
                </a:lnTo>
                <a:lnTo>
                  <a:pt x="4704334" y="1848739"/>
                </a:lnTo>
                <a:lnTo>
                  <a:pt x="4705985" y="1845691"/>
                </a:lnTo>
                <a:lnTo>
                  <a:pt x="4751159" y="1759077"/>
                </a:lnTo>
                <a:lnTo>
                  <a:pt x="4751832" y="1757807"/>
                </a:lnTo>
                <a:close/>
              </a:path>
              <a:path w="4968240" h="2050414">
                <a:moveTo>
                  <a:pt x="4968240" y="31115"/>
                </a:moveTo>
                <a:lnTo>
                  <a:pt x="4963185" y="30607"/>
                </a:lnTo>
                <a:lnTo>
                  <a:pt x="4869688" y="21209"/>
                </a:lnTo>
                <a:lnTo>
                  <a:pt x="4866132" y="20955"/>
                </a:lnTo>
                <a:lnTo>
                  <a:pt x="4863084" y="23495"/>
                </a:lnTo>
                <a:lnTo>
                  <a:pt x="4862322" y="30480"/>
                </a:lnTo>
                <a:lnTo>
                  <a:pt x="4864862" y="33528"/>
                </a:lnTo>
                <a:lnTo>
                  <a:pt x="4932832" y="40347"/>
                </a:lnTo>
                <a:lnTo>
                  <a:pt x="4101465" y="420128"/>
                </a:lnTo>
                <a:lnTo>
                  <a:pt x="4106799" y="431546"/>
                </a:lnTo>
                <a:lnTo>
                  <a:pt x="4937976" y="51981"/>
                </a:lnTo>
                <a:lnTo>
                  <a:pt x="4900803" y="104775"/>
                </a:lnTo>
                <a:lnTo>
                  <a:pt x="4898771" y="107696"/>
                </a:lnTo>
                <a:lnTo>
                  <a:pt x="4899406" y="111633"/>
                </a:lnTo>
                <a:lnTo>
                  <a:pt x="4902327" y="113665"/>
                </a:lnTo>
                <a:lnTo>
                  <a:pt x="4905121" y="115697"/>
                </a:lnTo>
                <a:lnTo>
                  <a:pt x="4909185" y="114935"/>
                </a:lnTo>
                <a:lnTo>
                  <a:pt x="4911090" y="112141"/>
                </a:lnTo>
                <a:lnTo>
                  <a:pt x="4968240" y="311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23BD95-B548-BBE8-DC6E-5D161F12B106}"/>
              </a:ext>
            </a:extLst>
          </p:cNvPr>
          <p:cNvCxnSpPr/>
          <p:nvPr/>
        </p:nvCxnSpPr>
        <p:spPr>
          <a:xfrm flipV="1">
            <a:off x="4031741" y="1489435"/>
            <a:ext cx="537972" cy="63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39467E0F-C82A-DA6B-C0C5-45C0C111320B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6182486" y="1511300"/>
            <a:ext cx="3943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46030" y="637651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21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449656"/>
            <a:ext cx="672210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95" dirty="0"/>
              <a:t>Pattern</a:t>
            </a:r>
            <a:r>
              <a:rPr sz="4000" spc="240" dirty="0"/>
              <a:t> </a:t>
            </a:r>
            <a:r>
              <a:rPr sz="4000" spc="204" dirty="0"/>
              <a:t>of</a:t>
            </a:r>
            <a:r>
              <a:rPr sz="4000" spc="254" dirty="0"/>
              <a:t> </a:t>
            </a:r>
            <a:r>
              <a:rPr sz="4000" spc="325" dirty="0"/>
              <a:t>Function</a:t>
            </a:r>
            <a:r>
              <a:rPr sz="4000" spc="254" dirty="0"/>
              <a:t> </a:t>
            </a:r>
            <a:r>
              <a:rPr sz="4000" spc="320" dirty="0"/>
              <a:t>Calls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2368930" y="2276075"/>
            <a:ext cx="124460" cy="3968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090"/>
              </a:lnSpc>
            </a:pPr>
            <a:r>
              <a:rPr sz="2800" spc="-5" dirty="0">
                <a:latin typeface="Arial MT"/>
                <a:cs typeface="Arial MT"/>
              </a:rPr>
              <a:t>•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3351" y="1944623"/>
            <a:ext cx="947927" cy="111709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56230" y="1540205"/>
            <a:ext cx="6724015" cy="18757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95" dirty="0">
                <a:solidFill>
                  <a:srgbClr val="0000FF"/>
                </a:solidFill>
                <a:latin typeface="Cambria"/>
                <a:cs typeface="Cambria"/>
              </a:rPr>
              <a:t>Last</a:t>
            </a:r>
            <a:r>
              <a:rPr sz="2800" spc="14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125" dirty="0">
                <a:solidFill>
                  <a:srgbClr val="0000FF"/>
                </a:solidFill>
                <a:latin typeface="Cambria"/>
                <a:cs typeface="Cambria"/>
              </a:rPr>
              <a:t>in</a:t>
            </a:r>
            <a:r>
              <a:rPr sz="28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150" dirty="0">
                <a:solidFill>
                  <a:srgbClr val="0000FF"/>
                </a:solidFill>
                <a:latin typeface="Cambria"/>
                <a:cs typeface="Cambria"/>
              </a:rPr>
              <a:t>First</a:t>
            </a:r>
            <a:r>
              <a:rPr sz="2800" spc="14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215" dirty="0">
                <a:solidFill>
                  <a:srgbClr val="0000FF"/>
                </a:solidFill>
                <a:latin typeface="Cambria"/>
                <a:cs typeface="Cambria"/>
              </a:rPr>
              <a:t>Out</a:t>
            </a:r>
            <a:endParaRPr sz="2800">
              <a:latin typeface="Cambria"/>
              <a:cs typeface="Cambria"/>
            </a:endParaRPr>
          </a:p>
          <a:p>
            <a:pPr marL="629285">
              <a:lnSpc>
                <a:spcPct val="100000"/>
              </a:lnSpc>
              <a:spcBef>
                <a:spcPts val="2070"/>
              </a:spcBef>
            </a:pPr>
            <a:r>
              <a:rPr sz="2800" spc="195" dirty="0">
                <a:latin typeface="Cambria"/>
                <a:cs typeface="Cambria"/>
              </a:rPr>
              <a:t>Use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a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00FF"/>
                </a:solidFill>
                <a:latin typeface="Cambria"/>
                <a:cs typeface="Cambria"/>
              </a:rPr>
              <a:t>stack</a:t>
            </a:r>
            <a:r>
              <a:rPr sz="28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20" dirty="0">
                <a:latin typeface="Cambria"/>
                <a:cs typeface="Cambria"/>
              </a:rPr>
              <a:t>to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store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blocks</a:t>
            </a:r>
            <a:endParaRPr sz="2800">
              <a:latin typeface="Cambria"/>
              <a:cs typeface="Cambria"/>
            </a:endParaRPr>
          </a:p>
          <a:p>
            <a:pPr marL="1438910">
              <a:lnSpc>
                <a:spcPct val="100000"/>
              </a:lnSpc>
              <a:spcBef>
                <a:spcPts val="2300"/>
              </a:spcBef>
              <a:tabLst>
                <a:tab pos="3300095" algn="l"/>
                <a:tab pos="6456045" algn="l"/>
              </a:tabLst>
            </a:pPr>
            <a:r>
              <a:rPr sz="2900" u="sng" spc="1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	</a:t>
            </a:r>
            <a:r>
              <a:rPr sz="2900" u="sng" spc="1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Stack	</a:t>
            </a:r>
            <a:endParaRPr sz="2900">
              <a:latin typeface="Cambria"/>
              <a:cs typeface="Cambri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810761" y="3489197"/>
            <a:ext cx="1053465" cy="843280"/>
          </a:xfrm>
          <a:prstGeom prst="rect">
            <a:avLst/>
          </a:prstGeom>
          <a:solidFill>
            <a:srgbClr val="FFE6D4"/>
          </a:solidFill>
          <a:ln w="3175">
            <a:solidFill>
              <a:srgbClr val="000000"/>
            </a:solidFill>
          </a:ln>
        </p:spPr>
        <p:txBody>
          <a:bodyPr vert="horz" wrap="square" lIns="0" tIns="17780" rIns="0" bIns="0" rtlCol="0">
            <a:spAutoFit/>
          </a:bodyPr>
          <a:lstStyle/>
          <a:p>
            <a:pPr marL="254000">
              <a:lnSpc>
                <a:spcPct val="100000"/>
              </a:lnSpc>
              <a:spcBef>
                <a:spcPts val="140"/>
              </a:spcBef>
            </a:pPr>
            <a:r>
              <a:rPr sz="2200" spc="-25" dirty="0">
                <a:latin typeface="Cambria"/>
                <a:cs typeface="Cambria"/>
              </a:rPr>
              <a:t>foo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132070" y="3475482"/>
            <a:ext cx="1053465" cy="844550"/>
          </a:xfrm>
          <a:custGeom>
            <a:avLst/>
            <a:gdLst/>
            <a:ahLst/>
            <a:cxnLst/>
            <a:rect l="l" t="t" r="r" b="b"/>
            <a:pathLst>
              <a:path w="1053464" h="844550">
                <a:moveTo>
                  <a:pt x="0" y="844296"/>
                </a:moveTo>
                <a:lnTo>
                  <a:pt x="1053084" y="844296"/>
                </a:lnTo>
                <a:lnTo>
                  <a:pt x="1053084" y="0"/>
                </a:lnTo>
                <a:lnTo>
                  <a:pt x="0" y="0"/>
                </a:lnTo>
                <a:lnTo>
                  <a:pt x="0" y="84429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132959" y="3476371"/>
            <a:ext cx="1051560" cy="838835"/>
          </a:xfrm>
          <a:prstGeom prst="rect">
            <a:avLst/>
          </a:prstGeom>
          <a:solidFill>
            <a:srgbClr val="FFE6D4"/>
          </a:solidFill>
        </p:spPr>
        <p:txBody>
          <a:bodyPr vert="horz" wrap="square" lIns="0" tIns="17780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140"/>
              </a:spcBef>
            </a:pPr>
            <a:r>
              <a:rPr sz="2200" spc="-25" dirty="0">
                <a:latin typeface="Cambria"/>
                <a:cs typeface="Cambria"/>
              </a:rPr>
              <a:t>foo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32070" y="4312158"/>
            <a:ext cx="1053465" cy="844550"/>
          </a:xfrm>
          <a:custGeom>
            <a:avLst/>
            <a:gdLst/>
            <a:ahLst/>
            <a:cxnLst/>
            <a:rect l="l" t="t" r="r" b="b"/>
            <a:pathLst>
              <a:path w="1053464" h="844550">
                <a:moveTo>
                  <a:pt x="0" y="844295"/>
                </a:moveTo>
                <a:lnTo>
                  <a:pt x="1053084" y="844295"/>
                </a:lnTo>
                <a:lnTo>
                  <a:pt x="1053084" y="0"/>
                </a:lnTo>
                <a:lnTo>
                  <a:pt x="0" y="0"/>
                </a:lnTo>
                <a:lnTo>
                  <a:pt x="0" y="84429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132959" y="4316857"/>
            <a:ext cx="1051560" cy="838835"/>
          </a:xfrm>
          <a:prstGeom prst="rect">
            <a:avLst/>
          </a:prstGeom>
          <a:solidFill>
            <a:srgbClr val="FFE6D4"/>
          </a:solidFill>
        </p:spPr>
        <p:txBody>
          <a:bodyPr vert="horz" wrap="square" lIns="0" tIns="42544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34"/>
              </a:spcBef>
            </a:pPr>
            <a:r>
              <a:rPr sz="2000" spc="25" dirty="0">
                <a:latin typeface="Cambria"/>
                <a:cs typeface="Cambria"/>
              </a:rPr>
              <a:t>foobar</a:t>
            </a:r>
            <a:endParaRPr sz="2000">
              <a:latin typeface="Cambria"/>
              <a:cs typeface="Cambria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6504305" y="3466972"/>
          <a:ext cx="1052830" cy="25252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28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40486">
                <a:tc>
                  <a:txBody>
                    <a:bodyPr/>
                    <a:lstStyle/>
                    <a:p>
                      <a:pPr marR="168275" algn="ctr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2200" spc="-25" dirty="0">
                          <a:latin typeface="Cambria"/>
                          <a:cs typeface="Cambria"/>
                        </a:rPr>
                        <a:t>foo</a:t>
                      </a:r>
                      <a:endParaRPr sz="2200">
                        <a:latin typeface="Cambria"/>
                        <a:cs typeface="Cambria"/>
                      </a:endParaRPr>
                    </a:p>
                  </a:txBody>
                  <a:tcPr marL="0" marR="0" marT="1841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486">
                <a:tc>
                  <a:txBody>
                    <a:bodyPr/>
                    <a:lstStyle/>
                    <a:p>
                      <a:pPr marR="11303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2000" spc="25" dirty="0">
                          <a:latin typeface="Cambria"/>
                          <a:cs typeface="Cambria"/>
                        </a:rPr>
                        <a:t>foobar</a:t>
                      </a:r>
                      <a:endParaRPr sz="2000">
                        <a:latin typeface="Cambria"/>
                        <a:cs typeface="Cambria"/>
                      </a:endParaRPr>
                    </a:p>
                  </a:txBody>
                  <a:tcPr marL="0" marR="0" marT="431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4295">
                <a:tc>
                  <a:txBody>
                    <a:bodyPr/>
                    <a:lstStyle/>
                    <a:p>
                      <a:pPr marR="83820" algn="ctr">
                        <a:lnSpc>
                          <a:spcPct val="100000"/>
                        </a:lnSpc>
                        <a:spcBef>
                          <a:spcPts val="650"/>
                        </a:spcBef>
                      </a:pPr>
                      <a:r>
                        <a:rPr sz="1600" spc="25" dirty="0">
                          <a:latin typeface="Cambria"/>
                          <a:cs typeface="Cambria"/>
                        </a:rPr>
                        <a:t>foobarbar</a:t>
                      </a:r>
                      <a:endParaRPr sz="1600">
                        <a:latin typeface="Cambria"/>
                        <a:cs typeface="Cambria"/>
                      </a:endParaRPr>
                    </a:p>
                  </a:txBody>
                  <a:tcPr marL="0" marR="0" marT="825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FE6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" name="object 13"/>
          <p:cNvSpPr/>
          <p:nvPr/>
        </p:nvSpPr>
        <p:spPr>
          <a:xfrm>
            <a:off x="7797545" y="3475482"/>
            <a:ext cx="1053465" cy="844550"/>
          </a:xfrm>
          <a:custGeom>
            <a:avLst/>
            <a:gdLst/>
            <a:ahLst/>
            <a:cxnLst/>
            <a:rect l="l" t="t" r="r" b="b"/>
            <a:pathLst>
              <a:path w="1053465" h="844550">
                <a:moveTo>
                  <a:pt x="0" y="844296"/>
                </a:moveTo>
                <a:lnTo>
                  <a:pt x="1053083" y="844296"/>
                </a:lnTo>
                <a:lnTo>
                  <a:pt x="1053083" y="0"/>
                </a:lnTo>
                <a:lnTo>
                  <a:pt x="0" y="0"/>
                </a:lnTo>
                <a:lnTo>
                  <a:pt x="0" y="844296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798434" y="3476371"/>
            <a:ext cx="1051560" cy="838835"/>
          </a:xfrm>
          <a:prstGeom prst="rect">
            <a:avLst/>
          </a:prstGeom>
          <a:solidFill>
            <a:srgbClr val="FFE6D4"/>
          </a:solidFill>
        </p:spPr>
        <p:txBody>
          <a:bodyPr vert="horz" wrap="square" lIns="0" tIns="17780" rIns="0" bIns="0" rtlCol="0">
            <a:spAutoFit/>
          </a:bodyPr>
          <a:lstStyle/>
          <a:p>
            <a:pPr marL="252729">
              <a:lnSpc>
                <a:spcPct val="100000"/>
              </a:lnSpc>
              <a:spcBef>
                <a:spcPts val="140"/>
              </a:spcBef>
            </a:pPr>
            <a:r>
              <a:rPr sz="2200" spc="-25" dirty="0">
                <a:latin typeface="Cambria"/>
                <a:cs typeface="Cambria"/>
              </a:rPr>
              <a:t>foo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97545" y="4312158"/>
            <a:ext cx="1053465" cy="844550"/>
          </a:xfrm>
          <a:custGeom>
            <a:avLst/>
            <a:gdLst/>
            <a:ahLst/>
            <a:cxnLst/>
            <a:rect l="l" t="t" r="r" b="b"/>
            <a:pathLst>
              <a:path w="1053465" h="844550">
                <a:moveTo>
                  <a:pt x="0" y="844295"/>
                </a:moveTo>
                <a:lnTo>
                  <a:pt x="1053083" y="844295"/>
                </a:lnTo>
                <a:lnTo>
                  <a:pt x="1053083" y="0"/>
                </a:lnTo>
                <a:lnTo>
                  <a:pt x="0" y="0"/>
                </a:lnTo>
                <a:lnTo>
                  <a:pt x="0" y="844295"/>
                </a:lnTo>
                <a:close/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7798434" y="4316857"/>
            <a:ext cx="1051560" cy="838835"/>
          </a:xfrm>
          <a:prstGeom prst="rect">
            <a:avLst/>
          </a:prstGeom>
          <a:solidFill>
            <a:srgbClr val="FFE6D4"/>
          </a:solidFill>
        </p:spPr>
        <p:txBody>
          <a:bodyPr vert="horz" wrap="square" lIns="0" tIns="42544" rIns="0" bIns="0" rtlCol="0">
            <a:spAutoFit/>
          </a:bodyPr>
          <a:lstStyle/>
          <a:p>
            <a:pPr marL="94615">
              <a:lnSpc>
                <a:spcPct val="100000"/>
              </a:lnSpc>
              <a:spcBef>
                <a:spcPts val="334"/>
              </a:spcBef>
            </a:pPr>
            <a:r>
              <a:rPr sz="2000" spc="25" dirty="0">
                <a:latin typeface="Cambria"/>
                <a:cs typeface="Cambria"/>
              </a:rPr>
              <a:t>foobar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474592" y="3620261"/>
            <a:ext cx="149860" cy="2132965"/>
            <a:chOff x="3474592" y="3620261"/>
            <a:chExt cx="149860" cy="2132965"/>
          </a:xfrm>
        </p:grpSpPr>
        <p:sp>
          <p:nvSpPr>
            <p:cNvPr id="18" name="object 18"/>
            <p:cNvSpPr/>
            <p:nvPr/>
          </p:nvSpPr>
          <p:spPr>
            <a:xfrm>
              <a:off x="3550157" y="3620261"/>
              <a:ext cx="0" cy="2132330"/>
            </a:xfrm>
            <a:custGeom>
              <a:avLst/>
              <a:gdLst/>
              <a:ahLst/>
              <a:cxnLst/>
              <a:rect l="l" t="t" r="r" b="b"/>
              <a:pathLst>
                <a:path h="2132329">
                  <a:moveTo>
                    <a:pt x="0" y="0"/>
                  </a:moveTo>
                  <a:lnTo>
                    <a:pt x="0" y="2132076"/>
                  </a:lnTo>
                </a:path>
              </a:pathLst>
            </a:custGeom>
            <a:ln w="3175">
              <a:solidFill>
                <a:srgbClr val="0918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475481" y="5494782"/>
              <a:ext cx="147955" cy="257810"/>
            </a:xfrm>
            <a:custGeom>
              <a:avLst/>
              <a:gdLst/>
              <a:ahLst/>
              <a:cxnLst/>
              <a:rect l="l" t="t" r="r" b="b"/>
              <a:pathLst>
                <a:path w="147954" h="257810">
                  <a:moveTo>
                    <a:pt x="147827" y="0"/>
                  </a:moveTo>
                  <a:lnTo>
                    <a:pt x="74675" y="73152"/>
                  </a:lnTo>
                  <a:lnTo>
                    <a:pt x="0" y="0"/>
                  </a:lnTo>
                  <a:lnTo>
                    <a:pt x="74675" y="257556"/>
                  </a:lnTo>
                  <a:lnTo>
                    <a:pt x="14782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475481" y="5494782"/>
              <a:ext cx="147955" cy="257810"/>
            </a:xfrm>
            <a:custGeom>
              <a:avLst/>
              <a:gdLst/>
              <a:ahLst/>
              <a:cxnLst/>
              <a:rect l="l" t="t" r="r" b="b"/>
              <a:pathLst>
                <a:path w="147954" h="257810">
                  <a:moveTo>
                    <a:pt x="74675" y="73152"/>
                  </a:moveTo>
                  <a:lnTo>
                    <a:pt x="0" y="0"/>
                  </a:lnTo>
                  <a:lnTo>
                    <a:pt x="74675" y="257556"/>
                  </a:lnTo>
                  <a:lnTo>
                    <a:pt x="147827" y="0"/>
                  </a:lnTo>
                  <a:lnTo>
                    <a:pt x="74675" y="73152"/>
                  </a:lnTo>
                  <a:close/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004564" y="6199123"/>
            <a:ext cx="4298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25" dirty="0">
                <a:latin typeface="Cambria"/>
                <a:cs typeface="Cambria"/>
              </a:rPr>
              <a:t>(a)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452364" y="6196076"/>
            <a:ext cx="42989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80" dirty="0">
                <a:latin typeface="Cambria"/>
                <a:cs typeface="Cambria"/>
              </a:rPr>
              <a:t>(b)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827266" y="6207048"/>
            <a:ext cx="39243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85" dirty="0">
                <a:latin typeface="Cambria"/>
                <a:cs typeface="Cambria"/>
              </a:rPr>
              <a:t>(c)</a:t>
            </a:r>
            <a:endParaRPr sz="2600">
              <a:latin typeface="Cambria"/>
              <a:cs typeface="Cambr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193151" y="6207048"/>
            <a:ext cx="435609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70" dirty="0">
                <a:latin typeface="Cambria"/>
                <a:cs typeface="Cambria"/>
              </a:rPr>
              <a:t>(d)</a:t>
            </a:r>
            <a:endParaRPr sz="26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46030" y="6376517"/>
            <a:ext cx="2571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22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356361"/>
            <a:ext cx="58115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25" dirty="0"/>
              <a:t>Issues</a:t>
            </a:r>
            <a:r>
              <a:rPr sz="4000" spc="245" dirty="0"/>
              <a:t> </a:t>
            </a:r>
            <a:r>
              <a:rPr sz="4000" spc="204" dirty="0"/>
              <a:t>solved</a:t>
            </a:r>
            <a:r>
              <a:rPr sz="4000" spc="250" dirty="0"/>
              <a:t> </a:t>
            </a:r>
            <a:r>
              <a:rPr sz="4000" spc="270" dirty="0"/>
              <a:t>by</a:t>
            </a:r>
            <a:r>
              <a:rPr sz="4000" spc="250" dirty="0"/>
              <a:t> </a:t>
            </a:r>
            <a:r>
              <a:rPr sz="4000" spc="270" dirty="0"/>
              <a:t>stack</a:t>
            </a:r>
            <a:endParaRPr sz="4000"/>
          </a:p>
        </p:txBody>
      </p:sp>
      <p:sp>
        <p:nvSpPr>
          <p:cNvPr id="4" name="object 4"/>
          <p:cNvSpPr txBox="1"/>
          <p:nvPr/>
        </p:nvSpPr>
        <p:spPr>
          <a:xfrm>
            <a:off x="603605" y="1340985"/>
            <a:ext cx="10725785" cy="3829685"/>
          </a:xfrm>
          <a:prstGeom prst="rect">
            <a:avLst/>
          </a:prstGeom>
        </p:spPr>
        <p:txBody>
          <a:bodyPr vert="horz" wrap="square" lIns="0" tIns="211454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1664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30" dirty="0">
                <a:solidFill>
                  <a:srgbClr val="0000FF"/>
                </a:solidFill>
                <a:latin typeface="Cambria"/>
                <a:cs typeface="Cambria"/>
              </a:rPr>
              <a:t>Space</a:t>
            </a:r>
            <a:r>
              <a:rPr sz="28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50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65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160" dirty="0">
                <a:latin typeface="Cambria"/>
                <a:cs typeface="Cambria"/>
              </a:rPr>
              <a:t>Pass </a:t>
            </a:r>
            <a:r>
              <a:rPr sz="2800" spc="140" dirty="0">
                <a:latin typeface="Cambria"/>
                <a:cs typeface="Cambria"/>
              </a:rPr>
              <a:t>as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40" dirty="0">
                <a:latin typeface="Cambria"/>
                <a:cs typeface="Cambria"/>
              </a:rPr>
              <a:t>many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parameters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35" dirty="0">
                <a:latin typeface="Cambria"/>
                <a:cs typeface="Cambria"/>
              </a:rPr>
              <a:t>as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required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in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block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176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00" dirty="0">
                <a:solidFill>
                  <a:srgbClr val="0000FF"/>
                </a:solidFill>
                <a:latin typeface="Cambria"/>
                <a:cs typeface="Cambria"/>
              </a:rPr>
              <a:t>Overwrite</a:t>
            </a:r>
            <a:r>
              <a:rPr sz="2800" spc="12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45" dirty="0">
                <a:solidFill>
                  <a:srgbClr val="0000FF"/>
                </a:solidFill>
                <a:latin typeface="Cambria"/>
                <a:cs typeface="Cambria"/>
              </a:rPr>
              <a:t>problem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95" dirty="0">
                <a:latin typeface="Cambria"/>
                <a:cs typeface="Cambria"/>
              </a:rPr>
              <a:t>Solved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60" dirty="0">
                <a:latin typeface="Cambria"/>
                <a:cs typeface="Cambria"/>
              </a:rPr>
              <a:t>by</a:t>
            </a:r>
            <a:r>
              <a:rPr sz="2800" spc="13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blocks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1764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45" dirty="0">
                <a:solidFill>
                  <a:srgbClr val="0000FF"/>
                </a:solidFill>
                <a:latin typeface="Cambria"/>
                <a:cs typeface="Cambria"/>
              </a:rPr>
              <a:t>Management</a:t>
            </a:r>
            <a:r>
              <a:rPr sz="28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dirty="0">
                <a:solidFill>
                  <a:srgbClr val="0000FF"/>
                </a:solidFill>
                <a:latin typeface="Cambria"/>
                <a:cs typeface="Cambria"/>
              </a:rPr>
              <a:t>of</a:t>
            </a:r>
            <a:r>
              <a:rPr sz="28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solidFill>
                  <a:srgbClr val="0000FF"/>
                </a:solidFill>
                <a:latin typeface="Cambria"/>
                <a:cs typeface="Cambria"/>
              </a:rPr>
              <a:t>activation</a:t>
            </a:r>
            <a:r>
              <a:rPr sz="28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55" dirty="0">
                <a:solidFill>
                  <a:srgbClr val="0000FF"/>
                </a:solidFill>
                <a:latin typeface="Cambria"/>
                <a:cs typeface="Cambria"/>
              </a:rPr>
              <a:t>blocks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7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95" dirty="0">
                <a:latin typeface="Cambria"/>
                <a:cs typeface="Cambria"/>
              </a:rPr>
              <a:t>Solved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60" dirty="0">
                <a:latin typeface="Cambria"/>
                <a:cs typeface="Cambria"/>
              </a:rPr>
              <a:t>by</a:t>
            </a:r>
            <a:r>
              <a:rPr sz="2800" spc="14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55" dirty="0">
                <a:latin typeface="Cambria"/>
                <a:cs typeface="Cambria"/>
              </a:rPr>
              <a:t>notion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stack</a:t>
            </a:r>
            <a:endParaRPr sz="2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3605" y="1388491"/>
            <a:ext cx="10494010" cy="52882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indent="-32321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95" dirty="0">
                <a:latin typeface="Cambria"/>
                <a:cs typeface="Cambria"/>
              </a:rPr>
              <a:t>Allocate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85" dirty="0">
                <a:latin typeface="Cambria"/>
                <a:cs typeface="Cambria"/>
              </a:rPr>
              <a:t>a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10" dirty="0">
                <a:latin typeface="Cambria"/>
                <a:cs typeface="Cambria"/>
              </a:rPr>
              <a:t>part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of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50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memory</a:t>
            </a:r>
            <a:r>
              <a:rPr sz="2800" spc="140" dirty="0">
                <a:latin typeface="Cambria"/>
                <a:cs typeface="Cambria"/>
              </a:rPr>
              <a:t> </a:t>
            </a:r>
            <a:r>
              <a:rPr sz="2800" spc="20" dirty="0">
                <a:latin typeface="Cambria"/>
                <a:cs typeface="Cambria"/>
              </a:rPr>
              <a:t>to</a:t>
            </a:r>
            <a:r>
              <a:rPr sz="2800" spc="180" dirty="0">
                <a:latin typeface="Cambria"/>
                <a:cs typeface="Cambria"/>
              </a:rPr>
              <a:t> </a:t>
            </a:r>
            <a:r>
              <a:rPr sz="2800" spc="100" dirty="0">
                <a:solidFill>
                  <a:srgbClr val="008000"/>
                </a:solidFill>
                <a:latin typeface="Cambria"/>
                <a:cs typeface="Cambria"/>
              </a:rPr>
              <a:t>save</a:t>
            </a:r>
            <a:r>
              <a:rPr sz="2800" spc="155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2800" spc="105" dirty="0">
                <a:solidFill>
                  <a:srgbClr val="008000"/>
                </a:solidFill>
                <a:latin typeface="Cambria"/>
                <a:cs typeface="Cambria"/>
              </a:rPr>
              <a:t>the</a:t>
            </a:r>
            <a:r>
              <a:rPr sz="2800" spc="165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8000"/>
                </a:solidFill>
                <a:latin typeface="Cambria"/>
                <a:cs typeface="Cambria"/>
              </a:rPr>
              <a:t>stack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10" dirty="0">
                <a:latin typeface="Cambria"/>
                <a:cs typeface="Cambria"/>
              </a:rPr>
              <a:t>Traditionally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14" dirty="0">
                <a:solidFill>
                  <a:srgbClr val="0000FF"/>
                </a:solidFill>
                <a:latin typeface="Cambria"/>
                <a:cs typeface="Cambria"/>
              </a:rPr>
              <a:t>stacks</a:t>
            </a:r>
            <a:r>
              <a:rPr sz="2800" spc="16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downward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75" dirty="0">
                <a:latin typeface="Cambria"/>
                <a:cs typeface="Cambria"/>
              </a:rPr>
              <a:t>growing.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56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125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first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block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0" dirty="0">
                <a:latin typeface="Cambria"/>
                <a:cs typeface="Cambria"/>
              </a:rPr>
              <a:t>starts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at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10" dirty="0">
                <a:solidFill>
                  <a:srgbClr val="FF0000"/>
                </a:solidFill>
                <a:latin typeface="Cambria"/>
                <a:cs typeface="Cambria"/>
              </a:rPr>
              <a:t>highest</a:t>
            </a:r>
            <a:r>
              <a:rPr sz="2800" spc="180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FF0000"/>
                </a:solidFill>
                <a:latin typeface="Cambria"/>
                <a:cs typeface="Cambria"/>
              </a:rPr>
              <a:t>address</a:t>
            </a:r>
            <a:endParaRPr sz="2800">
              <a:latin typeface="Cambria"/>
              <a:cs typeface="Cambria"/>
            </a:endParaRPr>
          </a:p>
          <a:p>
            <a:pPr marL="768350" lvl="1" indent="-325120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768350" algn="l"/>
                <a:tab pos="768985" algn="l"/>
              </a:tabLst>
            </a:pPr>
            <a:r>
              <a:rPr sz="2800" spc="114" dirty="0">
                <a:latin typeface="Cambria"/>
                <a:cs typeface="Cambria"/>
              </a:rPr>
              <a:t>Subsequent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blocks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are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8000"/>
                </a:solidFill>
                <a:latin typeface="Cambria"/>
                <a:cs typeface="Cambria"/>
              </a:rPr>
              <a:t>allocated</a:t>
            </a:r>
            <a:r>
              <a:rPr sz="2800" spc="180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2800" spc="30" dirty="0">
                <a:solidFill>
                  <a:srgbClr val="008000"/>
                </a:solidFill>
                <a:latin typeface="Cambria"/>
                <a:cs typeface="Cambria"/>
              </a:rPr>
              <a:t>lower</a:t>
            </a:r>
            <a:r>
              <a:rPr sz="2800" spc="165" dirty="0">
                <a:solidFill>
                  <a:srgbClr val="008000"/>
                </a:solidFill>
                <a:latin typeface="Cambria"/>
                <a:cs typeface="Cambria"/>
              </a:rPr>
              <a:t> </a:t>
            </a:r>
            <a:r>
              <a:rPr sz="2800" spc="80" dirty="0">
                <a:solidFill>
                  <a:srgbClr val="008000"/>
                </a:solidFill>
                <a:latin typeface="Cambria"/>
                <a:cs typeface="Cambria"/>
              </a:rPr>
              <a:t>addresses</a:t>
            </a:r>
            <a:endParaRPr sz="2800">
              <a:latin typeface="Cambria"/>
              <a:cs typeface="Cambria"/>
            </a:endParaRPr>
          </a:p>
          <a:p>
            <a:pPr marL="335280" marR="391795" indent="-323215">
              <a:lnSpc>
                <a:spcPts val="3020"/>
              </a:lnSpc>
              <a:spcBef>
                <a:spcPts val="2150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30" dirty="0">
                <a:latin typeface="Cambria"/>
                <a:cs typeface="Cambria"/>
              </a:rPr>
              <a:t>The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20" dirty="0">
                <a:solidFill>
                  <a:srgbClr val="0000FF"/>
                </a:solidFill>
                <a:latin typeface="Cambria"/>
                <a:cs typeface="Cambria"/>
              </a:rPr>
              <a:t>stack</a:t>
            </a:r>
            <a:r>
              <a:rPr sz="2800" spc="16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60" dirty="0">
                <a:solidFill>
                  <a:srgbClr val="0000FF"/>
                </a:solidFill>
                <a:latin typeface="Cambria"/>
                <a:cs typeface="Cambria"/>
              </a:rPr>
              <a:t>pointer</a:t>
            </a:r>
            <a:r>
              <a:rPr sz="2800" spc="15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85" dirty="0">
                <a:solidFill>
                  <a:srgbClr val="0000FF"/>
                </a:solidFill>
                <a:latin typeface="Cambria"/>
                <a:cs typeface="Cambria"/>
              </a:rPr>
              <a:t>register</a:t>
            </a:r>
            <a:r>
              <a:rPr sz="2800" spc="150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-35" dirty="0">
                <a:solidFill>
                  <a:srgbClr val="0000FF"/>
                </a:solidFill>
                <a:latin typeface="Cambria"/>
                <a:cs typeface="Cambria"/>
              </a:rPr>
              <a:t>(sp)</a:t>
            </a:r>
            <a:r>
              <a:rPr sz="2800" spc="185" dirty="0">
                <a:solidFill>
                  <a:srgbClr val="0000FF"/>
                </a:solidFill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points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20" dirty="0">
                <a:latin typeface="Cambria"/>
                <a:cs typeface="Cambria"/>
              </a:rPr>
              <a:t>to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the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beginning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-5" dirty="0">
                <a:latin typeface="Cambria"/>
                <a:cs typeface="Cambria"/>
              </a:rPr>
              <a:t>of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an </a:t>
            </a:r>
            <a:r>
              <a:rPr sz="2800" spc="-600" dirty="0">
                <a:latin typeface="Cambria"/>
                <a:cs typeface="Cambria"/>
              </a:rPr>
              <a:t>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50" dirty="0">
                <a:latin typeface="Cambria"/>
                <a:cs typeface="Cambria"/>
              </a:rPr>
              <a:t>block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05" dirty="0">
                <a:latin typeface="Cambria"/>
                <a:cs typeface="Cambria"/>
              </a:rPr>
              <a:t>Allocating</a:t>
            </a:r>
            <a:r>
              <a:rPr sz="2800" spc="190" dirty="0">
                <a:latin typeface="Cambria"/>
                <a:cs typeface="Cambria"/>
              </a:rPr>
              <a:t> </a:t>
            </a:r>
            <a:r>
              <a:rPr sz="2800" spc="160" dirty="0">
                <a:latin typeface="Cambria"/>
                <a:cs typeface="Cambria"/>
              </a:rPr>
              <a:t>an</a:t>
            </a:r>
            <a:r>
              <a:rPr sz="2800" spc="155" dirty="0">
                <a:latin typeface="Cambria"/>
                <a:cs typeface="Cambria"/>
              </a:rPr>
              <a:t> </a:t>
            </a:r>
            <a:r>
              <a:rPr sz="2800" spc="100" dirty="0">
                <a:latin typeface="Cambria"/>
                <a:cs typeface="Cambria"/>
              </a:rPr>
              <a:t>activation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block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35" dirty="0">
                <a:latin typeface="Cambria"/>
                <a:cs typeface="Cambria"/>
              </a:rPr>
              <a:t>: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sp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445" dirty="0">
                <a:latin typeface="Cambria"/>
                <a:cs typeface="Cambria"/>
              </a:rPr>
              <a:t>←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65" dirty="0">
                <a:latin typeface="Cambria"/>
                <a:cs typeface="Cambria"/>
              </a:rPr>
              <a:t>sp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dirty="0">
                <a:latin typeface="Cambria"/>
                <a:cs typeface="Cambria"/>
              </a:rPr>
              <a:t>-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&lt;constant&gt;</a:t>
            </a:r>
            <a:endParaRPr sz="2800">
              <a:latin typeface="Cambria"/>
              <a:cs typeface="Cambria"/>
            </a:endParaRPr>
          </a:p>
          <a:p>
            <a:pPr marL="335280" indent="-323215">
              <a:lnSpc>
                <a:spcPct val="100000"/>
              </a:lnSpc>
              <a:spcBef>
                <a:spcPts val="2065"/>
              </a:spcBef>
              <a:buFont typeface="Arial MT"/>
              <a:buChar char="•"/>
              <a:tabLst>
                <a:tab pos="335280" algn="l"/>
                <a:tab pos="335915" algn="l"/>
              </a:tabLst>
            </a:pPr>
            <a:r>
              <a:rPr sz="2800" spc="100" dirty="0">
                <a:latin typeface="Cambria"/>
                <a:cs typeface="Cambria"/>
              </a:rPr>
              <a:t>De-allocating</a:t>
            </a:r>
            <a:r>
              <a:rPr sz="2800" spc="175" dirty="0">
                <a:latin typeface="Cambria"/>
                <a:cs typeface="Cambria"/>
              </a:rPr>
              <a:t> </a:t>
            </a:r>
            <a:r>
              <a:rPr sz="2800" spc="165" dirty="0">
                <a:latin typeface="Cambria"/>
                <a:cs typeface="Cambria"/>
              </a:rPr>
              <a:t>an </a:t>
            </a:r>
            <a:r>
              <a:rPr sz="2800" spc="95" dirty="0">
                <a:latin typeface="Cambria"/>
                <a:cs typeface="Cambria"/>
              </a:rPr>
              <a:t>activation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45" dirty="0">
                <a:latin typeface="Cambria"/>
                <a:cs typeface="Cambria"/>
              </a:rPr>
              <a:t>block: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sp</a:t>
            </a:r>
            <a:r>
              <a:rPr sz="2800" spc="160" dirty="0">
                <a:latin typeface="Cambria"/>
                <a:cs typeface="Cambria"/>
              </a:rPr>
              <a:t> </a:t>
            </a:r>
            <a:r>
              <a:rPr sz="2800" spc="450" dirty="0">
                <a:latin typeface="Cambria"/>
                <a:cs typeface="Cambria"/>
              </a:rPr>
              <a:t>←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70" dirty="0">
                <a:latin typeface="Cambria"/>
                <a:cs typeface="Cambria"/>
              </a:rPr>
              <a:t>sp</a:t>
            </a:r>
            <a:r>
              <a:rPr sz="2800" spc="170" dirty="0">
                <a:latin typeface="Cambria"/>
                <a:cs typeface="Cambria"/>
              </a:rPr>
              <a:t> </a:t>
            </a:r>
            <a:r>
              <a:rPr sz="2800" spc="145" dirty="0">
                <a:latin typeface="Cambria"/>
                <a:cs typeface="Cambria"/>
              </a:rPr>
              <a:t>+</a:t>
            </a:r>
            <a:r>
              <a:rPr sz="2800" spc="165" dirty="0">
                <a:latin typeface="Cambria"/>
                <a:cs typeface="Cambria"/>
              </a:rPr>
              <a:t> </a:t>
            </a:r>
            <a:r>
              <a:rPr sz="2800" spc="105" dirty="0">
                <a:latin typeface="Cambria"/>
                <a:cs typeface="Cambria"/>
              </a:rPr>
              <a:t>&lt;constant&gt;</a:t>
            </a:r>
            <a:endParaRPr sz="2800">
              <a:latin typeface="Cambria"/>
              <a:cs typeface="Cambria"/>
            </a:endParaRPr>
          </a:p>
          <a:p>
            <a:pPr marR="699135" algn="r">
              <a:lnSpc>
                <a:spcPct val="100000"/>
              </a:lnSpc>
              <a:spcBef>
                <a:spcPts val="1955"/>
              </a:spcBef>
            </a:pPr>
            <a:r>
              <a:rPr sz="1800" spc="-5" dirty="0">
                <a:solidFill>
                  <a:srgbClr val="005392"/>
                </a:solidFill>
                <a:latin typeface="Calibri"/>
                <a:cs typeface="Calibri"/>
              </a:rPr>
              <a:t>23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95401" y="298780"/>
            <a:ext cx="625983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235" dirty="0"/>
              <a:t>Working</a:t>
            </a:r>
            <a:r>
              <a:rPr sz="4000" spc="225" dirty="0"/>
              <a:t> </a:t>
            </a:r>
            <a:r>
              <a:rPr sz="4000" spc="290" dirty="0"/>
              <a:t>with</a:t>
            </a:r>
            <a:r>
              <a:rPr sz="4000" spc="245" dirty="0"/>
              <a:t> </a:t>
            </a:r>
            <a:r>
              <a:rPr sz="4000" spc="254" dirty="0"/>
              <a:t>the</a:t>
            </a:r>
            <a:r>
              <a:rPr sz="4000" spc="240" dirty="0"/>
              <a:t> </a:t>
            </a:r>
            <a:r>
              <a:rPr sz="4000" spc="355" dirty="0"/>
              <a:t>Stack</a:t>
            </a:r>
            <a:endParaRPr sz="400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517394" y="1340865"/>
            <a:ext cx="15424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6FC0"/>
                </a:solidFill>
                <a:latin typeface="Lucida Console"/>
                <a:cs typeface="Lucida Console"/>
              </a:rPr>
              <a:t>myFunctio</a:t>
            </a:r>
            <a:r>
              <a:rPr sz="1800" spc="5" dirty="0">
                <a:solidFill>
                  <a:srgbClr val="006FC0"/>
                </a:solidFill>
                <a:latin typeface="Lucida Console"/>
                <a:cs typeface="Lucida Console"/>
              </a:rPr>
              <a:t>n</a:t>
            </a:r>
            <a:r>
              <a:rPr sz="1800" dirty="0">
                <a:solidFill>
                  <a:srgbClr val="006FC0"/>
                </a:solidFill>
                <a:latin typeface="Lucida Console"/>
                <a:cs typeface="Lucida Console"/>
              </a:rPr>
              <a:t>: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203194" y="1614064"/>
            <a:ext cx="2094864" cy="453136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0"/>
              </a:spcBef>
            </a:pP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addi</a:t>
            </a:r>
            <a:r>
              <a:rPr sz="1800" b="1" spc="-8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sp,sp,-24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  <a:tabLst>
                <a:tab pos="702945" algn="l"/>
              </a:tabLst>
            </a:pP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sd	x5,16(sp)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  <a:tabLst>
                <a:tab pos="702945" algn="l"/>
              </a:tabLst>
            </a:pP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sd	x6,8(sp)</a:t>
            </a:r>
            <a:endParaRPr sz="1800">
              <a:latin typeface="Courier New"/>
              <a:cs typeface="Courier New"/>
            </a:endParaRPr>
          </a:p>
          <a:p>
            <a:pPr marL="12700" marR="5080">
              <a:lnSpc>
                <a:spcPts val="2740"/>
              </a:lnSpc>
              <a:spcBef>
                <a:spcPts val="170"/>
              </a:spcBef>
              <a:tabLst>
                <a:tab pos="701675" algn="l"/>
              </a:tabLst>
            </a:pP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sd	x20,0(sp) </a:t>
            </a:r>
            <a:r>
              <a:rPr sz="1800" b="1" spc="-107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add	x5,x1</a:t>
            </a:r>
            <a:r>
              <a:rPr sz="1800" spc="5" dirty="0">
                <a:solidFill>
                  <a:srgbClr val="808080"/>
                </a:solidFill>
                <a:latin typeface="Lucida Console"/>
                <a:cs typeface="Lucida Console"/>
              </a:rPr>
              <a:t>0</a:t>
            </a: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,x11</a:t>
            </a:r>
            <a:endParaRPr sz="18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  <a:tabLst>
                <a:tab pos="701675" algn="l"/>
              </a:tabLst>
            </a:pPr>
            <a:r>
              <a:rPr sz="1800" spc="-5" dirty="0">
                <a:solidFill>
                  <a:srgbClr val="808080"/>
                </a:solidFill>
                <a:latin typeface="Lucida Console"/>
                <a:cs typeface="Lucida Console"/>
              </a:rPr>
              <a:t>add	x6,x12,x13</a:t>
            </a:r>
            <a:endParaRPr sz="18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701675" algn="l"/>
              </a:tabLst>
            </a:pP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sub	x20,x5,x6</a:t>
            </a:r>
            <a:endParaRPr sz="1800">
              <a:latin typeface="Lucida Console"/>
              <a:cs typeface="Lucida Console"/>
            </a:endParaRPr>
          </a:p>
          <a:p>
            <a:pPr marL="12700" marR="140335">
              <a:lnSpc>
                <a:spcPct val="126099"/>
              </a:lnSpc>
              <a:spcBef>
                <a:spcPts val="10"/>
              </a:spcBef>
              <a:tabLst>
                <a:tab pos="702945" algn="l"/>
              </a:tabLst>
            </a:pP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addi</a:t>
            </a:r>
            <a:r>
              <a:rPr sz="1800" spc="-95" dirty="0">
                <a:solidFill>
                  <a:srgbClr val="808080"/>
                </a:solidFill>
                <a:latin typeface="Lucida Console"/>
                <a:cs typeface="Lucida Console"/>
              </a:rPr>
              <a:t> </a:t>
            </a: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x10,x20,0 </a:t>
            </a:r>
            <a:r>
              <a:rPr sz="1800" spc="-1070" dirty="0">
                <a:solidFill>
                  <a:srgbClr val="808080"/>
                </a:solidFill>
                <a:latin typeface="Lucida Console"/>
                <a:cs typeface="Lucida Console"/>
              </a:rPr>
              <a:t> 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l</a:t>
            </a:r>
            <a:r>
              <a:rPr sz="1800" b="1" dirty="0">
                <a:solidFill>
                  <a:srgbClr val="006FC0"/>
                </a:solidFill>
                <a:latin typeface="Courier New"/>
                <a:cs typeface="Courier New"/>
              </a:rPr>
              <a:t>d	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x</a:t>
            </a:r>
            <a:r>
              <a:rPr sz="1800" b="1" dirty="0">
                <a:solidFill>
                  <a:srgbClr val="006FC0"/>
                </a:solidFill>
                <a:latin typeface="Courier New"/>
                <a:cs typeface="Courier New"/>
              </a:rPr>
              <a:t>20,0(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sp</a:t>
            </a:r>
            <a:r>
              <a:rPr sz="1800" b="1" dirty="0">
                <a:solidFill>
                  <a:srgbClr val="006FC0"/>
                </a:solidFill>
                <a:latin typeface="Courier New"/>
                <a:cs typeface="Courier New"/>
              </a:rPr>
              <a:t>)</a:t>
            </a:r>
            <a:endParaRPr sz="18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702945" algn="l"/>
              </a:tabLst>
            </a:pP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ld	x6,8(sp)</a:t>
            </a:r>
            <a:endParaRPr sz="1800">
              <a:latin typeface="Courier New"/>
              <a:cs typeface="Courier New"/>
            </a:endParaRPr>
          </a:p>
          <a:p>
            <a:pPr marL="12700" marR="140335">
              <a:lnSpc>
                <a:spcPct val="126200"/>
              </a:lnSpc>
              <a:spcBef>
                <a:spcPts val="10"/>
              </a:spcBef>
              <a:tabLst>
                <a:tab pos="702945" algn="l"/>
              </a:tabLst>
            </a:pPr>
            <a:r>
              <a:rPr sz="1800" b="1" spc="10" dirty="0">
                <a:solidFill>
                  <a:srgbClr val="006FC0"/>
                </a:solidFill>
                <a:latin typeface="Courier New"/>
                <a:cs typeface="Courier New"/>
              </a:rPr>
              <a:t>l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d</a:t>
            </a:r>
            <a:r>
              <a:rPr sz="1800" b="1" dirty="0">
                <a:solidFill>
                  <a:srgbClr val="006FC0"/>
                </a:solidFill>
                <a:latin typeface="Courier New"/>
                <a:cs typeface="Courier New"/>
              </a:rPr>
              <a:t>	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x5,16</a:t>
            </a:r>
            <a:r>
              <a:rPr sz="1800" b="1" dirty="0">
                <a:solidFill>
                  <a:srgbClr val="006FC0"/>
                </a:solidFill>
                <a:latin typeface="Courier New"/>
                <a:cs typeface="Courier New"/>
              </a:rPr>
              <a:t>(</a:t>
            </a:r>
            <a:r>
              <a:rPr sz="1800" b="1" spc="10" dirty="0">
                <a:solidFill>
                  <a:srgbClr val="006FC0"/>
                </a:solidFill>
                <a:latin typeface="Courier New"/>
                <a:cs typeface="Courier New"/>
              </a:rPr>
              <a:t>sp</a:t>
            </a:r>
            <a:r>
              <a:rPr sz="1800" b="1" spc="5" dirty="0">
                <a:solidFill>
                  <a:srgbClr val="006FC0"/>
                </a:solidFill>
                <a:latin typeface="Courier New"/>
                <a:cs typeface="Courier New"/>
              </a:rPr>
              <a:t>)  addi sp,sp,24 </a:t>
            </a:r>
            <a:r>
              <a:rPr sz="1800" b="1" spc="-1070" dirty="0">
                <a:solidFill>
                  <a:srgbClr val="006FC0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solidFill>
                  <a:srgbClr val="808080"/>
                </a:solidFill>
                <a:latin typeface="Lucida Console"/>
                <a:cs typeface="Lucida Console"/>
              </a:rPr>
              <a:t>ret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6841" y="18670"/>
            <a:ext cx="11409045" cy="959493"/>
          </a:xfrm>
          <a:prstGeom prst="rect">
            <a:avLst/>
          </a:prstGeom>
        </p:spPr>
        <p:txBody>
          <a:bodyPr vert="horz" wrap="square" lIns="0" tIns="7239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570"/>
              </a:spcBef>
            </a:pPr>
            <a:endParaRPr sz="1800" dirty="0">
              <a:latin typeface="Calibri"/>
              <a:cs typeface="Calibri"/>
            </a:endParaRPr>
          </a:p>
          <a:p>
            <a:pPr marL="12700">
              <a:lnSpc>
                <a:spcPct val="90000"/>
              </a:lnSpc>
              <a:spcBef>
                <a:spcPct val="0"/>
              </a:spcBef>
            </a:pPr>
            <a:r>
              <a:rPr sz="4400" dirty="0">
                <a:latin typeface="+mj-lt"/>
                <a:ea typeface="+mj-ea"/>
                <a:cs typeface="+mj-cs"/>
              </a:rPr>
              <a:t>Saving variable in stack (pushing and popping)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421882" y="2156586"/>
            <a:ext cx="42919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Save</a:t>
            </a:r>
            <a:r>
              <a:rPr sz="1800" spc="-2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x5, x6,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x20 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on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stack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(called</a:t>
            </a:r>
            <a:r>
              <a:rPr sz="1800" spc="1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pushing)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133846" y="5114290"/>
            <a:ext cx="47332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solidFill>
                  <a:srgbClr val="005392"/>
                </a:solidFill>
                <a:latin typeface="Tahoma"/>
                <a:cs typeface="Tahoma"/>
              </a:rPr>
              <a:t>Resore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 x5,</a:t>
            </a:r>
            <a:r>
              <a:rPr sz="1800" spc="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x6,</a:t>
            </a:r>
            <a:r>
              <a:rPr sz="1800" spc="-1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x20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5392"/>
                </a:solidFill>
                <a:latin typeface="Tahoma"/>
                <a:cs typeface="Tahoma"/>
              </a:rPr>
              <a:t>from</a:t>
            </a:r>
            <a:r>
              <a:rPr sz="1800" spc="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stack</a:t>
            </a:r>
            <a:r>
              <a:rPr sz="1800" spc="-1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(called</a:t>
            </a:r>
            <a:r>
              <a:rPr sz="1800" spc="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popping)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42658" y="5812028"/>
            <a:ext cx="5541010" cy="814705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45"/>
              </a:spcBef>
            </a:pPr>
            <a:r>
              <a:rPr sz="1800" spc="-10" dirty="0">
                <a:solidFill>
                  <a:srgbClr val="005392"/>
                </a:solidFill>
                <a:latin typeface="Tahoma"/>
                <a:cs typeface="Tahoma"/>
              </a:rPr>
              <a:t>Return</a:t>
            </a:r>
            <a:r>
              <a:rPr sz="1800" spc="-4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to</a:t>
            </a:r>
            <a:r>
              <a:rPr sz="1800" spc="-3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10" dirty="0">
                <a:solidFill>
                  <a:srgbClr val="005392"/>
                </a:solidFill>
                <a:latin typeface="Tahoma"/>
                <a:cs typeface="Tahoma"/>
              </a:rPr>
              <a:t>caller</a:t>
            </a:r>
            <a:endParaRPr sz="1800">
              <a:latin typeface="Tahoma"/>
              <a:cs typeface="Tahoma"/>
            </a:endParaRPr>
          </a:p>
          <a:p>
            <a:pPr marL="1171575">
              <a:lnSpc>
                <a:spcPct val="100000"/>
              </a:lnSpc>
              <a:spcBef>
                <a:spcPts val="944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This</a:t>
            </a:r>
            <a:r>
              <a:rPr sz="1800" spc="-1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is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an</a:t>
            </a: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example</a:t>
            </a:r>
            <a:r>
              <a:rPr sz="1800" spc="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of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 callee</a:t>
            </a:r>
            <a:r>
              <a:rPr sz="1800" spc="2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saved</a:t>
            </a:r>
            <a:r>
              <a:rPr sz="18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scheme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65291" y="4648200"/>
            <a:ext cx="279400" cy="1248410"/>
          </a:xfrm>
          <a:custGeom>
            <a:avLst/>
            <a:gdLst/>
            <a:ahLst/>
            <a:cxnLst/>
            <a:rect l="l" t="t" r="r" b="b"/>
            <a:pathLst>
              <a:path w="279400" h="1248410">
                <a:moveTo>
                  <a:pt x="0" y="0"/>
                </a:moveTo>
                <a:lnTo>
                  <a:pt x="54256" y="1827"/>
                </a:lnTo>
                <a:lnTo>
                  <a:pt x="98583" y="6810"/>
                </a:lnTo>
                <a:lnTo>
                  <a:pt x="128480" y="14198"/>
                </a:lnTo>
                <a:lnTo>
                  <a:pt x="139446" y="23241"/>
                </a:lnTo>
                <a:lnTo>
                  <a:pt x="139446" y="600837"/>
                </a:lnTo>
                <a:lnTo>
                  <a:pt x="150411" y="609879"/>
                </a:lnTo>
                <a:lnTo>
                  <a:pt x="180308" y="617267"/>
                </a:lnTo>
                <a:lnTo>
                  <a:pt x="224635" y="622250"/>
                </a:lnTo>
                <a:lnTo>
                  <a:pt x="278892" y="624078"/>
                </a:lnTo>
                <a:lnTo>
                  <a:pt x="224635" y="625905"/>
                </a:lnTo>
                <a:lnTo>
                  <a:pt x="180308" y="630888"/>
                </a:lnTo>
                <a:lnTo>
                  <a:pt x="150411" y="638276"/>
                </a:lnTo>
                <a:lnTo>
                  <a:pt x="139446" y="647319"/>
                </a:lnTo>
                <a:lnTo>
                  <a:pt x="139446" y="1224915"/>
                </a:lnTo>
                <a:lnTo>
                  <a:pt x="128480" y="1233963"/>
                </a:lnTo>
                <a:lnTo>
                  <a:pt x="98583" y="1241350"/>
                </a:lnTo>
                <a:lnTo>
                  <a:pt x="54256" y="1246330"/>
                </a:lnTo>
                <a:lnTo>
                  <a:pt x="0" y="1248156"/>
                </a:lnTo>
              </a:path>
            </a:pathLst>
          </a:custGeom>
          <a:ln w="9144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045708" y="1735835"/>
            <a:ext cx="279400" cy="1247140"/>
          </a:xfrm>
          <a:custGeom>
            <a:avLst/>
            <a:gdLst/>
            <a:ahLst/>
            <a:cxnLst/>
            <a:rect l="l" t="t" r="r" b="b"/>
            <a:pathLst>
              <a:path w="279400" h="1247139">
                <a:moveTo>
                  <a:pt x="0" y="0"/>
                </a:moveTo>
                <a:lnTo>
                  <a:pt x="54256" y="1827"/>
                </a:lnTo>
                <a:lnTo>
                  <a:pt x="98583" y="6810"/>
                </a:lnTo>
                <a:lnTo>
                  <a:pt x="128480" y="14198"/>
                </a:lnTo>
                <a:lnTo>
                  <a:pt x="139445" y="23240"/>
                </a:lnTo>
                <a:lnTo>
                  <a:pt x="139445" y="600075"/>
                </a:lnTo>
                <a:lnTo>
                  <a:pt x="150411" y="609117"/>
                </a:lnTo>
                <a:lnTo>
                  <a:pt x="180308" y="616505"/>
                </a:lnTo>
                <a:lnTo>
                  <a:pt x="224635" y="621488"/>
                </a:lnTo>
                <a:lnTo>
                  <a:pt x="278891" y="623315"/>
                </a:lnTo>
                <a:lnTo>
                  <a:pt x="224635" y="625143"/>
                </a:lnTo>
                <a:lnTo>
                  <a:pt x="180308" y="630126"/>
                </a:lnTo>
                <a:lnTo>
                  <a:pt x="150411" y="637514"/>
                </a:lnTo>
                <a:lnTo>
                  <a:pt x="139445" y="646556"/>
                </a:lnTo>
                <a:lnTo>
                  <a:pt x="139445" y="1223390"/>
                </a:lnTo>
                <a:lnTo>
                  <a:pt x="128480" y="1232433"/>
                </a:lnTo>
                <a:lnTo>
                  <a:pt x="98583" y="1239821"/>
                </a:lnTo>
                <a:lnTo>
                  <a:pt x="54256" y="1244804"/>
                </a:lnTo>
                <a:lnTo>
                  <a:pt x="0" y="1246631"/>
                </a:lnTo>
              </a:path>
            </a:pathLst>
          </a:custGeom>
          <a:ln w="9144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913120" y="3180588"/>
            <a:ext cx="407034" cy="1300480"/>
          </a:xfrm>
          <a:custGeom>
            <a:avLst/>
            <a:gdLst/>
            <a:ahLst/>
            <a:cxnLst/>
            <a:rect l="l" t="t" r="r" b="b"/>
            <a:pathLst>
              <a:path w="407035" h="1300479">
                <a:moveTo>
                  <a:pt x="0" y="0"/>
                </a:moveTo>
                <a:lnTo>
                  <a:pt x="79206" y="2672"/>
                </a:lnTo>
                <a:lnTo>
                  <a:pt x="143875" y="9953"/>
                </a:lnTo>
                <a:lnTo>
                  <a:pt x="187469" y="20734"/>
                </a:lnTo>
                <a:lnTo>
                  <a:pt x="203453" y="33909"/>
                </a:lnTo>
                <a:lnTo>
                  <a:pt x="203453" y="616076"/>
                </a:lnTo>
                <a:lnTo>
                  <a:pt x="219438" y="629251"/>
                </a:lnTo>
                <a:lnTo>
                  <a:pt x="263032" y="640032"/>
                </a:lnTo>
                <a:lnTo>
                  <a:pt x="327701" y="647313"/>
                </a:lnTo>
                <a:lnTo>
                  <a:pt x="406907" y="649986"/>
                </a:lnTo>
                <a:lnTo>
                  <a:pt x="327701" y="652658"/>
                </a:lnTo>
                <a:lnTo>
                  <a:pt x="263032" y="659939"/>
                </a:lnTo>
                <a:lnTo>
                  <a:pt x="219438" y="670720"/>
                </a:lnTo>
                <a:lnTo>
                  <a:pt x="203453" y="683894"/>
                </a:lnTo>
                <a:lnTo>
                  <a:pt x="203453" y="1266063"/>
                </a:lnTo>
                <a:lnTo>
                  <a:pt x="187469" y="1279237"/>
                </a:lnTo>
                <a:lnTo>
                  <a:pt x="143875" y="1290018"/>
                </a:lnTo>
                <a:lnTo>
                  <a:pt x="79206" y="1297299"/>
                </a:lnTo>
                <a:lnTo>
                  <a:pt x="0" y="1299972"/>
                </a:lnTo>
              </a:path>
            </a:pathLst>
          </a:custGeom>
          <a:ln w="9144">
            <a:solidFill>
              <a:srgbClr val="00A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439915" y="3636645"/>
            <a:ext cx="339915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Do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some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processing</a:t>
            </a:r>
            <a:r>
              <a:rPr sz="1800" spc="-2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of</a:t>
            </a:r>
            <a:r>
              <a:rPr sz="1800" spc="-15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dirty="0">
                <a:solidFill>
                  <a:srgbClr val="005392"/>
                </a:solidFill>
                <a:latin typeface="Tahoma"/>
                <a:cs typeface="Tahoma"/>
              </a:rPr>
              <a:t>a</a:t>
            </a:r>
            <a:r>
              <a:rPr sz="1800" spc="-20" dirty="0">
                <a:solidFill>
                  <a:srgbClr val="005392"/>
                </a:solidFill>
                <a:latin typeface="Tahoma"/>
                <a:cs typeface="Tahoma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Tahoma"/>
                <a:cs typeface="Tahoma"/>
              </a:rPr>
              <a:t>function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6841" y="489894"/>
            <a:ext cx="5660390" cy="6215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/>
            <a:r>
              <a:rPr dirty="0"/>
              <a:t>How Stack Functions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24945" y="1678292"/>
            <a:ext cx="8007189" cy="309145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643753" y="4953457"/>
            <a:ext cx="25768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10" dirty="0">
                <a:solidFill>
                  <a:srgbClr val="005392"/>
                </a:solidFill>
                <a:latin typeface="Cambria"/>
                <a:cs typeface="Cambria"/>
              </a:rPr>
              <a:t>Stack</a:t>
            </a:r>
            <a:r>
              <a:rPr sz="18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005392"/>
                </a:solidFill>
                <a:latin typeface="Cambria"/>
                <a:cs typeface="Cambria"/>
              </a:rPr>
              <a:t>grows</a:t>
            </a:r>
            <a:r>
              <a:rPr sz="1800" spc="5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35" dirty="0">
                <a:solidFill>
                  <a:srgbClr val="005392"/>
                </a:solidFill>
                <a:latin typeface="Cambria"/>
                <a:cs typeface="Cambria"/>
              </a:rPr>
              <a:t>downwards</a:t>
            </a:r>
            <a:endParaRPr sz="18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9478518" y="749680"/>
          <a:ext cx="717550" cy="57917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783">
                <a:tc>
                  <a:txBody>
                    <a:bodyPr/>
                    <a:lstStyle/>
                    <a:p>
                      <a:pPr marL="127000">
                        <a:lnSpc>
                          <a:spcPts val="1710"/>
                        </a:lnSpc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2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28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954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941">
                <a:tc>
                  <a:txBody>
                    <a:bodyPr/>
                    <a:lstStyle/>
                    <a:p>
                      <a:pPr marL="12700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9770">
                <a:tc>
                  <a:txBody>
                    <a:bodyPr/>
                    <a:lstStyle/>
                    <a:p>
                      <a:pPr marL="127000">
                        <a:lnSpc>
                          <a:spcPts val="215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0295231" y="652629"/>
          <a:ext cx="1449705" cy="593392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97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BBC2D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?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0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188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BBC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9260585" y="359790"/>
            <a:ext cx="1597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Byte</a:t>
            </a:r>
            <a:r>
              <a:rPr sz="18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addresses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7755" y="1625930"/>
            <a:ext cx="7302500" cy="48141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Consider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5" dirty="0">
                <a:solidFill>
                  <a:srgbClr val="005392"/>
                </a:solidFill>
                <a:latin typeface="Cambria"/>
                <a:cs typeface="Cambria"/>
              </a:rPr>
              <a:t>32b</a:t>
            </a:r>
            <a:r>
              <a:rPr sz="24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5392"/>
                </a:solidFill>
                <a:latin typeface="Cambria"/>
                <a:cs typeface="Cambria"/>
              </a:rPr>
              <a:t>version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dirty="0">
                <a:solidFill>
                  <a:srgbClr val="005392"/>
                </a:solidFill>
                <a:latin typeface="Cambria"/>
                <a:cs typeface="Cambria"/>
              </a:rPr>
              <a:t>of</a:t>
            </a:r>
            <a:r>
              <a:rPr sz="2400" spc="13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229" dirty="0">
                <a:solidFill>
                  <a:srgbClr val="005392"/>
                </a:solidFill>
                <a:latin typeface="Cambria"/>
                <a:cs typeface="Cambria"/>
              </a:rPr>
              <a:t>RISC-V</a:t>
            </a:r>
            <a:r>
              <a:rPr sz="2400" spc="14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and</a:t>
            </a:r>
            <a:r>
              <a:rPr sz="2400" spc="13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05392"/>
                </a:solidFill>
                <a:latin typeface="Cambria"/>
                <a:cs typeface="Cambria"/>
              </a:rPr>
              <a:t>see</a:t>
            </a:r>
            <a:r>
              <a:rPr sz="2400" spc="114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005392"/>
                </a:solidFill>
                <a:latin typeface="Cambria"/>
                <a:cs typeface="Cambria"/>
              </a:rPr>
              <a:t>below</a:t>
            </a: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35" dirty="0">
                <a:solidFill>
                  <a:srgbClr val="005392"/>
                </a:solidFill>
                <a:latin typeface="Cambria"/>
                <a:cs typeface="Cambria"/>
              </a:rPr>
              <a:t>code.</a:t>
            </a:r>
            <a:endParaRPr sz="2400" dirty="0">
              <a:latin typeface="Cambria"/>
              <a:cs typeface="Cambria"/>
            </a:endParaRPr>
          </a:p>
          <a:p>
            <a:pPr marL="12700" marR="5389880">
              <a:lnSpc>
                <a:spcPct val="100000"/>
              </a:lnSpc>
              <a:spcBef>
                <a:spcPts val="5"/>
              </a:spcBef>
              <a:tabLst>
                <a:tab pos="653415" algn="l"/>
              </a:tabLst>
            </a:pPr>
            <a:r>
              <a:rPr sz="2400" spc="-5" dirty="0">
                <a:solidFill>
                  <a:srgbClr val="00AF50"/>
                </a:solidFill>
                <a:latin typeface="Bahnschrift"/>
                <a:cs typeface="Bahnschrift"/>
              </a:rPr>
              <a:t>addi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 sp,sp,-12 </a:t>
            </a:r>
            <a:r>
              <a:rPr sz="2400" spc="-400" dirty="0">
                <a:solidFill>
                  <a:srgbClr val="00AF50"/>
                </a:solidFill>
                <a:latin typeface="Bahnschrift"/>
                <a:cs typeface="Bahnschrift"/>
              </a:rPr>
              <a:t> 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sw	</a:t>
            </a:r>
            <a:r>
              <a:rPr sz="2400" spc="-5" dirty="0">
                <a:solidFill>
                  <a:srgbClr val="00AF50"/>
                </a:solidFill>
                <a:latin typeface="Bahnschrift"/>
                <a:cs typeface="Bahnschrift"/>
              </a:rPr>
              <a:t>x5,8(sp) 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 sw	</a:t>
            </a:r>
            <a:r>
              <a:rPr sz="2400" spc="-5" dirty="0">
                <a:solidFill>
                  <a:srgbClr val="00AF50"/>
                </a:solidFill>
                <a:latin typeface="Bahnschrift"/>
                <a:cs typeface="Bahnschrift"/>
              </a:rPr>
              <a:t>x6,4(sp) 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 sw	</a:t>
            </a:r>
            <a:r>
              <a:rPr sz="2400" spc="-5" dirty="0">
                <a:solidFill>
                  <a:srgbClr val="00AF50"/>
                </a:solidFill>
                <a:latin typeface="Bahnschrift"/>
                <a:cs typeface="Bahnschrift"/>
              </a:rPr>
              <a:t>x</a:t>
            </a:r>
            <a:r>
              <a:rPr sz="2400" spc="-10" dirty="0">
                <a:solidFill>
                  <a:srgbClr val="00AF50"/>
                </a:solidFill>
                <a:latin typeface="Bahnschrift"/>
                <a:cs typeface="Bahnschrift"/>
              </a:rPr>
              <a:t>2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0</a:t>
            </a:r>
            <a:r>
              <a:rPr sz="2400" spc="-15" dirty="0">
                <a:solidFill>
                  <a:srgbClr val="00AF50"/>
                </a:solidFill>
                <a:latin typeface="Bahnschrift"/>
                <a:cs typeface="Bahnschrift"/>
              </a:rPr>
              <a:t>,</a:t>
            </a:r>
            <a:r>
              <a:rPr sz="2400" dirty="0">
                <a:solidFill>
                  <a:srgbClr val="00AF50"/>
                </a:solidFill>
                <a:latin typeface="Bahnschrift"/>
                <a:cs typeface="Bahnschrift"/>
              </a:rPr>
              <a:t>0(sp)</a:t>
            </a:r>
            <a:endParaRPr sz="2400" dirty="0">
              <a:latin typeface="Bahnschrift"/>
              <a:cs typeface="Bahnschrift"/>
            </a:endParaRPr>
          </a:p>
          <a:p>
            <a:pPr>
              <a:lnSpc>
                <a:spcPct val="100000"/>
              </a:lnSpc>
            </a:pPr>
            <a:endParaRPr sz="2400" dirty="0">
              <a:latin typeface="Bahnschrift"/>
              <a:cs typeface="Bahnschrift"/>
            </a:endParaRPr>
          </a:p>
          <a:p>
            <a:pPr marL="12700">
              <a:lnSpc>
                <a:spcPct val="100000"/>
              </a:lnSpc>
            </a:pP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Initially,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5" dirty="0">
                <a:solidFill>
                  <a:srgbClr val="005392"/>
                </a:solidFill>
                <a:latin typeface="Cambria"/>
                <a:cs typeface="Cambria"/>
              </a:rPr>
              <a:t>we</a:t>
            </a:r>
            <a:r>
              <a:rPr sz="2400" spc="12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5392"/>
                </a:solidFill>
                <a:latin typeface="Cambria"/>
                <a:cs typeface="Cambria"/>
              </a:rPr>
              <a:t>have</a:t>
            </a: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value</a:t>
            </a: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Cambria"/>
                <a:cs typeface="Cambria"/>
              </a:rPr>
              <a:t>of</a:t>
            </a:r>
            <a:endParaRPr sz="2400" dirty="0">
              <a:latin typeface="Cambria"/>
              <a:cs typeface="Cambria"/>
            </a:endParaRPr>
          </a:p>
          <a:p>
            <a:pPr marL="12700" marR="4424680">
              <a:lnSpc>
                <a:spcPct val="100000"/>
              </a:lnSpc>
            </a:pPr>
            <a:r>
              <a:rPr sz="2400" spc="-10" dirty="0">
                <a:solidFill>
                  <a:srgbClr val="005392"/>
                </a:solidFill>
                <a:latin typeface="Arial MT"/>
                <a:cs typeface="Arial MT"/>
              </a:rPr>
              <a:t>x5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as 0x12345678,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5392"/>
                </a:solidFill>
                <a:latin typeface="Arial MT"/>
                <a:cs typeface="Arial MT"/>
              </a:rPr>
              <a:t>x6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as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0xABCDEF09 </a:t>
            </a:r>
            <a:r>
              <a:rPr sz="240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05392"/>
                </a:solidFill>
                <a:latin typeface="Arial MT"/>
                <a:cs typeface="Arial MT"/>
              </a:rPr>
              <a:t>x20</a:t>
            </a:r>
            <a:r>
              <a:rPr sz="2400" spc="-2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as</a:t>
            </a:r>
            <a:r>
              <a:rPr sz="24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0xACE02468.</a:t>
            </a:r>
            <a:endParaRPr lang="en-US" sz="2400" spc="-5" dirty="0">
              <a:solidFill>
                <a:srgbClr val="005392"/>
              </a:solidFill>
              <a:latin typeface="Arial MT"/>
              <a:cs typeface="Arial MT"/>
            </a:endParaRPr>
          </a:p>
          <a:p>
            <a:pPr marL="12700" marR="4424680">
              <a:lnSpc>
                <a:spcPct val="100000"/>
              </a:lnSpc>
            </a:pPr>
            <a:endParaRPr sz="24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400" spc="-5" dirty="0">
                <a:latin typeface="Arial MT"/>
                <a:cs typeface="Arial MT"/>
              </a:rPr>
              <a:t>sp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is</a:t>
            </a:r>
            <a:r>
              <a:rPr sz="2400" spc="-2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1024</a:t>
            </a:r>
            <a:r>
              <a:rPr sz="2400" spc="-5" dirty="0">
                <a:solidFill>
                  <a:srgbClr val="005392"/>
                </a:solidFill>
                <a:latin typeface="Arial MT"/>
                <a:cs typeface="Arial MT"/>
              </a:rPr>
              <a:t>.</a:t>
            </a:r>
            <a:endParaRPr sz="25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160" dirty="0">
                <a:solidFill>
                  <a:srgbClr val="005392"/>
                </a:solidFill>
                <a:latin typeface="Cambria"/>
                <a:cs typeface="Cambria"/>
              </a:rPr>
              <a:t>In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100" dirty="0">
                <a:solidFill>
                  <a:srgbClr val="005392"/>
                </a:solidFill>
                <a:latin typeface="Cambria"/>
                <a:cs typeface="Cambria"/>
              </a:rPr>
              <a:t>this</a:t>
            </a: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5392"/>
                </a:solidFill>
                <a:latin typeface="Cambria"/>
                <a:cs typeface="Cambria"/>
              </a:rPr>
              <a:t>figure,</a:t>
            </a:r>
            <a:r>
              <a:rPr sz="2400" spc="11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60" dirty="0">
                <a:solidFill>
                  <a:srgbClr val="005392"/>
                </a:solidFill>
                <a:latin typeface="Cambria"/>
                <a:cs typeface="Cambria"/>
              </a:rPr>
              <a:t>write</a:t>
            </a:r>
            <a:r>
              <a:rPr sz="2400" spc="10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90" dirty="0">
                <a:solidFill>
                  <a:srgbClr val="005392"/>
                </a:solidFill>
                <a:latin typeface="Cambria"/>
                <a:cs typeface="Cambria"/>
              </a:rPr>
              <a:t>the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95" dirty="0">
                <a:solidFill>
                  <a:srgbClr val="005392"/>
                </a:solidFill>
                <a:latin typeface="Cambria"/>
                <a:cs typeface="Cambria"/>
              </a:rPr>
              <a:t>values</a:t>
            </a:r>
            <a:r>
              <a:rPr sz="2400" spc="12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55" dirty="0">
                <a:solidFill>
                  <a:srgbClr val="005392"/>
                </a:solidFill>
                <a:latin typeface="Cambria"/>
                <a:cs typeface="Cambria"/>
              </a:rPr>
              <a:t>shown</a:t>
            </a:r>
            <a:r>
              <a:rPr sz="2400" spc="114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45" dirty="0">
                <a:solidFill>
                  <a:srgbClr val="005392"/>
                </a:solidFill>
                <a:latin typeface="Cambria"/>
                <a:cs typeface="Cambria"/>
              </a:rPr>
              <a:t>by</a:t>
            </a:r>
            <a:r>
              <a:rPr sz="2400" spc="13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2400" spc="50" dirty="0">
                <a:solidFill>
                  <a:srgbClr val="005392"/>
                </a:solidFill>
                <a:latin typeface="Cambria"/>
                <a:cs typeface="Cambria"/>
              </a:rPr>
              <a:t>?</a:t>
            </a:r>
            <a:endParaRPr sz="2400" dirty="0">
              <a:latin typeface="Cambria"/>
              <a:cs typeface="Cambri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87755" y="283590"/>
            <a:ext cx="530606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</a:t>
            </a:r>
            <a:r>
              <a:rPr sz="4400" b="0" spc="225" dirty="0">
                <a:latin typeface="Cambria"/>
                <a:cs typeface="Cambria"/>
              </a:rPr>
              <a:t> </a:t>
            </a:r>
            <a:r>
              <a:rPr dirty="0"/>
              <a:t>Question on Stack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4019550" y="314959"/>
          <a:ext cx="717550" cy="578636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656">
                <a:tc>
                  <a:txBody>
                    <a:bodyPr/>
                    <a:lstStyle/>
                    <a:p>
                      <a:pPr marR="119380" algn="r">
                        <a:lnSpc>
                          <a:spcPts val="1710"/>
                        </a:lnSpc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4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458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64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458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52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38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11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9580">
                <a:tc>
                  <a:txBody>
                    <a:bodyPr/>
                    <a:lstStyle/>
                    <a:p>
                      <a:pPr marR="119380" algn="r">
                        <a:lnSpc>
                          <a:spcPts val="215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836898" y="218161"/>
          <a:ext cx="1447800" cy="59320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BBC2D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2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AC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45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AB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331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45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56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458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4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4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548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BBC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3800347" y="0"/>
            <a:ext cx="1597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Byte</a:t>
            </a:r>
            <a:r>
              <a:rPr sz="18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addresses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74997" y="6327444"/>
            <a:ext cx="16217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(a)</a:t>
            </a:r>
            <a:r>
              <a:rPr sz="1800" spc="-2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Little</a:t>
            </a:r>
            <a:r>
              <a:rPr sz="18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Endian</a:t>
            </a:r>
            <a:endParaRPr sz="1800">
              <a:latin typeface="Arial MT"/>
              <a:cs typeface="Arial MT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912609" y="342138"/>
          <a:ext cx="717550" cy="57915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7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99783">
                <a:tc>
                  <a:txBody>
                    <a:bodyPr/>
                    <a:lstStyle/>
                    <a:p>
                      <a:pPr marR="119380" algn="r">
                        <a:lnSpc>
                          <a:spcPts val="1710"/>
                        </a:lnSpc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3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67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662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28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28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1019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776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903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966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687">
                <a:tc>
                  <a:txBody>
                    <a:bodyPr/>
                    <a:lstStyle/>
                    <a:p>
                      <a:pPr marR="119380" algn="r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9808">
                <a:tc>
                  <a:txBody>
                    <a:bodyPr/>
                    <a:lstStyle/>
                    <a:p>
                      <a:pPr marR="119380" algn="r">
                        <a:lnSpc>
                          <a:spcPts val="2150"/>
                        </a:lnSpc>
                        <a:spcBef>
                          <a:spcPts val="11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1026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970" marB="0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7729577" y="245212"/>
          <a:ext cx="1447800" cy="59338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BBC2D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AC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24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68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AB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800" b="1" spc="-10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CD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EF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09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b="1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34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56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713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800" spc="-5" dirty="0">
                          <a:solidFill>
                            <a:srgbClr val="005392"/>
                          </a:solidFill>
                          <a:latin typeface="Calibri"/>
                          <a:cs typeface="Calibri"/>
                        </a:rPr>
                        <a:t>78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2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00539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718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BBC2D2"/>
                      </a:solidFill>
                      <a:prstDash val="solid"/>
                    </a:lnL>
                    <a:lnR w="12700">
                      <a:solidFill>
                        <a:srgbClr val="BBC2D2"/>
                      </a:solidFill>
                      <a:prstDash val="solid"/>
                    </a:lnR>
                    <a:lnT w="12700">
                      <a:solidFill>
                        <a:srgbClr val="005392"/>
                      </a:solidFill>
                      <a:prstDash val="solid"/>
                    </a:lnT>
                    <a:lnB w="12700">
                      <a:solidFill>
                        <a:srgbClr val="BBC2D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6693154" y="0"/>
            <a:ext cx="15970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005392"/>
                </a:solidFill>
                <a:latin typeface="Arial MT"/>
                <a:cs typeface="Arial MT"/>
              </a:rPr>
              <a:t>Byte</a:t>
            </a:r>
            <a:r>
              <a:rPr sz="1800" spc="-45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addresses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58025" y="6354267"/>
            <a:ext cx="14706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(b)</a:t>
            </a:r>
            <a:r>
              <a:rPr sz="1800" spc="-3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Big</a:t>
            </a:r>
            <a:r>
              <a:rPr sz="1800" spc="-40" dirty="0">
                <a:solidFill>
                  <a:srgbClr val="005392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005392"/>
                </a:solidFill>
                <a:latin typeface="Arial MT"/>
                <a:cs typeface="Arial MT"/>
              </a:rPr>
              <a:t>Endian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8241" y="3457447"/>
            <a:ext cx="33445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170" dirty="0">
                <a:solidFill>
                  <a:srgbClr val="005392"/>
                </a:solidFill>
                <a:latin typeface="Cambria"/>
                <a:cs typeface="Cambria"/>
              </a:rPr>
              <a:t>RISC-V</a:t>
            </a:r>
            <a:r>
              <a:rPr sz="1800" spc="9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18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5" dirty="0">
                <a:solidFill>
                  <a:srgbClr val="005392"/>
                </a:solidFill>
                <a:latin typeface="Cambria"/>
                <a:cs typeface="Cambria"/>
              </a:rPr>
              <a:t>little</a:t>
            </a:r>
            <a:r>
              <a:rPr sz="18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70" dirty="0">
                <a:solidFill>
                  <a:srgbClr val="005392"/>
                </a:solidFill>
                <a:latin typeface="Cambria"/>
                <a:cs typeface="Cambria"/>
              </a:rPr>
              <a:t>endian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1800" spc="90" dirty="0">
                <a:solidFill>
                  <a:srgbClr val="005392"/>
                </a:solidFill>
                <a:latin typeface="Cambria"/>
                <a:cs typeface="Cambria"/>
              </a:rPr>
              <a:t>Hence,</a:t>
            </a:r>
            <a:r>
              <a:rPr sz="1800" spc="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-20" dirty="0">
                <a:solidFill>
                  <a:srgbClr val="005392"/>
                </a:solidFill>
                <a:latin typeface="Cambria"/>
                <a:cs typeface="Cambria"/>
              </a:rPr>
              <a:t>(a)</a:t>
            </a:r>
            <a:r>
              <a:rPr sz="1800" spc="9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18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005392"/>
                </a:solidFill>
                <a:latin typeface="Cambria"/>
                <a:cs typeface="Cambria"/>
              </a:rPr>
              <a:t>correct</a:t>
            </a:r>
            <a:r>
              <a:rPr sz="1800" spc="7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005392"/>
                </a:solidFill>
                <a:latin typeface="Cambria"/>
                <a:cs typeface="Cambria"/>
              </a:rPr>
              <a:t>for</a:t>
            </a:r>
            <a:r>
              <a:rPr sz="1800" spc="8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175" dirty="0">
                <a:solidFill>
                  <a:srgbClr val="005392"/>
                </a:solidFill>
                <a:latin typeface="Cambria"/>
                <a:cs typeface="Cambria"/>
              </a:rPr>
              <a:t>RISC-V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559290" y="3137738"/>
            <a:ext cx="1750060" cy="84645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63500">
              <a:lnSpc>
                <a:spcPct val="99500"/>
              </a:lnSpc>
              <a:spcBef>
                <a:spcPts val="110"/>
              </a:spcBef>
            </a:pPr>
            <a:r>
              <a:rPr sz="1800" spc="-60" dirty="0">
                <a:solidFill>
                  <a:srgbClr val="005392"/>
                </a:solidFill>
                <a:latin typeface="Cambria"/>
                <a:cs typeface="Cambria"/>
              </a:rPr>
              <a:t>(b)</a:t>
            </a:r>
            <a:r>
              <a:rPr sz="1800" spc="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is</a:t>
            </a:r>
            <a:r>
              <a:rPr sz="1800" spc="75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25" dirty="0">
                <a:solidFill>
                  <a:srgbClr val="005392"/>
                </a:solidFill>
                <a:latin typeface="Cambria"/>
                <a:cs typeface="Cambria"/>
              </a:rPr>
              <a:t>correct</a:t>
            </a:r>
            <a:r>
              <a:rPr sz="1800" spc="6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15" dirty="0">
                <a:solidFill>
                  <a:srgbClr val="005392"/>
                </a:solidFill>
                <a:latin typeface="Cambria"/>
                <a:cs typeface="Cambria"/>
              </a:rPr>
              <a:t>for </a:t>
            </a:r>
            <a:r>
              <a:rPr sz="1800" spc="-3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85" dirty="0">
                <a:solidFill>
                  <a:srgbClr val="005392"/>
                </a:solidFill>
                <a:latin typeface="Cambria"/>
                <a:cs typeface="Cambria"/>
              </a:rPr>
              <a:t>any </a:t>
            </a:r>
            <a:r>
              <a:rPr sz="1800" spc="75" dirty="0">
                <a:solidFill>
                  <a:srgbClr val="005392"/>
                </a:solidFill>
                <a:latin typeface="Cambria"/>
                <a:cs typeface="Cambria"/>
              </a:rPr>
              <a:t>Big-endian </a:t>
            </a:r>
            <a:r>
              <a:rPr sz="1800" spc="80" dirty="0">
                <a:solidFill>
                  <a:srgbClr val="005392"/>
                </a:solidFill>
                <a:latin typeface="Cambria"/>
                <a:cs typeface="Cambria"/>
              </a:rPr>
              <a:t> </a:t>
            </a:r>
            <a:r>
              <a:rPr sz="1800" spc="180" dirty="0">
                <a:solidFill>
                  <a:srgbClr val="005392"/>
                </a:solidFill>
                <a:latin typeface="Cambria"/>
                <a:cs typeface="Cambria"/>
              </a:rPr>
              <a:t>ISA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587755" y="130886"/>
            <a:ext cx="21920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Solution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>
            <a:extLst>
              <a:ext uri="{FF2B5EF4-FFF2-40B4-BE49-F238E27FC236}">
                <a16:creationId xmlns:a16="http://schemas.microsoft.com/office/drawing/2014/main" id="{85DC55DE-9E89-7ACC-7172-62712C9EC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Leaf Procedure Example</a:t>
            </a:r>
            <a:endParaRPr lang="en-AU" altLang="en-US" dirty="0"/>
          </a:p>
        </p:txBody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0A8764C3-8E19-89EA-D617-4A763B539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C code: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>
                <a:latin typeface="Lucida Console" panose="020B0609040504020204" pitchFamily="49" charset="0"/>
              </a:rPr>
              <a:t>	long long int leaf_example (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	long long int g, long long int h,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	long long int i, long long int j) {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  long long int f;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  f = (g + h) - (i + j);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  return f;</a:t>
            </a:r>
            <a:br>
              <a:rPr lang="en-US" altLang="en-US" sz="2400">
                <a:latin typeface="Lucida Console" panose="020B0609040504020204" pitchFamily="49" charset="0"/>
              </a:rPr>
            </a:br>
            <a:r>
              <a:rPr lang="en-US" altLang="en-US" sz="2400">
                <a:latin typeface="Lucida Console" panose="020B0609040504020204" pitchFamily="49" charset="0"/>
              </a:rPr>
              <a:t>}</a:t>
            </a:r>
          </a:p>
          <a:p>
            <a:pPr lvl="1" eaLnBrk="1" hangingPunct="1"/>
            <a:r>
              <a:rPr lang="en-US" altLang="en-US"/>
              <a:t>Arguments g, …, j in x10, …, x13</a:t>
            </a:r>
          </a:p>
          <a:p>
            <a:pPr lvl="1" eaLnBrk="1" hangingPunct="1"/>
            <a:r>
              <a:rPr lang="en-US" altLang="en-US"/>
              <a:t>f in x20</a:t>
            </a:r>
          </a:p>
          <a:p>
            <a:pPr lvl="1" eaLnBrk="1" hangingPunct="1"/>
            <a:r>
              <a:rPr lang="en-US" altLang="en-US"/>
              <a:t>temporaries x5, x6</a:t>
            </a:r>
          </a:p>
          <a:p>
            <a:pPr lvl="1" eaLnBrk="1" hangingPunct="1"/>
            <a:r>
              <a:rPr lang="en-US" altLang="en-US"/>
              <a:t>Need to save x5, x6, x20 on stack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3">
            <a:extLst>
              <a:ext uri="{FF2B5EF4-FFF2-40B4-BE49-F238E27FC236}">
                <a16:creationId xmlns:a16="http://schemas.microsoft.com/office/drawing/2014/main" id="{018ED784-E29E-E164-5686-CD8A87987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581" y="1393465"/>
            <a:ext cx="8270875" cy="5111750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RISC-V code: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 err="1">
                <a:latin typeface="Lucida Console" panose="020B0609040504020204" pitchFamily="49" charset="0"/>
              </a:rPr>
              <a:t>leaf_example</a:t>
            </a:r>
            <a:r>
              <a:rPr lang="en-US" altLang="en-US" sz="2000" dirty="0">
                <a:latin typeface="Lucida Console" panose="020B0609040504020204" pitchFamily="49" charset="0"/>
              </a:rPr>
              <a:t>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000" dirty="0">
                <a:latin typeface="Lucida Console" panose="020B0609040504020204" pitchFamily="49" charset="0"/>
              </a:rPr>
              <a:t> sp,sp,-24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sd</a:t>
            </a:r>
            <a:r>
              <a:rPr lang="en-US" altLang="en-US" sz="2000" dirty="0">
                <a:latin typeface="Lucida Console" panose="020B0609040504020204" pitchFamily="49" charset="0"/>
              </a:rPr>
              <a:t>   x5,16(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sd</a:t>
            </a:r>
            <a:r>
              <a:rPr lang="en-US" altLang="en-US" sz="2000" dirty="0">
                <a:latin typeface="Lucida Console" panose="020B0609040504020204" pitchFamily="49" charset="0"/>
              </a:rPr>
              <a:t>   x6,8(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sd</a:t>
            </a:r>
            <a:r>
              <a:rPr lang="en-US" altLang="en-US" sz="2000" dirty="0">
                <a:latin typeface="Lucida Console" panose="020B0609040504020204" pitchFamily="49" charset="0"/>
              </a:rPr>
              <a:t>   x20,0(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endParaRPr lang="en-US" altLang="en-US" sz="2000" dirty="0">
              <a:latin typeface="Lucida Console" panose="020B060904050402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add  x5,x10,x11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add  x6,x12,x1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sub  x20,x5,x6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000" dirty="0">
                <a:latin typeface="Lucida Console" panose="020B0609040504020204" pitchFamily="49" charset="0"/>
              </a:rPr>
              <a:t> x10,x20,0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ld</a:t>
            </a:r>
            <a:r>
              <a:rPr lang="en-US" altLang="en-US" sz="2000" dirty="0">
                <a:latin typeface="Lucida Console" panose="020B0609040504020204" pitchFamily="49" charset="0"/>
              </a:rPr>
              <a:t>   x20,0(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ld</a:t>
            </a:r>
            <a:r>
              <a:rPr lang="en-US" altLang="en-US" sz="2000" dirty="0">
                <a:latin typeface="Lucida Console" panose="020B0609040504020204" pitchFamily="49" charset="0"/>
              </a:rPr>
              <a:t>   x6,8(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ld</a:t>
            </a:r>
            <a:r>
              <a:rPr lang="en-US" altLang="en-US" sz="2000" dirty="0">
                <a:latin typeface="Lucida Console" panose="020B0609040504020204" pitchFamily="49" charset="0"/>
              </a:rPr>
              <a:t>   x5,16(</a:t>
            </a:r>
            <a:r>
              <a:rPr lang="en-US" altLang="en-US" sz="2000" dirty="0" err="1">
                <a:latin typeface="Lucida Console" panose="020B0609040504020204" pitchFamily="49" charset="0"/>
              </a:rPr>
              <a:t>sp</a:t>
            </a:r>
            <a:r>
              <a:rPr lang="en-US" altLang="en-US" sz="2000" dirty="0">
                <a:latin typeface="Lucida Console" panose="020B0609040504020204" pitchFamily="49" charset="0"/>
              </a:rPr>
              <a:t>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addi</a:t>
            </a:r>
            <a:r>
              <a:rPr lang="en-US" altLang="en-US" sz="2000" dirty="0">
                <a:latin typeface="Lucida Console" panose="020B0609040504020204" pitchFamily="49" charset="0"/>
              </a:rPr>
              <a:t> sp,sp,24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Lucida Console" panose="020B0609040504020204" pitchFamily="49" charset="0"/>
              </a:rPr>
              <a:t>	</a:t>
            </a:r>
            <a:r>
              <a:rPr lang="en-US" altLang="en-US" sz="2000" dirty="0" err="1">
                <a:latin typeface="Lucida Console" panose="020B0609040504020204" pitchFamily="49" charset="0"/>
              </a:rPr>
              <a:t>jalr</a:t>
            </a:r>
            <a:r>
              <a:rPr lang="en-US" altLang="en-US" sz="2000" dirty="0">
                <a:latin typeface="Lucida Console" panose="020B0609040504020204" pitchFamily="49" charset="0"/>
              </a:rPr>
              <a:t> x0,0(x1)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2400" dirty="0">
              <a:latin typeface="Lucida Console" panose="020B0609040504020204" pitchFamily="49" charset="0"/>
            </a:endParaRPr>
          </a:p>
        </p:txBody>
      </p:sp>
      <p:sp>
        <p:nvSpPr>
          <p:cNvPr id="81924" name="Rectangle 2">
            <a:extLst>
              <a:ext uri="{FF2B5EF4-FFF2-40B4-BE49-F238E27FC236}">
                <a16:creationId xmlns:a16="http://schemas.microsoft.com/office/drawing/2014/main" id="{E30B64D2-048F-26C3-E003-12C72668B2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Leaf Procedure Example</a:t>
            </a:r>
            <a:endParaRPr lang="en-AU" altLang="en-US"/>
          </a:p>
        </p:txBody>
      </p:sp>
      <p:sp>
        <p:nvSpPr>
          <p:cNvPr id="81925" name="Text Box 4">
            <a:extLst>
              <a:ext uri="{FF2B5EF4-FFF2-40B4-BE49-F238E27FC236}">
                <a16:creationId xmlns:a16="http://schemas.microsoft.com/office/drawing/2014/main" id="{FB1A2452-3C21-E2A8-E123-A9F37C611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730" y="2223729"/>
            <a:ext cx="2794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Save x5, x6, x20 on stack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81926" name="Text Box 5">
            <a:extLst>
              <a:ext uri="{FF2B5EF4-FFF2-40B4-BE49-F238E27FC236}">
                <a16:creationId xmlns:a16="http://schemas.microsoft.com/office/drawing/2014/main" id="{730C3EA5-D64A-3E45-F094-8F55BBECCA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805" y="3582629"/>
            <a:ext cx="1327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x5 = g + h</a:t>
            </a:r>
          </a:p>
        </p:txBody>
      </p:sp>
      <p:sp>
        <p:nvSpPr>
          <p:cNvPr id="81927" name="Text Box 5">
            <a:extLst>
              <a:ext uri="{FF2B5EF4-FFF2-40B4-BE49-F238E27FC236}">
                <a16:creationId xmlns:a16="http://schemas.microsoft.com/office/drawing/2014/main" id="{9129C506-4A18-3CD7-6CF3-B19981BDD0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7167" y="3936640"/>
            <a:ext cx="1168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x6 = i + j</a:t>
            </a:r>
          </a:p>
        </p:txBody>
      </p:sp>
      <p:sp>
        <p:nvSpPr>
          <p:cNvPr id="81928" name="Text Box 5">
            <a:extLst>
              <a:ext uri="{FF2B5EF4-FFF2-40B4-BE49-F238E27FC236}">
                <a16:creationId xmlns:a16="http://schemas.microsoft.com/office/drawing/2014/main" id="{F1FAC86A-F339-C5B5-58C2-930F2CCF7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7806" y="4266840"/>
            <a:ext cx="1322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f = x5 – x6</a:t>
            </a:r>
          </a:p>
        </p:txBody>
      </p:sp>
      <p:sp>
        <p:nvSpPr>
          <p:cNvPr id="81929" name="Text Box 5">
            <a:extLst>
              <a:ext uri="{FF2B5EF4-FFF2-40B4-BE49-F238E27FC236}">
                <a16:creationId xmlns:a16="http://schemas.microsoft.com/office/drawing/2014/main" id="{B8627158-B074-640D-8FF0-F565CB128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693" y="4525604"/>
            <a:ext cx="26130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copy f to return register</a:t>
            </a:r>
          </a:p>
        </p:txBody>
      </p:sp>
      <p:sp>
        <p:nvSpPr>
          <p:cNvPr id="81930" name="Text Box 4">
            <a:extLst>
              <a:ext uri="{FF2B5EF4-FFF2-40B4-BE49-F238E27FC236}">
                <a16:creationId xmlns:a16="http://schemas.microsoft.com/office/drawing/2014/main" id="{91640138-E736-236C-B147-A9A908DEBC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8756" y="4876440"/>
            <a:ext cx="3222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Resore x5, x6, x20 from stack</a:t>
            </a:r>
            <a:endParaRPr lang="en-AU" altLang="en-US" sz="1800">
              <a:latin typeface="Tahoma" panose="020B0604030504040204" pitchFamily="34" charset="0"/>
            </a:endParaRPr>
          </a:p>
        </p:txBody>
      </p:sp>
      <p:sp>
        <p:nvSpPr>
          <p:cNvPr id="81931" name="Text Box 4">
            <a:extLst>
              <a:ext uri="{FF2B5EF4-FFF2-40B4-BE49-F238E27FC236}">
                <a16:creationId xmlns:a16="http://schemas.microsoft.com/office/drawing/2014/main" id="{08E8FC01-BE38-A0E9-1D9D-7777CECB99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22730" y="6206765"/>
            <a:ext cx="17462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Return to caller</a:t>
            </a:r>
            <a:endParaRPr lang="en-AU" altLang="en-US" sz="18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>
            <a:extLst>
              <a:ext uri="{FF2B5EF4-FFF2-40B4-BE49-F238E27FC236}">
                <a16:creationId xmlns:a16="http://schemas.microsoft.com/office/drawing/2014/main" id="{E25D30A4-4EF6-0B8A-CE92-CD0C9BF00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Register Usage</a:t>
            </a:r>
          </a:p>
        </p:txBody>
      </p:sp>
      <p:sp>
        <p:nvSpPr>
          <p:cNvPr id="84995" name="Content Placeholder 2">
            <a:extLst>
              <a:ext uri="{FF2B5EF4-FFF2-40B4-BE49-F238E27FC236}">
                <a16:creationId xmlns:a16="http://schemas.microsoft.com/office/drawing/2014/main" id="{D0A206F2-7BEB-289C-53D4-CD6884CEF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x5 – x7, x28 – x31:  temporary registers</a:t>
            </a:r>
          </a:p>
          <a:p>
            <a:pPr lvl="1"/>
            <a:r>
              <a:rPr lang="en-US" altLang="en-US" dirty="0"/>
              <a:t>Not preserved by the callee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x8 – x9, x18 – x27:  saved registers</a:t>
            </a:r>
          </a:p>
          <a:p>
            <a:pPr lvl="1"/>
            <a:r>
              <a:rPr lang="en-US" altLang="en-US" dirty="0"/>
              <a:t>If used, the callee saves and restores them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04DF346-A857-B7A2-0E3B-0D656496D8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73"/>
          <a:stretch/>
        </p:blipFill>
        <p:spPr>
          <a:xfrm>
            <a:off x="1765954" y="4069301"/>
            <a:ext cx="6509726" cy="19433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7BC7037-D097-36C3-EF0F-8DBF130A9856}"/>
              </a:ext>
            </a:extLst>
          </p:cNvPr>
          <p:cNvSpPr txBox="1"/>
          <p:nvPr/>
        </p:nvSpPr>
        <p:spPr>
          <a:xfrm>
            <a:off x="1765954" y="5870709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u="none" strike="noStrike" baseline="0" dirty="0"/>
              <a:t>What is and what is not preserved across a procedure call</a:t>
            </a:r>
            <a:endParaRPr lang="en-US" sz="1600" b="1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7" name="Rectangle 2">
            <a:extLst>
              <a:ext uri="{FF2B5EF4-FFF2-40B4-BE49-F238E27FC236}">
                <a16:creationId xmlns:a16="http://schemas.microsoft.com/office/drawing/2014/main" id="{DD2B0A8C-2FCA-279E-18F3-1431A40E5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8213" y="200026"/>
            <a:ext cx="8259762" cy="708025"/>
          </a:xfrm>
        </p:spPr>
        <p:txBody>
          <a:bodyPr/>
          <a:lstStyle/>
          <a:p>
            <a:pPr eaLnBrk="1" hangingPunct="1"/>
            <a:r>
              <a:rPr lang="en-US" altLang="en-US" sz="4000"/>
              <a:t>Byte/Halfword/Word Operations</a:t>
            </a:r>
            <a:endParaRPr lang="en-AU" altLang="en-US" sz="4000"/>
          </a:p>
        </p:txBody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DAD2DFC6-4D6C-46C5-834A-C3D27931EA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/>
              <a:t>RISC-V byte/halfword/word load/store</a:t>
            </a:r>
          </a:p>
          <a:p>
            <a:pPr lvl="1" eaLnBrk="1" hangingPunct="1"/>
            <a:r>
              <a:rPr lang="en-US" altLang="en-US" sz="2000"/>
              <a:t>Load byte/halfword/word: Sign extend to 64 bits in rd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lb rd,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lh rd,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lw rd, offset(rs1)</a:t>
            </a:r>
          </a:p>
          <a:p>
            <a:pPr lvl="1" eaLnBrk="1" hangingPunct="1"/>
            <a:r>
              <a:rPr lang="en-US" altLang="en-US" sz="2000"/>
              <a:t>Load byte/halfword/word unsigned: Zero extend to 64 bits in rd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lbu rd,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lhu rd,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lwu rd, offset(rs1)</a:t>
            </a:r>
          </a:p>
          <a:p>
            <a:pPr lvl="1" eaLnBrk="1" hangingPunct="1"/>
            <a:r>
              <a:rPr lang="en-US" altLang="en-US" sz="2000"/>
              <a:t>Store byte/halfword/word: Store rightmost 8/16/32 bits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sb rs2,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sh rs2, offset(rs1)</a:t>
            </a:r>
          </a:p>
          <a:p>
            <a:pPr lvl="2" eaLnBrk="1" hangingPunct="1"/>
            <a:r>
              <a:rPr lang="en-US" altLang="en-US" sz="1800">
                <a:latin typeface="Lucida Console" panose="020B0609040504020204" pitchFamily="49" charset="0"/>
              </a:rPr>
              <a:t>sw rs2, offset(rs1)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9" name="Rectangle 2">
            <a:extLst>
              <a:ext uri="{FF2B5EF4-FFF2-40B4-BE49-F238E27FC236}">
                <a16:creationId xmlns:a16="http://schemas.microsoft.com/office/drawing/2014/main" id="{6F3F0EBB-3363-2C70-D53E-5B621CFB3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1905"/>
            <a:ext cx="11632676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RISC-V SB-format Instructions: Branch Addressing</a:t>
            </a:r>
            <a:endParaRPr lang="en-AU" altLang="en-US" dirty="0"/>
          </a:p>
        </p:txBody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DDBA990-1EED-ACD8-3C32-F63951588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8"/>
            <a:ext cx="8270875" cy="2381250"/>
          </a:xfrm>
        </p:spPr>
        <p:txBody>
          <a:bodyPr/>
          <a:lstStyle/>
          <a:p>
            <a:pPr eaLnBrk="1" hangingPunct="1"/>
            <a:r>
              <a:rPr lang="en-US" altLang="en-US" dirty="0"/>
              <a:t>Branch instructions specify</a:t>
            </a:r>
          </a:p>
          <a:p>
            <a:pPr lvl="1" eaLnBrk="1" hangingPunct="1"/>
            <a:r>
              <a:rPr lang="en-US" altLang="en-US" dirty="0"/>
              <a:t>Opcode, two registers, target address</a:t>
            </a:r>
          </a:p>
          <a:p>
            <a:pPr eaLnBrk="1" hangingPunct="1"/>
            <a:r>
              <a:rPr lang="en-US" altLang="en-US" dirty="0"/>
              <a:t>Most branch targets are near branch</a:t>
            </a:r>
          </a:p>
          <a:p>
            <a:pPr lvl="1" eaLnBrk="1" hangingPunct="1"/>
            <a:r>
              <a:rPr lang="en-US" altLang="en-US" dirty="0"/>
              <a:t>Forward or backward</a:t>
            </a:r>
          </a:p>
          <a:p>
            <a:pPr eaLnBrk="1" hangingPunct="1"/>
            <a:r>
              <a:rPr lang="en-US" altLang="en-US" dirty="0">
                <a:solidFill>
                  <a:schemeClr val="accent1"/>
                </a:solidFill>
              </a:rPr>
              <a:t>SB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</a:rPr>
              <a:t>format</a:t>
            </a:r>
            <a:r>
              <a:rPr lang="en-US" altLang="en-US" dirty="0"/>
              <a:t>:</a:t>
            </a:r>
            <a:endParaRPr lang="en-AU" altLang="en-US" dirty="0"/>
          </a:p>
        </p:txBody>
      </p:sp>
      <p:sp>
        <p:nvSpPr>
          <p:cNvPr id="106501" name="Rectangle 13">
            <a:extLst>
              <a:ext uri="{FF2B5EF4-FFF2-40B4-BE49-F238E27FC236}">
                <a16:creationId xmlns:a16="http://schemas.microsoft.com/office/drawing/2014/main" id="{39AE925E-7F4B-DE8F-15DD-2C0BF831A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5526" y="4941889"/>
            <a:ext cx="8183563" cy="1366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Tx/>
            </a:pPr>
            <a:r>
              <a:rPr lang="en-US" altLang="en-US" dirty="0"/>
              <a:t>PC-relative addressing</a:t>
            </a:r>
          </a:p>
          <a:p>
            <a:pPr lvl="1" eaLnBrk="1" hangingPunct="1">
              <a:buClrTx/>
            </a:pPr>
            <a:r>
              <a:rPr lang="en-US" altLang="en-US" dirty="0"/>
              <a:t>Target address = PC + immediate × 2</a:t>
            </a:r>
          </a:p>
        </p:txBody>
      </p:sp>
      <p:sp>
        <p:nvSpPr>
          <p:cNvPr id="106502" name="Text Box 5">
            <a:extLst>
              <a:ext uri="{FF2B5EF4-FFF2-40B4-BE49-F238E27FC236}">
                <a16:creationId xmlns:a16="http://schemas.microsoft.com/office/drawing/2014/main" id="{DACE06D4-8501-5799-9088-A8FADE605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6487" y="3957638"/>
            <a:ext cx="1296987" cy="420624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</a:t>
            </a:r>
            <a:endParaRPr lang="en-AU" altLang="en-US" sz="2000"/>
          </a:p>
        </p:txBody>
      </p:sp>
      <p:sp>
        <p:nvSpPr>
          <p:cNvPr id="106503" name="Text Box 6">
            <a:extLst>
              <a:ext uri="{FF2B5EF4-FFF2-40B4-BE49-F238E27FC236}">
                <a16:creationId xmlns:a16="http://schemas.microsoft.com/office/drawing/2014/main" id="{CFBDE9C5-B537-1BD9-716A-069CF1BCC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3957639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rs2</a:t>
            </a:r>
            <a:endParaRPr lang="en-AU" altLang="en-US" sz="2000"/>
          </a:p>
        </p:txBody>
      </p:sp>
      <p:sp>
        <p:nvSpPr>
          <p:cNvPr id="106504" name="Text Box 7">
            <a:extLst>
              <a:ext uri="{FF2B5EF4-FFF2-40B4-BE49-F238E27FC236}">
                <a16:creationId xmlns:a16="http://schemas.microsoft.com/office/drawing/2014/main" id="{5A72FB56-DC0B-B976-8D50-126397D8AA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32400" y="3957639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rs1</a:t>
            </a:r>
            <a:endParaRPr lang="en-AU" altLang="en-US" sz="2000"/>
          </a:p>
        </p:txBody>
      </p:sp>
      <p:sp>
        <p:nvSpPr>
          <p:cNvPr id="106505" name="Text Box 8">
            <a:extLst>
              <a:ext uri="{FF2B5EF4-FFF2-40B4-BE49-F238E27FC236}">
                <a16:creationId xmlns:a16="http://schemas.microsoft.com/office/drawing/2014/main" id="{6DD09F7C-835F-9AF9-6F14-058FCEA0A3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3957639"/>
            <a:ext cx="788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</a:t>
            </a:r>
            <a:endParaRPr lang="en-AU" altLang="en-US" sz="2000"/>
          </a:p>
        </p:txBody>
      </p:sp>
      <p:sp>
        <p:nvSpPr>
          <p:cNvPr id="106506" name="Text Box 9">
            <a:extLst>
              <a:ext uri="{FF2B5EF4-FFF2-40B4-BE49-F238E27FC236}">
                <a16:creationId xmlns:a16="http://schemas.microsoft.com/office/drawing/2014/main" id="{8E48575B-D187-1470-14E3-996FDC135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3489" y="3957639"/>
            <a:ext cx="93662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funct3</a:t>
            </a:r>
            <a:endParaRPr lang="en-AU" altLang="en-US" sz="2000"/>
          </a:p>
        </p:txBody>
      </p:sp>
      <p:sp>
        <p:nvSpPr>
          <p:cNvPr id="106507" name="Text Box 10">
            <a:extLst>
              <a:ext uri="{FF2B5EF4-FFF2-40B4-BE49-F238E27FC236}">
                <a16:creationId xmlns:a16="http://schemas.microsoft.com/office/drawing/2014/main" id="{282F9CD1-BC9B-25A7-3976-C85E631F0A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3957639"/>
            <a:ext cx="1296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opcode</a:t>
            </a:r>
            <a:endParaRPr lang="en-AU" altLang="en-US" sz="2000"/>
          </a:p>
        </p:txBody>
      </p:sp>
      <p:sp>
        <p:nvSpPr>
          <p:cNvPr id="106508" name="Text Box 11">
            <a:extLst>
              <a:ext uri="{FF2B5EF4-FFF2-40B4-BE49-F238E27FC236}">
                <a16:creationId xmlns:a16="http://schemas.microsoft.com/office/drawing/2014/main" id="{0C7B16D5-5D52-46E5-5094-4DC102549E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6588" y="3894138"/>
            <a:ext cx="633412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 dirty="0" err="1"/>
              <a:t>imm</a:t>
            </a:r>
            <a:br>
              <a:rPr lang="en-US" altLang="en-US" sz="1400" dirty="0"/>
            </a:br>
            <a:r>
              <a:rPr lang="en-US" altLang="en-US" sz="1400" dirty="0"/>
              <a:t>[10:5]</a:t>
            </a:r>
            <a:endParaRPr lang="en-AU" altLang="en-US" sz="1400" dirty="0"/>
          </a:p>
        </p:txBody>
      </p:sp>
      <p:sp>
        <p:nvSpPr>
          <p:cNvPr id="106509" name="Text Box 15">
            <a:extLst>
              <a:ext uri="{FF2B5EF4-FFF2-40B4-BE49-F238E27FC236}">
                <a16:creationId xmlns:a16="http://schemas.microsoft.com/office/drawing/2014/main" id="{504AB52D-E413-979F-4BDF-89E3887CD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1401" y="3894138"/>
            <a:ext cx="531813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/>
              <a:t>imm</a:t>
            </a:r>
            <a:br>
              <a:rPr lang="en-US" altLang="en-US" sz="1400"/>
            </a:br>
            <a:r>
              <a:rPr lang="en-US" altLang="en-US" sz="1400"/>
              <a:t>[4:1]</a:t>
            </a:r>
            <a:endParaRPr lang="en-AU" altLang="en-US" sz="1400"/>
          </a:p>
        </p:txBody>
      </p:sp>
      <p:sp>
        <p:nvSpPr>
          <p:cNvPr id="106510" name="Text Box 8">
            <a:extLst>
              <a:ext uri="{FF2B5EF4-FFF2-40B4-BE49-F238E27FC236}">
                <a16:creationId xmlns:a16="http://schemas.microsoft.com/office/drawing/2014/main" id="{22F43EFD-1A5A-F0DE-3571-E9D5CC9058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0688" y="3957639"/>
            <a:ext cx="290512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</a:t>
            </a:r>
            <a:endParaRPr lang="en-AU" altLang="en-US" sz="2000"/>
          </a:p>
        </p:txBody>
      </p:sp>
      <p:sp>
        <p:nvSpPr>
          <p:cNvPr id="106511" name="Text Box 8">
            <a:extLst>
              <a:ext uri="{FF2B5EF4-FFF2-40B4-BE49-F238E27FC236}">
                <a16:creationId xmlns:a16="http://schemas.microsoft.com/office/drawing/2014/main" id="{D7BC976D-F4F1-9747-33C3-566F23A9AB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65401" y="3957639"/>
            <a:ext cx="290513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</a:t>
            </a:r>
            <a:endParaRPr lang="en-AU" altLang="en-US" sz="2000"/>
          </a:p>
        </p:txBody>
      </p:sp>
      <p:sp>
        <p:nvSpPr>
          <p:cNvPr id="106512" name="Text Box 11">
            <a:extLst>
              <a:ext uri="{FF2B5EF4-FFF2-40B4-BE49-F238E27FC236}">
                <a16:creationId xmlns:a16="http://schemas.microsoft.com/office/drawing/2014/main" id="{27072B8E-3959-FC3D-357F-16749C28DF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95526" y="4572001"/>
            <a:ext cx="822325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/>
              <a:t>imm[12]</a:t>
            </a:r>
            <a:endParaRPr lang="en-AU" altLang="en-US" sz="1400"/>
          </a:p>
        </p:txBody>
      </p:sp>
      <p:cxnSp>
        <p:nvCxnSpPr>
          <p:cNvPr id="106513" name="Straight Arrow Connector 2">
            <a:extLst>
              <a:ext uri="{FF2B5EF4-FFF2-40B4-BE49-F238E27FC236}">
                <a16:creationId xmlns:a16="http://schemas.microsoft.com/office/drawing/2014/main" id="{2386BC26-C3A3-879E-4904-A8C48CA00F19}"/>
              </a:ext>
            </a:extLst>
          </p:cNvPr>
          <p:cNvCxnSpPr>
            <a:cxnSpLocks noChangeShapeType="1"/>
            <a:stCxn id="106512" idx="0"/>
          </p:cNvCxnSpPr>
          <p:nvPr/>
        </p:nvCxnSpPr>
        <p:spPr bwMode="auto">
          <a:xfrm flipH="1" flipV="1">
            <a:off x="2706688" y="4230688"/>
            <a:ext cx="0" cy="3413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6514" name="Text Box 11">
            <a:extLst>
              <a:ext uri="{FF2B5EF4-FFF2-40B4-BE49-F238E27FC236}">
                <a16:creationId xmlns:a16="http://schemas.microsoft.com/office/drawing/2014/main" id="{492EF7EB-6A3C-E07D-15C2-3B01505410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81925" y="4572001"/>
            <a:ext cx="808038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/>
              <a:t>imm[11]</a:t>
            </a:r>
            <a:endParaRPr lang="en-AU" altLang="en-US" sz="1400"/>
          </a:p>
        </p:txBody>
      </p:sp>
      <p:cxnSp>
        <p:nvCxnSpPr>
          <p:cNvPr id="106515" name="Straight Arrow Connector 33">
            <a:extLst>
              <a:ext uri="{FF2B5EF4-FFF2-40B4-BE49-F238E27FC236}">
                <a16:creationId xmlns:a16="http://schemas.microsoft.com/office/drawing/2014/main" id="{98BBC72D-C198-0DFD-903E-22742FFA84C1}"/>
              </a:ext>
            </a:extLst>
          </p:cNvPr>
          <p:cNvCxnSpPr>
            <a:cxnSpLocks noChangeShapeType="1"/>
            <a:stCxn id="106514" idx="0"/>
          </p:cNvCxnSpPr>
          <p:nvPr/>
        </p:nvCxnSpPr>
        <p:spPr bwMode="auto">
          <a:xfrm flipV="1">
            <a:off x="8185150" y="4230688"/>
            <a:ext cx="0" cy="34131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Rectangle 2">
            <a:extLst>
              <a:ext uri="{FF2B5EF4-FFF2-40B4-BE49-F238E27FC236}">
                <a16:creationId xmlns:a16="http://schemas.microsoft.com/office/drawing/2014/main" id="{A1073D86-7E58-EDC0-B45E-B996461D1E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01649" y="6351"/>
            <a:ext cx="11121599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RISC-V UJ-format Instructions : Jump Addressing</a:t>
            </a:r>
            <a:endParaRPr lang="en-AU" altLang="en-US" dirty="0"/>
          </a:p>
        </p:txBody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3C3EE737-DE5B-8692-C00E-8315675760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8214" y="1125539"/>
            <a:ext cx="8270875" cy="1843087"/>
          </a:xfrm>
        </p:spPr>
        <p:txBody>
          <a:bodyPr/>
          <a:lstStyle/>
          <a:p>
            <a:pPr eaLnBrk="1" hangingPunct="1"/>
            <a:r>
              <a:rPr lang="en-US" altLang="en-US" dirty="0"/>
              <a:t>Jump and link (</a:t>
            </a:r>
            <a:r>
              <a:rPr lang="en-US" altLang="en-US" dirty="0" err="1">
                <a:latin typeface="Lucida Console" panose="020B0609040504020204" pitchFamily="49" charset="0"/>
              </a:rPr>
              <a:t>jal</a:t>
            </a:r>
            <a:r>
              <a:rPr lang="en-US" altLang="en-US" dirty="0"/>
              <a:t>) target uses 20-bit immediate for larger range</a:t>
            </a:r>
          </a:p>
          <a:p>
            <a:pPr eaLnBrk="1" hangingPunct="1"/>
            <a:r>
              <a:rPr lang="en-US" altLang="en-US" dirty="0">
                <a:solidFill>
                  <a:schemeClr val="accent1"/>
                </a:solidFill>
              </a:rPr>
              <a:t>UJ</a:t>
            </a: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</a:rPr>
              <a:t>format</a:t>
            </a:r>
            <a:r>
              <a:rPr lang="en-US" altLang="en-US" dirty="0"/>
              <a:t>:</a:t>
            </a:r>
            <a:endParaRPr lang="en-AU" altLang="en-US" dirty="0"/>
          </a:p>
        </p:txBody>
      </p:sp>
      <p:sp>
        <p:nvSpPr>
          <p:cNvPr id="108549" name="Rectangle 9">
            <a:extLst>
              <a:ext uri="{FF2B5EF4-FFF2-40B4-BE49-F238E27FC236}">
                <a16:creationId xmlns:a16="http://schemas.microsoft.com/office/drawing/2014/main" id="{1DC05938-C12B-5357-99B8-6A07C1CDB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933825"/>
            <a:ext cx="7772400" cy="168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ClrTx/>
            </a:pPr>
            <a:r>
              <a:rPr lang="en-US" altLang="en-US" dirty="0"/>
              <a:t>For long jumps, </a:t>
            </a:r>
            <a:r>
              <a:rPr lang="en-US" altLang="en-US" dirty="0" err="1"/>
              <a:t>eg</a:t>
            </a:r>
            <a:r>
              <a:rPr lang="en-US" altLang="en-US" dirty="0"/>
              <a:t>, to 32-bit absolute address</a:t>
            </a:r>
          </a:p>
          <a:p>
            <a:pPr lvl="1">
              <a:buClrTx/>
              <a:buSzPct val="60000"/>
            </a:pPr>
            <a:r>
              <a:rPr lang="en-US" altLang="en-US" dirty="0" err="1"/>
              <a:t>lui</a:t>
            </a:r>
            <a:r>
              <a:rPr lang="en-US" altLang="en-US" dirty="0"/>
              <a:t>: load address[31:12] to temp register</a:t>
            </a:r>
          </a:p>
          <a:p>
            <a:pPr lvl="1">
              <a:buClrTx/>
              <a:buSzPct val="60000"/>
            </a:pPr>
            <a:r>
              <a:rPr lang="en-US" altLang="en-US" dirty="0" err="1"/>
              <a:t>jalr</a:t>
            </a:r>
            <a:r>
              <a:rPr lang="en-US" altLang="en-US" dirty="0"/>
              <a:t>: add address[11:0] and jump to target</a:t>
            </a:r>
          </a:p>
        </p:txBody>
      </p:sp>
      <p:sp>
        <p:nvSpPr>
          <p:cNvPr id="108550" name="Text Box 8">
            <a:extLst>
              <a:ext uri="{FF2B5EF4-FFF2-40B4-BE49-F238E27FC236}">
                <a16:creationId xmlns:a16="http://schemas.microsoft.com/office/drawing/2014/main" id="{6169242E-B2FF-FE5C-0E9B-37EB8A3391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1700" y="2863851"/>
            <a:ext cx="107950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rd</a:t>
            </a:r>
            <a:endParaRPr lang="en-AU" altLang="en-US" sz="2000"/>
          </a:p>
        </p:txBody>
      </p:sp>
      <p:sp>
        <p:nvSpPr>
          <p:cNvPr id="108551" name="Text Box 10">
            <a:extLst>
              <a:ext uri="{FF2B5EF4-FFF2-40B4-BE49-F238E27FC236}">
                <a16:creationId xmlns:a16="http://schemas.microsoft.com/office/drawing/2014/main" id="{B2C067CD-1F33-1AA1-EDAC-485C07919C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1200" y="2863851"/>
            <a:ext cx="1296988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opcode</a:t>
            </a:r>
            <a:endParaRPr lang="en-AU" altLang="en-US" sz="2000"/>
          </a:p>
        </p:txBody>
      </p:sp>
      <p:sp>
        <p:nvSpPr>
          <p:cNvPr id="108552" name="Text Box 12">
            <a:extLst>
              <a:ext uri="{FF2B5EF4-FFF2-40B4-BE49-F238E27FC236}">
                <a16:creationId xmlns:a16="http://schemas.microsoft.com/office/drawing/2014/main" id="{9B013DDE-3928-135B-45B8-BE1F22F5D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18539" y="3306764"/>
            <a:ext cx="674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7 bits</a:t>
            </a:r>
            <a:endParaRPr lang="en-AU" altLang="en-US" sz="1600"/>
          </a:p>
        </p:txBody>
      </p:sp>
      <p:sp>
        <p:nvSpPr>
          <p:cNvPr id="108553" name="Text Box 15">
            <a:extLst>
              <a:ext uri="{FF2B5EF4-FFF2-40B4-BE49-F238E27FC236}">
                <a16:creationId xmlns:a16="http://schemas.microsoft.com/office/drawing/2014/main" id="{192B105C-AD65-2782-6B26-38D66348D8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0776" y="3306763"/>
            <a:ext cx="66992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/>
              <a:t>5 bits</a:t>
            </a:r>
            <a:endParaRPr lang="en-AU" altLang="en-US" sz="1600"/>
          </a:p>
        </p:txBody>
      </p:sp>
      <p:sp>
        <p:nvSpPr>
          <p:cNvPr id="108554" name="Text Box 8">
            <a:extLst>
              <a:ext uri="{FF2B5EF4-FFF2-40B4-BE49-F238E27FC236}">
                <a16:creationId xmlns:a16="http://schemas.microsoft.com/office/drawing/2014/main" id="{45B6F334-D37F-7DA4-B931-AE77D041A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938" y="2863851"/>
            <a:ext cx="290512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</a:t>
            </a:r>
            <a:endParaRPr lang="en-AU" altLang="en-US" sz="2000"/>
          </a:p>
        </p:txBody>
      </p:sp>
      <p:sp>
        <p:nvSpPr>
          <p:cNvPr id="108555" name="Text Box 11">
            <a:extLst>
              <a:ext uri="{FF2B5EF4-FFF2-40B4-BE49-F238E27FC236}">
                <a16:creationId xmlns:a16="http://schemas.microsoft.com/office/drawing/2014/main" id="{ED29C4FD-A91C-7A7B-F4C7-7F88B20845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175" y="3478213"/>
            <a:ext cx="808038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/>
              <a:t>imm[11]</a:t>
            </a:r>
            <a:endParaRPr lang="en-AU" altLang="en-US" sz="1400"/>
          </a:p>
        </p:txBody>
      </p:sp>
      <p:cxnSp>
        <p:nvCxnSpPr>
          <p:cNvPr id="108556" name="Straight Arrow Connector 38">
            <a:extLst>
              <a:ext uri="{FF2B5EF4-FFF2-40B4-BE49-F238E27FC236}">
                <a16:creationId xmlns:a16="http://schemas.microsoft.com/office/drawing/2014/main" id="{D5D3850B-2A1E-0319-E720-4B791FC4448C}"/>
              </a:ext>
            </a:extLst>
          </p:cNvPr>
          <p:cNvCxnSpPr>
            <a:cxnSpLocks noChangeShapeType="1"/>
            <a:stCxn id="108555" idx="0"/>
          </p:cNvCxnSpPr>
          <p:nvPr/>
        </p:nvCxnSpPr>
        <p:spPr bwMode="auto">
          <a:xfrm flipV="1">
            <a:off x="5614988" y="3138489"/>
            <a:ext cx="0" cy="339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557" name="Text Box 8">
            <a:extLst>
              <a:ext uri="{FF2B5EF4-FFF2-40B4-BE49-F238E27FC236}">
                <a16:creationId xmlns:a16="http://schemas.microsoft.com/office/drawing/2014/main" id="{D331DE7D-A7BE-7075-EDC8-06E4DD88B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2076" y="2863851"/>
            <a:ext cx="290513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 </a:t>
            </a:r>
            <a:endParaRPr lang="en-AU" altLang="en-US" sz="2000"/>
          </a:p>
        </p:txBody>
      </p:sp>
      <p:sp>
        <p:nvSpPr>
          <p:cNvPr id="108558" name="Text Box 11">
            <a:extLst>
              <a:ext uri="{FF2B5EF4-FFF2-40B4-BE49-F238E27FC236}">
                <a16:creationId xmlns:a16="http://schemas.microsoft.com/office/drawing/2014/main" id="{CBE8FE8E-8441-E1D7-F566-DF402884A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1" y="3478213"/>
            <a:ext cx="822325" cy="298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400"/>
              <a:t>imm[20]</a:t>
            </a:r>
            <a:endParaRPr lang="en-AU" altLang="en-US" sz="1400"/>
          </a:p>
        </p:txBody>
      </p:sp>
      <p:cxnSp>
        <p:nvCxnSpPr>
          <p:cNvPr id="108559" name="Straight Arrow Connector 41">
            <a:extLst>
              <a:ext uri="{FF2B5EF4-FFF2-40B4-BE49-F238E27FC236}">
                <a16:creationId xmlns:a16="http://schemas.microsoft.com/office/drawing/2014/main" id="{09753CB5-4D27-E67C-6128-517A4E5C39EA}"/>
              </a:ext>
            </a:extLst>
          </p:cNvPr>
          <p:cNvCxnSpPr>
            <a:cxnSpLocks noChangeShapeType="1"/>
            <a:stCxn id="108558" idx="0"/>
          </p:cNvCxnSpPr>
          <p:nvPr/>
        </p:nvCxnSpPr>
        <p:spPr bwMode="auto">
          <a:xfrm flipV="1">
            <a:off x="2773363" y="3138489"/>
            <a:ext cx="0" cy="3397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8560" name="Text Box 8">
            <a:extLst>
              <a:ext uri="{FF2B5EF4-FFF2-40B4-BE49-F238E27FC236}">
                <a16:creationId xmlns:a16="http://schemas.microsoft.com/office/drawing/2014/main" id="{415E91C4-58EA-0EAC-9285-4A214AE218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59450" y="2863851"/>
            <a:ext cx="1492250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000"/>
          </a:p>
        </p:txBody>
      </p:sp>
      <p:sp>
        <p:nvSpPr>
          <p:cNvPr id="108561" name="Text Box 8">
            <a:extLst>
              <a:ext uri="{FF2B5EF4-FFF2-40B4-BE49-F238E27FC236}">
                <a16:creationId xmlns:a16="http://schemas.microsoft.com/office/drawing/2014/main" id="{BC526F5F-882B-1F14-730F-1E1ABF03A7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2589" y="2863851"/>
            <a:ext cx="2543175" cy="415925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endParaRPr lang="en-AU" altLang="en-US" sz="2000"/>
          </a:p>
        </p:txBody>
      </p:sp>
      <p:sp>
        <p:nvSpPr>
          <p:cNvPr id="108562" name="Text Box 11">
            <a:extLst>
              <a:ext uri="{FF2B5EF4-FFF2-40B4-BE49-F238E27FC236}">
                <a16:creationId xmlns:a16="http://schemas.microsoft.com/office/drawing/2014/main" id="{F324E56F-1ACB-FB55-AD5D-4D7BE1F5AB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88" y="2968626"/>
            <a:ext cx="1198562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800"/>
              <a:t>imm[10:1]</a:t>
            </a:r>
            <a:endParaRPr lang="en-AU" altLang="en-US" sz="1800"/>
          </a:p>
        </p:txBody>
      </p:sp>
      <p:sp>
        <p:nvSpPr>
          <p:cNvPr id="108563" name="Text Box 11">
            <a:extLst>
              <a:ext uri="{FF2B5EF4-FFF2-40B4-BE49-F238E27FC236}">
                <a16:creationId xmlns:a16="http://schemas.microsoft.com/office/drawing/2014/main" id="{F49D3657-E162-C5E7-7DD7-5547A30759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08663" y="2968626"/>
            <a:ext cx="1327150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ts val="16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1800"/>
              <a:t>imm[19:12]</a:t>
            </a:r>
            <a:endParaRPr lang="en-AU" altLang="en-US" sz="18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FB369C0-C69F-DE84-B715-A2DEE96E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RISC-V Addressing Summary</a:t>
            </a:r>
          </a:p>
        </p:txBody>
      </p:sp>
      <p:pic>
        <p:nvPicPr>
          <p:cNvPr id="110596" name="Picture 1">
            <a:extLst>
              <a:ext uri="{FF2B5EF4-FFF2-40B4-BE49-F238E27FC236}">
                <a16:creationId xmlns:a16="http://schemas.microsoft.com/office/drawing/2014/main" id="{302A62AF-E4BA-0065-5692-A496D0DD0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268414"/>
            <a:ext cx="7559675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Title 1">
            <a:extLst>
              <a:ext uri="{FF2B5EF4-FFF2-40B4-BE49-F238E27FC236}">
                <a16:creationId xmlns:a16="http://schemas.microsoft.com/office/drawing/2014/main" id="{946BFE8D-ED2D-D8F6-174A-F7F942293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RISC-V Encoding Summary</a:t>
            </a:r>
          </a:p>
        </p:txBody>
      </p:sp>
      <p:pic>
        <p:nvPicPr>
          <p:cNvPr id="111620" name="Picture 1">
            <a:extLst>
              <a:ext uri="{FF2B5EF4-FFF2-40B4-BE49-F238E27FC236}">
                <a16:creationId xmlns:a16="http://schemas.microsoft.com/office/drawing/2014/main" id="{121CB0EA-C739-6FEF-A03B-2B7654ACA3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44" y="2216051"/>
            <a:ext cx="11475112" cy="2341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B7236740-0B21-7103-0C35-F39F07FDC4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RISC-V Multiplication</a:t>
            </a:r>
            <a:endParaRPr lang="en-AU" altLang="en-US"/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EA9D3DE3-02A2-0D10-5160-D3B8E40727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Four multiply instructions:</a:t>
            </a:r>
          </a:p>
          <a:p>
            <a:pPr lvl="1" eaLnBrk="1" hangingPunct="1"/>
            <a:r>
              <a:rPr lang="en-US" altLang="en-US"/>
              <a:t>mul:  multiply</a:t>
            </a:r>
          </a:p>
          <a:p>
            <a:pPr lvl="2" eaLnBrk="1" hangingPunct="1"/>
            <a:r>
              <a:rPr lang="en-US" altLang="en-US"/>
              <a:t>Gives the lower 64 bits of the product</a:t>
            </a:r>
          </a:p>
          <a:p>
            <a:pPr lvl="1" eaLnBrk="1" hangingPunct="1"/>
            <a:r>
              <a:rPr lang="en-US" altLang="en-US"/>
              <a:t>mulh:  multiply high</a:t>
            </a:r>
          </a:p>
          <a:p>
            <a:pPr lvl="2" eaLnBrk="1" hangingPunct="1"/>
            <a:r>
              <a:rPr lang="en-US" altLang="en-US"/>
              <a:t>Gives the upper 64 bits of the product, assuming the operands are signed</a:t>
            </a:r>
          </a:p>
          <a:p>
            <a:pPr lvl="1" eaLnBrk="1" hangingPunct="1"/>
            <a:r>
              <a:rPr lang="en-US" altLang="en-US"/>
              <a:t>mulhu:  multiply high unsigned</a:t>
            </a:r>
          </a:p>
          <a:p>
            <a:pPr lvl="2" eaLnBrk="1" hangingPunct="1"/>
            <a:r>
              <a:rPr lang="en-US" altLang="en-US"/>
              <a:t>Gives the upper 64 bits of the product, assuming the operands are unsigned</a:t>
            </a:r>
          </a:p>
          <a:p>
            <a:pPr lvl="1" eaLnBrk="1" hangingPunct="1"/>
            <a:r>
              <a:rPr lang="en-US" altLang="en-US"/>
              <a:t>mulhsu:  multiply high signed/unsigned</a:t>
            </a:r>
          </a:p>
          <a:p>
            <a:pPr lvl="2" eaLnBrk="1" hangingPunct="1"/>
            <a:r>
              <a:rPr lang="en-US" altLang="en-US"/>
              <a:t>Gives the upper 64 bits of the product, assuming one operand is signed and the other unsigned</a:t>
            </a:r>
          </a:p>
          <a:p>
            <a:pPr lvl="1" eaLnBrk="1" hangingPunct="1"/>
            <a:r>
              <a:rPr lang="en-US" altLang="en-US"/>
              <a:t>Use mulh result to check for 64-bit overflow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AA37F7A2-425B-D8B8-EBFD-EDB9ADEAE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RISC-V Division</a:t>
            </a:r>
            <a:endParaRPr lang="en-AU" altLang="en-US" dirty="0"/>
          </a:p>
        </p:txBody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0556EE3E-F6FA-9BA5-E58E-A8955F90D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Four instructions:</a:t>
            </a:r>
          </a:p>
          <a:p>
            <a:pPr lvl="1" eaLnBrk="1" hangingPunct="1"/>
            <a:r>
              <a:rPr lang="en-US" altLang="en-US"/>
              <a:t>div, rem: signed divide, remainder</a:t>
            </a:r>
          </a:p>
          <a:p>
            <a:pPr lvl="1" eaLnBrk="1" hangingPunct="1"/>
            <a:r>
              <a:rPr lang="en-US" altLang="en-US"/>
              <a:t>divu, remu: unsigned divide, remainder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Overflow and division-by-zero don’t produce errors</a:t>
            </a:r>
          </a:p>
          <a:p>
            <a:pPr lvl="1" eaLnBrk="1" hangingPunct="1"/>
            <a:r>
              <a:rPr lang="en-US" altLang="en-US"/>
              <a:t>Just return defined results</a:t>
            </a:r>
          </a:p>
          <a:p>
            <a:pPr lvl="1" eaLnBrk="1" hangingPunct="1"/>
            <a:r>
              <a:rPr lang="en-US" altLang="en-US"/>
              <a:t>Faster for the common case of no error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399" y="0"/>
            <a:ext cx="6192413" cy="6165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+mj-lt"/>
                <a:ea typeface="+mj-ea"/>
                <a:cs typeface="+mj-cs"/>
              </a:rPr>
              <a:t>CSR and ECALL Instructions</a:t>
            </a:r>
          </a:p>
          <a:p>
            <a:pPr marL="399415" marR="619125" indent="-387350">
              <a:lnSpc>
                <a:spcPct val="100000"/>
              </a:lnSpc>
              <a:spcBef>
                <a:spcPts val="2570"/>
              </a:spcBef>
              <a:buFont typeface="Arial MT"/>
              <a:buChar char="•"/>
              <a:tabLst>
                <a:tab pos="399415" algn="l"/>
                <a:tab pos="400050" algn="l"/>
              </a:tabLst>
            </a:pPr>
            <a:r>
              <a:rPr sz="2500" b="1" spc="-10" dirty="0">
                <a:solidFill>
                  <a:srgbClr val="3B3B3B"/>
                </a:solidFill>
                <a:latin typeface="Calibri"/>
                <a:cs typeface="Calibri"/>
              </a:rPr>
              <a:t>Control</a:t>
            </a:r>
            <a:r>
              <a:rPr sz="25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5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Status</a:t>
            </a:r>
            <a:r>
              <a:rPr sz="25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Registers</a:t>
            </a:r>
            <a:r>
              <a:rPr sz="25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(CSRs)</a:t>
            </a:r>
            <a:r>
              <a:rPr sz="25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have</a:t>
            </a:r>
            <a:r>
              <a:rPr sz="25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their</a:t>
            </a:r>
            <a:r>
              <a:rPr sz="25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own</a:t>
            </a:r>
            <a:r>
              <a:rPr sz="25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dedicated </a:t>
            </a:r>
            <a:r>
              <a:rPr sz="2500" b="1" spc="-5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instructions :</a:t>
            </a:r>
            <a:endParaRPr sz="2500" dirty="0">
              <a:latin typeface="Calibri"/>
              <a:cs typeface="Calibri"/>
            </a:endParaRPr>
          </a:p>
          <a:p>
            <a:pPr marL="856615" lvl="1" indent="-3752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856615" algn="l"/>
                <a:tab pos="857250" algn="l"/>
              </a:tabLst>
            </a:pPr>
            <a:r>
              <a:rPr sz="2300" dirty="0">
                <a:latin typeface="Calibri"/>
                <a:cs typeface="Calibri"/>
              </a:rPr>
              <a:t>Read/Write</a:t>
            </a:r>
          </a:p>
          <a:p>
            <a:pPr marL="856615" lvl="1" indent="-375285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856615" algn="l"/>
                <a:tab pos="857250" algn="l"/>
              </a:tabLst>
            </a:pPr>
            <a:r>
              <a:rPr sz="2300" dirty="0">
                <a:latin typeface="Calibri"/>
                <a:cs typeface="Calibri"/>
              </a:rPr>
              <a:t>Read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Set bit</a:t>
            </a:r>
            <a:endParaRPr sz="2300" dirty="0">
              <a:latin typeface="Calibri"/>
              <a:cs typeface="Calibri"/>
            </a:endParaRPr>
          </a:p>
          <a:p>
            <a:pPr marL="856615" lvl="1" indent="-375285">
              <a:lnSpc>
                <a:spcPts val="2755"/>
              </a:lnSpc>
              <a:buFont typeface="Arial MT"/>
              <a:buChar char="–"/>
              <a:tabLst>
                <a:tab pos="856615" algn="l"/>
                <a:tab pos="857250" algn="l"/>
              </a:tabLst>
            </a:pPr>
            <a:r>
              <a:rPr sz="2300" dirty="0">
                <a:latin typeface="Calibri"/>
                <a:cs typeface="Calibri"/>
              </a:rPr>
              <a:t>Read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and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Clear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bit</a:t>
            </a:r>
            <a:endParaRPr sz="2300" dirty="0">
              <a:latin typeface="Calibri"/>
              <a:cs typeface="Calibri"/>
            </a:endParaRPr>
          </a:p>
          <a:p>
            <a:pPr marL="399415" marR="862330" indent="-387350">
              <a:lnSpc>
                <a:spcPts val="3000"/>
              </a:lnSpc>
              <a:spcBef>
                <a:spcPts val="95"/>
              </a:spcBef>
              <a:buFont typeface="Arial MT"/>
              <a:buChar char="•"/>
              <a:tabLst>
                <a:tab pos="399415" algn="l"/>
                <a:tab pos="400050" algn="l"/>
              </a:tabLst>
            </a:pP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Environment</a:t>
            </a:r>
            <a:r>
              <a:rPr sz="25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3B3B3B"/>
                </a:solidFill>
                <a:latin typeface="Calibri"/>
                <a:cs typeface="Calibri"/>
              </a:rPr>
              <a:t>Call</a:t>
            </a:r>
            <a:r>
              <a:rPr sz="25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instruction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used to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transfer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control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25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the </a:t>
            </a:r>
            <a:r>
              <a:rPr sz="2500" b="1" spc="-5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execution </a:t>
            </a:r>
            <a:r>
              <a:rPr sz="2500" b="1" spc="-10" dirty="0">
                <a:solidFill>
                  <a:srgbClr val="3B3B3B"/>
                </a:solidFill>
                <a:latin typeface="Calibri"/>
                <a:cs typeface="Calibri"/>
              </a:rPr>
              <a:t>environment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5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higher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5" dirty="0">
                <a:solidFill>
                  <a:srgbClr val="3B3B3B"/>
                </a:solidFill>
                <a:latin typeface="Calibri"/>
                <a:cs typeface="Calibri"/>
              </a:rPr>
              <a:t>privileged</a:t>
            </a:r>
            <a:r>
              <a:rPr sz="25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500" b="1" spc="-10" dirty="0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endParaRPr sz="2500" dirty="0">
              <a:latin typeface="Calibri"/>
              <a:cs typeface="Calibri"/>
            </a:endParaRPr>
          </a:p>
          <a:p>
            <a:pPr marL="856615" lvl="1" indent="-375285">
              <a:lnSpc>
                <a:spcPts val="2670"/>
              </a:lnSpc>
              <a:buFont typeface="Arial MT"/>
              <a:buChar char="–"/>
              <a:tabLst>
                <a:tab pos="856615" algn="l"/>
                <a:tab pos="857250" algn="l"/>
              </a:tabLst>
            </a:pPr>
            <a:r>
              <a:rPr sz="2300" spc="-5" dirty="0">
                <a:latin typeface="Calibri"/>
                <a:cs typeface="Calibri"/>
              </a:rPr>
              <a:t>Triggers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5" dirty="0">
                <a:latin typeface="Calibri"/>
                <a:cs typeface="Calibri"/>
              </a:rPr>
              <a:t>synchronous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Interrupt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(discussed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later)</a:t>
            </a:r>
          </a:p>
          <a:p>
            <a:pPr marL="856615" marR="5080" lvl="1" indent="-375285">
              <a:lnSpc>
                <a:spcPct val="100000"/>
              </a:lnSpc>
              <a:buFont typeface="Arial MT"/>
              <a:buChar char="–"/>
              <a:tabLst>
                <a:tab pos="856615" algn="l"/>
                <a:tab pos="857250" algn="l"/>
              </a:tabLst>
            </a:pPr>
            <a:r>
              <a:rPr sz="2300" spc="-5" dirty="0">
                <a:latin typeface="Calibri"/>
                <a:cs typeface="Calibri"/>
              </a:rPr>
              <a:t>Example: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User </a:t>
            </a:r>
            <a:r>
              <a:rPr sz="2300" spc="-5" dirty="0">
                <a:latin typeface="Calibri"/>
                <a:cs typeface="Calibri"/>
              </a:rPr>
              <a:t>mode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program </a:t>
            </a:r>
            <a:r>
              <a:rPr sz="2300" dirty="0">
                <a:latin typeface="Calibri"/>
                <a:cs typeface="Calibri"/>
              </a:rPr>
              <a:t>can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use </a:t>
            </a:r>
            <a:r>
              <a:rPr sz="2300" dirty="0">
                <a:latin typeface="Calibri"/>
                <a:cs typeface="Calibri"/>
              </a:rPr>
              <a:t>an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ECALL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to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transfer </a:t>
            </a:r>
            <a:r>
              <a:rPr sz="2300" spc="-5" dirty="0">
                <a:latin typeface="Calibri"/>
                <a:cs typeface="Calibri"/>
              </a:rPr>
              <a:t>control</a:t>
            </a:r>
            <a:r>
              <a:rPr sz="2300" dirty="0">
                <a:latin typeface="Calibri"/>
                <a:cs typeface="Calibri"/>
              </a:rPr>
              <a:t> to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5" dirty="0">
                <a:latin typeface="Calibri"/>
                <a:cs typeface="Calibri"/>
              </a:rPr>
              <a:t> Machine</a:t>
            </a:r>
            <a:r>
              <a:rPr sz="230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mode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OS</a:t>
            </a:r>
            <a:r>
              <a:rPr sz="2300" dirty="0">
                <a:latin typeface="Calibri"/>
                <a:cs typeface="Calibri"/>
              </a:rPr>
              <a:t> kernel,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aka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System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Call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87</a:t>
            </a:fld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79BA02-4C57-2631-016F-0907A1E58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7" t="4374" r="5657" b="9969"/>
          <a:stretch/>
        </p:blipFill>
        <p:spPr>
          <a:xfrm>
            <a:off x="6096000" y="1759974"/>
            <a:ext cx="6041255" cy="3187206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-1418"/>
            <a:ext cx="1000415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What</a:t>
            </a:r>
            <a:r>
              <a:rPr spc="-150" dirty="0"/>
              <a:t> </a:t>
            </a:r>
            <a:r>
              <a:rPr spc="-125" dirty="0"/>
              <a:t>are</a:t>
            </a:r>
            <a:r>
              <a:rPr spc="-145" dirty="0"/>
              <a:t> </a:t>
            </a:r>
            <a:r>
              <a:rPr spc="-70" dirty="0"/>
              <a:t>Control</a:t>
            </a:r>
            <a:r>
              <a:rPr spc="-120" dirty="0"/>
              <a:t> </a:t>
            </a:r>
            <a:r>
              <a:rPr spc="-70" dirty="0"/>
              <a:t>and</a:t>
            </a:r>
            <a:r>
              <a:rPr spc="-145" dirty="0"/>
              <a:t> </a:t>
            </a:r>
            <a:r>
              <a:rPr spc="-105" dirty="0"/>
              <a:t>Status</a:t>
            </a:r>
            <a:r>
              <a:rPr spc="-150" dirty="0"/>
              <a:t> </a:t>
            </a:r>
            <a:r>
              <a:rPr spc="-100" dirty="0"/>
              <a:t>Registers</a:t>
            </a:r>
            <a:r>
              <a:rPr spc="-135" dirty="0"/>
              <a:t> </a:t>
            </a:r>
            <a:r>
              <a:rPr spc="-220" dirty="0"/>
              <a:t>(CSRs)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3139" y="999235"/>
            <a:ext cx="9781698" cy="5396477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393700" marR="5080" indent="-381000">
              <a:lnSpc>
                <a:spcPts val="2300"/>
              </a:lnSpc>
              <a:spcBef>
                <a:spcPts val="660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CSRs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are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Registers which contain the working</a:t>
            </a:r>
            <a:endParaRPr lang="en-US" sz="3600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pPr marL="12700" marR="5080">
              <a:lnSpc>
                <a:spcPts val="2300"/>
              </a:lnSpc>
              <a:spcBef>
                <a:spcPts val="660"/>
              </a:spcBef>
              <a:tabLst>
                <a:tab pos="393065" algn="l"/>
                <a:tab pos="393700" algn="l"/>
              </a:tabLst>
            </a:pP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state</a:t>
            </a:r>
            <a:r>
              <a:rPr sz="3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sz="36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RISC-V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machine</a:t>
            </a:r>
            <a:endParaRPr sz="36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3B3B3B"/>
              </a:buClr>
              <a:buFont typeface="Arial MT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93700" indent="-381000">
              <a:lnSpc>
                <a:spcPts val="2675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CSRs</a:t>
            </a:r>
            <a:r>
              <a:rPr sz="36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are</a:t>
            </a:r>
            <a:r>
              <a:rPr sz="36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specific</a:t>
            </a:r>
            <a:r>
              <a:rPr sz="36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36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36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endParaRPr sz="3600" dirty="0">
              <a:latin typeface="Calibri"/>
              <a:cs typeface="Calibri"/>
            </a:endParaRPr>
          </a:p>
          <a:p>
            <a:pPr marL="850265" marR="16510" lvl="1" indent="-342900">
              <a:lnSpc>
                <a:spcPct val="80000"/>
              </a:lnSpc>
              <a:spcBef>
                <a:spcPts val="225"/>
              </a:spcBef>
              <a:buFont typeface="Arial MT"/>
              <a:buChar char="–"/>
              <a:tabLst>
                <a:tab pos="850265" algn="l"/>
                <a:tab pos="850900" algn="l"/>
              </a:tabLst>
            </a:pP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" dirty="0">
                <a:latin typeface="Calibri"/>
                <a:cs typeface="Calibri"/>
              </a:rPr>
              <a:t> ~17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CSRs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(not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including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performance </a:t>
            </a:r>
            <a:r>
              <a:rPr sz="2800" spc="-3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monitor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CSRs)</a:t>
            </a:r>
            <a:endParaRPr sz="2800" dirty="0">
              <a:latin typeface="Calibri"/>
              <a:cs typeface="Calibri"/>
            </a:endParaRPr>
          </a:p>
          <a:p>
            <a:pPr marL="850265" marR="52069" lvl="1" indent="-342900">
              <a:lnSpc>
                <a:spcPct val="80000"/>
              </a:lnSpc>
              <a:buFont typeface="Arial MT"/>
              <a:buChar char="–"/>
              <a:tabLst>
                <a:tab pos="850265" algn="l"/>
                <a:tab pos="850900" algn="l"/>
              </a:tabLst>
            </a:pPr>
            <a:r>
              <a:rPr sz="2800" spc="-5" dirty="0">
                <a:latin typeface="Calibri"/>
                <a:cs typeface="Calibri"/>
              </a:rPr>
              <a:t>Supervisor Mode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 a</a:t>
            </a:r>
            <a:r>
              <a:rPr sz="2800" spc="-5" dirty="0">
                <a:latin typeface="Calibri"/>
                <a:cs typeface="Calibri"/>
              </a:rPr>
              <a:t> similar</a:t>
            </a:r>
            <a:r>
              <a:rPr sz="2800" dirty="0">
                <a:latin typeface="Calibri"/>
                <a:cs typeface="Calibri"/>
              </a:rPr>
              <a:t> number,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though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most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 </a:t>
            </a:r>
            <a:r>
              <a:rPr sz="2800" spc="-39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subsets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dirty="0">
                <a:latin typeface="Calibri"/>
                <a:cs typeface="Calibri"/>
              </a:rPr>
              <a:t>their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equivalent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Mode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CSRs</a:t>
            </a:r>
            <a:endParaRPr lang="en-US" sz="2800" spc="-5" dirty="0">
              <a:latin typeface="Calibri"/>
              <a:cs typeface="Calibri"/>
            </a:endParaRPr>
          </a:p>
          <a:p>
            <a:pPr marL="850265" marR="52069" lvl="1" indent="-342900">
              <a:lnSpc>
                <a:spcPct val="80000"/>
              </a:lnSpc>
              <a:buFont typeface="Arial MT"/>
              <a:buChar char="–"/>
              <a:tabLst>
                <a:tab pos="850265" algn="l"/>
                <a:tab pos="850900" algn="l"/>
              </a:tabLst>
            </a:pPr>
            <a:endParaRPr sz="2800" dirty="0">
              <a:latin typeface="Calibri"/>
              <a:cs typeface="Calibri"/>
            </a:endParaRPr>
          </a:p>
          <a:p>
            <a:pPr marL="1308100" lvl="2" indent="-344170">
              <a:lnSpc>
                <a:spcPts val="1730"/>
              </a:lnSpc>
              <a:buFont typeface="Arial MT"/>
              <a:buChar char="•"/>
              <a:tabLst>
                <a:tab pos="1308100" algn="l"/>
                <a:tab pos="1308735" algn="l"/>
              </a:tabLst>
            </a:pPr>
            <a:r>
              <a:rPr sz="2800" spc="-5" dirty="0">
                <a:latin typeface="Calibri"/>
                <a:cs typeface="Calibri"/>
              </a:rPr>
              <a:t>Machine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Mode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also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access Supervisor CSRs</a:t>
            </a:r>
            <a:endParaRPr sz="2800" dirty="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Clr>
                <a:srgbClr val="797979"/>
              </a:buClr>
              <a:buFont typeface="Arial MT"/>
              <a:buChar char="•"/>
            </a:pPr>
            <a:endParaRPr sz="3200" dirty="0">
              <a:latin typeface="Calibri"/>
              <a:cs typeface="Calibri"/>
            </a:endParaRPr>
          </a:p>
          <a:p>
            <a:pPr marL="393700" marR="597535" indent="-381000">
              <a:lnSpc>
                <a:spcPct val="80000"/>
              </a:lnSpc>
              <a:spcBef>
                <a:spcPts val="131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CSRs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are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defined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in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the </a:t>
            </a:r>
            <a:r>
              <a:rPr sz="3600" b="1" dirty="0">
                <a:solidFill>
                  <a:srgbClr val="3B3B3B"/>
                </a:solidFill>
                <a:latin typeface="Calibri"/>
                <a:cs typeface="Calibri"/>
              </a:rPr>
              <a:t>RISC-V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privileged </a:t>
            </a:r>
            <a:r>
              <a:rPr sz="36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3600" b="1" spc="-5" dirty="0">
                <a:solidFill>
                  <a:srgbClr val="3B3B3B"/>
                </a:solidFill>
                <a:latin typeface="Calibri"/>
                <a:cs typeface="Calibri"/>
              </a:rPr>
              <a:t>specification</a:t>
            </a:r>
            <a:endParaRPr sz="3600" dirty="0">
              <a:latin typeface="Calibri"/>
              <a:cs typeface="Calibri"/>
            </a:endParaRPr>
          </a:p>
          <a:p>
            <a:pPr marL="850900" lvl="1" indent="-342900">
              <a:lnSpc>
                <a:spcPts val="1750"/>
              </a:lnSpc>
              <a:buFont typeface="Arial MT"/>
              <a:buChar char="–"/>
              <a:tabLst>
                <a:tab pos="850265" algn="l"/>
                <a:tab pos="850900" algn="l"/>
              </a:tabLst>
            </a:pPr>
            <a:r>
              <a:rPr sz="2800" spc="-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will</a:t>
            </a:r>
            <a:r>
              <a:rPr sz="2800" spc="-5" dirty="0">
                <a:latin typeface="Calibri"/>
                <a:cs typeface="Calibri"/>
              </a:rPr>
              <a:t> cover</a:t>
            </a:r>
            <a:r>
              <a:rPr sz="2800" dirty="0">
                <a:latin typeface="Calibri"/>
                <a:cs typeface="Calibri"/>
              </a:rPr>
              <a:t> 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few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key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CSRs </a:t>
            </a:r>
            <a:r>
              <a:rPr sz="2800" dirty="0">
                <a:latin typeface="Calibri"/>
                <a:cs typeface="Calibri"/>
              </a:rPr>
              <a:t>here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88</a:t>
            </a:fld>
            <a:endParaRPr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-1418"/>
            <a:ext cx="723267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Ide</a:t>
            </a:r>
            <a:r>
              <a:rPr spc="-195" dirty="0"/>
              <a:t>n</a:t>
            </a:r>
            <a:r>
              <a:rPr spc="-75" dirty="0"/>
              <a:t>ti</a:t>
            </a:r>
            <a:r>
              <a:rPr spc="-90" dirty="0"/>
              <a:t>f</a:t>
            </a:r>
            <a:r>
              <a:rPr spc="-65" dirty="0"/>
              <a:t>ic</a:t>
            </a:r>
            <a:r>
              <a:rPr spc="-105" dirty="0"/>
              <a:t>a</a:t>
            </a:r>
            <a:r>
              <a:rPr spc="-70" dirty="0"/>
              <a:t>tion</a:t>
            </a:r>
            <a:r>
              <a:rPr spc="-114" dirty="0"/>
              <a:t> </a:t>
            </a:r>
            <a:r>
              <a:rPr spc="-105" dirty="0"/>
              <a:t>CSRs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9047" y="1251965"/>
            <a:ext cx="6428128" cy="398970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665" indent="-355600">
              <a:lnSpc>
                <a:spcPts val="2160"/>
              </a:lnSpc>
              <a:spcBef>
                <a:spcPts val="105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latin typeface="Calibri"/>
                <a:cs typeface="Calibri"/>
              </a:rPr>
              <a:t>misa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–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Machine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ISA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Register</a:t>
            </a:r>
            <a:endParaRPr sz="2000" dirty="0">
              <a:latin typeface="Calibri"/>
              <a:cs typeface="Calibri"/>
            </a:endParaRPr>
          </a:p>
          <a:p>
            <a:pPr marL="824865" marR="5080" lvl="1" indent="-355600">
              <a:lnSpc>
                <a:spcPct val="80000"/>
              </a:lnSpc>
              <a:spcBef>
                <a:spcPts val="240"/>
              </a:spcBef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000" dirty="0">
                <a:latin typeface="Calibri"/>
                <a:cs typeface="Calibri"/>
              </a:rPr>
              <a:t>Reports the ISA </a:t>
            </a:r>
            <a:r>
              <a:rPr sz="2000" spc="-5" dirty="0">
                <a:latin typeface="Calibri"/>
                <a:cs typeface="Calibri"/>
              </a:rPr>
              <a:t>supported by </a:t>
            </a:r>
            <a:r>
              <a:rPr sz="2000" dirty="0">
                <a:latin typeface="Calibri"/>
                <a:cs typeface="Calibri"/>
              </a:rPr>
              <a:t>the hart </a:t>
            </a:r>
            <a:r>
              <a:rPr sz="2000" spc="-5" dirty="0">
                <a:latin typeface="Calibri"/>
                <a:cs typeface="Calibri"/>
              </a:rPr>
              <a:t>(i.e.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RV32</a:t>
            </a:r>
            <a:r>
              <a:rPr lang="en-US" sz="2000" dirty="0">
                <a:latin typeface="Calibri"/>
                <a:cs typeface="Calibri"/>
              </a:rPr>
              <a:t>bit , 64bit, 128bit</a:t>
            </a:r>
            <a:r>
              <a:rPr sz="2000" dirty="0">
                <a:latin typeface="Calibri"/>
                <a:cs typeface="Calibri"/>
              </a:rPr>
              <a:t>)</a:t>
            </a:r>
          </a:p>
          <a:p>
            <a:pPr marL="367665" indent="-355600">
              <a:lnSpc>
                <a:spcPts val="2160"/>
              </a:lnSpc>
              <a:spcBef>
                <a:spcPts val="14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latin typeface="Calibri"/>
                <a:cs typeface="Calibri"/>
              </a:rPr>
              <a:t>mhartid</a:t>
            </a:r>
            <a:r>
              <a:rPr sz="2000" b="1" i="1" spc="-5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–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Machine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hart</a:t>
            </a:r>
            <a:r>
              <a:rPr lang="en-US" sz="2000" b="1" spc="-5" dirty="0">
                <a:latin typeface="Calibri"/>
                <a:cs typeface="Calibri"/>
              </a:rPr>
              <a:t>/Core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</a:t>
            </a:r>
            <a:endParaRPr sz="2000" dirty="0">
              <a:latin typeface="Calibri"/>
              <a:cs typeface="Calibri"/>
            </a:endParaRPr>
          </a:p>
          <a:p>
            <a:pPr marL="824865" lvl="1" indent="-355600">
              <a:lnSpc>
                <a:spcPts val="2160"/>
              </a:lnSpc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000" dirty="0">
                <a:latin typeface="Calibri"/>
                <a:cs typeface="Calibri"/>
              </a:rPr>
              <a:t>Integer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Hardware Thread</a:t>
            </a:r>
            <a:r>
              <a:rPr lang="en-US" sz="2000" spc="-5" dirty="0">
                <a:latin typeface="Calibri"/>
                <a:cs typeface="Calibri"/>
              </a:rPr>
              <a:t> (Core)</a:t>
            </a:r>
            <a:endParaRPr sz="2000" dirty="0">
              <a:latin typeface="Calibri"/>
              <a:cs typeface="Calibri"/>
            </a:endParaRPr>
          </a:p>
          <a:p>
            <a:pPr marL="367665" indent="-355600">
              <a:lnSpc>
                <a:spcPts val="2160"/>
              </a:lnSpc>
              <a:spcBef>
                <a:spcPts val="14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b="1" i="1" spc="-5" dirty="0">
                <a:latin typeface="Calibri"/>
                <a:cs typeface="Calibri"/>
              </a:rPr>
              <a:t>mvendorid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–</a:t>
            </a:r>
            <a:r>
              <a:rPr sz="2000" b="1" spc="-5" dirty="0">
                <a:latin typeface="Calibri"/>
                <a:cs typeface="Calibri"/>
              </a:rPr>
              <a:t> Machine Vendor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</a:t>
            </a:r>
            <a:endParaRPr sz="2000" dirty="0">
              <a:latin typeface="Calibri"/>
              <a:cs typeface="Calibri"/>
            </a:endParaRPr>
          </a:p>
          <a:p>
            <a:pPr marL="824865" lvl="1" indent="-355600">
              <a:lnSpc>
                <a:spcPts val="2160"/>
              </a:lnSpc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000" dirty="0">
                <a:latin typeface="Calibri"/>
                <a:cs typeface="Calibri"/>
              </a:rPr>
              <a:t>JEDEC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Vendor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</a:t>
            </a:r>
          </a:p>
          <a:p>
            <a:pPr marL="367665" indent="-355600">
              <a:lnSpc>
                <a:spcPts val="2160"/>
              </a:lnSpc>
              <a:spcBef>
                <a:spcPts val="14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latin typeface="Calibri"/>
                <a:cs typeface="Calibri"/>
              </a:rPr>
              <a:t>marchid</a:t>
            </a:r>
            <a:r>
              <a:rPr sz="2000" b="1" i="1" spc="-5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–</a:t>
            </a:r>
            <a:r>
              <a:rPr sz="2000" b="1" i="1" spc="-5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Machine Architecture</a:t>
            </a:r>
            <a:r>
              <a:rPr sz="2000" b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</a:t>
            </a:r>
            <a:endParaRPr sz="2000" dirty="0">
              <a:latin typeface="Calibri"/>
              <a:cs typeface="Calibri"/>
            </a:endParaRPr>
          </a:p>
          <a:p>
            <a:pPr marL="824865" marR="239395" lvl="1" indent="-355600">
              <a:lnSpc>
                <a:spcPct val="80000"/>
              </a:lnSpc>
              <a:spcBef>
                <a:spcPts val="240"/>
              </a:spcBef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000" spc="-5" dirty="0">
                <a:latin typeface="Calibri"/>
                <a:cs typeface="Calibri"/>
              </a:rPr>
              <a:t>Used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along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mvendorid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identify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implementation.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format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specified</a:t>
            </a:r>
            <a:endParaRPr sz="2000" dirty="0">
              <a:latin typeface="Calibri"/>
              <a:cs typeface="Calibri"/>
            </a:endParaRPr>
          </a:p>
          <a:p>
            <a:pPr marL="367665" indent="-355600">
              <a:lnSpc>
                <a:spcPts val="2160"/>
              </a:lnSpc>
              <a:spcBef>
                <a:spcPts val="1440"/>
              </a:spcBef>
              <a:buFont typeface="Arial MT"/>
              <a:buChar char="•"/>
              <a:tabLst>
                <a:tab pos="367665" algn="l"/>
                <a:tab pos="368300" algn="l"/>
              </a:tabLst>
            </a:pPr>
            <a:r>
              <a:rPr sz="2000" b="1" i="1" dirty="0">
                <a:latin typeface="Calibri"/>
                <a:cs typeface="Calibri"/>
              </a:rPr>
              <a:t>mimpid</a:t>
            </a:r>
            <a:r>
              <a:rPr sz="2000" b="1" i="1" spc="-3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-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Machine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Implementation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ID</a:t>
            </a:r>
            <a:endParaRPr sz="2000" dirty="0">
              <a:latin typeface="Calibri"/>
              <a:cs typeface="Calibri"/>
            </a:endParaRPr>
          </a:p>
          <a:p>
            <a:pPr marL="824865" lvl="1" indent="-355600">
              <a:lnSpc>
                <a:spcPts val="2160"/>
              </a:lnSpc>
              <a:buFont typeface="Arial MT"/>
              <a:buChar char="–"/>
              <a:tabLst>
                <a:tab pos="824865" algn="l"/>
                <a:tab pos="825500" algn="l"/>
              </a:tabLst>
            </a:pPr>
            <a:r>
              <a:rPr sz="2000" spc="-5" dirty="0">
                <a:latin typeface="Calibri"/>
                <a:cs typeface="Calibri"/>
              </a:rPr>
              <a:t>Implementation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defined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format</a:t>
            </a:r>
            <a:endParaRPr sz="20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716011" y="2036064"/>
            <a:ext cx="2998470" cy="3027045"/>
            <a:chOff x="7716011" y="2036064"/>
            <a:chExt cx="2998470" cy="302704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16011" y="2036064"/>
              <a:ext cx="2998020" cy="302666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52726" y="2708135"/>
              <a:ext cx="1603463" cy="1293126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89</a:t>
            </a:fld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B6A92-7684-42E1-CC50-071DE0A28244}"/>
              </a:ext>
            </a:extLst>
          </p:cNvPr>
          <p:cNvSpPr txBox="1"/>
          <p:nvPr/>
        </p:nvSpPr>
        <p:spPr>
          <a:xfrm>
            <a:off x="914400" y="5740924"/>
            <a:ext cx="70323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Note: In RISC V Architecture we call Core as hart(hardware Thread)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9550" y="243678"/>
            <a:ext cx="1160138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</a:t>
            </a:r>
            <a:r>
              <a:rPr spc="-55" dirty="0"/>
              <a:t>a</a:t>
            </a:r>
            <a:r>
              <a:rPr spc="-20" dirty="0"/>
              <a:t>c</a:t>
            </a:r>
            <a:r>
              <a:rPr spc="-35" dirty="0"/>
              <a:t>h</a:t>
            </a:r>
            <a:r>
              <a:rPr spc="-75" dirty="0"/>
              <a:t>ine</a:t>
            </a:r>
            <a:r>
              <a:rPr spc="-155" dirty="0"/>
              <a:t> </a:t>
            </a:r>
            <a:r>
              <a:rPr spc="-175" dirty="0"/>
              <a:t>S</a:t>
            </a:r>
            <a:r>
              <a:rPr spc="-70" dirty="0"/>
              <a:t>t</a:t>
            </a:r>
            <a:r>
              <a:rPr spc="-114" dirty="0"/>
              <a:t>a</a:t>
            </a:r>
            <a:r>
              <a:rPr spc="-45" dirty="0"/>
              <a:t>t</a:t>
            </a:r>
            <a:r>
              <a:rPr spc="-80" dirty="0"/>
              <a:t>u</a:t>
            </a:r>
            <a:r>
              <a:rPr spc="-150" dirty="0"/>
              <a:t>s</a:t>
            </a:r>
            <a:r>
              <a:rPr spc="-145" dirty="0"/>
              <a:t> </a:t>
            </a:r>
            <a:r>
              <a:rPr spc="-450" dirty="0"/>
              <a:t>(</a:t>
            </a:r>
            <a:r>
              <a:rPr i="1" spc="-45" dirty="0">
                <a:latin typeface="Verdana"/>
                <a:cs typeface="Verdana"/>
              </a:rPr>
              <a:t>msta</a:t>
            </a:r>
            <a:r>
              <a:rPr i="1" spc="-40" dirty="0">
                <a:latin typeface="Verdana"/>
                <a:cs typeface="Verdana"/>
              </a:rPr>
              <a:t>t</a:t>
            </a:r>
            <a:r>
              <a:rPr i="1" spc="-114" dirty="0">
                <a:latin typeface="Verdana"/>
                <a:cs typeface="Verdana"/>
              </a:rPr>
              <a:t>u</a:t>
            </a:r>
            <a:r>
              <a:rPr i="1" spc="-105" dirty="0">
                <a:latin typeface="Verdana"/>
                <a:cs typeface="Verdana"/>
              </a:rPr>
              <a:t>s</a:t>
            </a:r>
            <a:r>
              <a:rPr i="1" spc="-450" dirty="0">
                <a:latin typeface="Verdana"/>
                <a:cs typeface="Verdana"/>
              </a:rPr>
              <a:t>)</a:t>
            </a:r>
            <a:r>
              <a:rPr i="1" spc="-120" dirty="0">
                <a:latin typeface="Verdana"/>
                <a:cs typeface="Verdana"/>
              </a:rPr>
              <a:t> </a:t>
            </a:r>
            <a:r>
              <a:rPr spc="-225" dirty="0"/>
              <a:t>-</a:t>
            </a:r>
            <a:r>
              <a:rPr spc="-150" dirty="0"/>
              <a:t> </a:t>
            </a:r>
            <a:r>
              <a:rPr spc="-95" dirty="0"/>
              <a:t>The</a:t>
            </a:r>
            <a:r>
              <a:rPr spc="-145" dirty="0"/>
              <a:t> </a:t>
            </a:r>
            <a:r>
              <a:rPr spc="-75" dirty="0"/>
              <a:t>Mo</a:t>
            </a:r>
            <a:r>
              <a:rPr spc="-65" dirty="0"/>
              <a:t>s</a:t>
            </a:r>
            <a:r>
              <a:rPr spc="-50" dirty="0"/>
              <a:t>t</a:t>
            </a:r>
            <a:r>
              <a:rPr spc="-145" dirty="0"/>
              <a:t> </a:t>
            </a:r>
            <a:r>
              <a:rPr spc="-130" dirty="0"/>
              <a:t>Importa</a:t>
            </a:r>
            <a:r>
              <a:rPr spc="-155" dirty="0"/>
              <a:t>n</a:t>
            </a:r>
            <a:r>
              <a:rPr spc="-50" dirty="0"/>
              <a:t>t</a:t>
            </a:r>
            <a:r>
              <a:rPr spc="-145" dirty="0"/>
              <a:t> </a:t>
            </a:r>
            <a:r>
              <a:rPr spc="-75" dirty="0"/>
              <a:t>C</a:t>
            </a:r>
            <a:r>
              <a:rPr spc="-70" dirty="0"/>
              <a:t>S</a:t>
            </a:r>
            <a:r>
              <a:rPr spc="-114" dirty="0"/>
              <a:t>R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90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16939" y="1846833"/>
            <a:ext cx="434848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Control</a:t>
            </a:r>
            <a:r>
              <a:rPr sz="16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track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hart’s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current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operating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state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36751" y="2381504"/>
          <a:ext cx="4575810" cy="329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Privilege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[10:9]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[12:11]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Privilege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292088" y="2381504"/>
          <a:ext cx="4574539" cy="329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5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R="189865" algn="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[14:13]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FS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85915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Floating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Point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[16:15]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XS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93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Extension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State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2940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MPRIV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758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Modify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Privilege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(access</a:t>
                      </a:r>
                      <a:r>
                        <a:rPr sz="1200" spc="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memory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MPP)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57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Permit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Supervisor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Memory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Access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MXR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6286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Make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Executable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Readable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TVM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3594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Trap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Virtual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memory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TW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4489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Timeout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Wait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(traps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S-Mode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wfi)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TSR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Trap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SRET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[23:30]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R="208279" algn="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[31]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708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State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Dirty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(FS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XS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summary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bit)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5492241" y="5808979"/>
            <a:ext cx="105600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C53927"/>
                </a:solidFill>
                <a:latin typeface="Calibri"/>
                <a:cs typeface="Calibri"/>
              </a:rPr>
              <a:t>RV32</a:t>
            </a:r>
            <a:r>
              <a:rPr sz="1100" spc="1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mstatus</a:t>
            </a:r>
            <a:r>
              <a:rPr sz="1100" i="1" spc="-4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147650"/>
            <a:ext cx="18389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Timer</a:t>
            </a:r>
            <a:r>
              <a:rPr spc="-155" dirty="0"/>
              <a:t> </a:t>
            </a:r>
            <a:r>
              <a:rPr spc="-105" dirty="0"/>
              <a:t>CSRs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27861" y="863346"/>
            <a:ext cx="4467225" cy="30771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99415" indent="-387350">
              <a:lnSpc>
                <a:spcPts val="2865"/>
              </a:lnSpc>
              <a:spcBef>
                <a:spcPts val="95"/>
              </a:spcBef>
              <a:buFont typeface="Arial MT"/>
              <a:buChar char="•"/>
              <a:tabLst>
                <a:tab pos="399415" algn="l"/>
                <a:tab pos="400050" algn="l"/>
              </a:tabLst>
            </a:pPr>
            <a:r>
              <a:rPr sz="2500" b="1" i="1" spc="-5" dirty="0">
                <a:solidFill>
                  <a:srgbClr val="3B3B3B"/>
                </a:solidFill>
                <a:latin typeface="Calibri"/>
                <a:cs typeface="Calibri"/>
              </a:rPr>
              <a:t>mtime</a:t>
            </a:r>
            <a:endParaRPr sz="2500" dirty="0">
              <a:latin typeface="Calibri"/>
              <a:cs typeface="Calibri"/>
            </a:endParaRPr>
          </a:p>
          <a:p>
            <a:pPr marL="857250" marR="112395" lvl="1" indent="-375285">
              <a:lnSpc>
                <a:spcPts val="2480"/>
              </a:lnSpc>
              <a:spcBef>
                <a:spcPts val="180"/>
              </a:spcBef>
              <a:buFont typeface="Arial MT"/>
              <a:buChar char="–"/>
              <a:tabLst>
                <a:tab pos="856615" algn="l"/>
                <a:tab pos="857885" algn="l"/>
              </a:tabLst>
            </a:pPr>
            <a:r>
              <a:rPr sz="2300" spc="-5" dirty="0">
                <a:latin typeface="Calibri"/>
                <a:cs typeface="Calibri"/>
              </a:rPr>
              <a:t>RISC-V </a:t>
            </a:r>
            <a:r>
              <a:rPr sz="2300" dirty="0">
                <a:latin typeface="Calibri"/>
                <a:cs typeface="Calibri"/>
              </a:rPr>
              <a:t>defines a requirement </a:t>
            </a:r>
            <a:r>
              <a:rPr sz="2300" spc="-509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for </a:t>
            </a:r>
            <a:r>
              <a:rPr sz="2300" dirty="0">
                <a:latin typeface="Calibri"/>
                <a:cs typeface="Calibri"/>
              </a:rPr>
              <a:t>a </a:t>
            </a:r>
            <a:r>
              <a:rPr sz="2300" spc="-5" dirty="0">
                <a:latin typeface="Calibri"/>
                <a:cs typeface="Calibri"/>
              </a:rPr>
              <a:t>counter </a:t>
            </a:r>
            <a:r>
              <a:rPr sz="2300" dirty="0">
                <a:latin typeface="Calibri"/>
                <a:cs typeface="Calibri"/>
              </a:rPr>
              <a:t>exposed as a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memory</a:t>
            </a:r>
            <a:r>
              <a:rPr sz="2300" spc="-1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mapped</a:t>
            </a:r>
            <a:r>
              <a:rPr sz="2300" spc="-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register</a:t>
            </a:r>
          </a:p>
          <a:p>
            <a:pPr marL="857250" marR="5080" lvl="1" indent="-375285">
              <a:lnSpc>
                <a:spcPts val="2480"/>
              </a:lnSpc>
              <a:spcBef>
                <a:spcPts val="15"/>
              </a:spcBef>
              <a:buFont typeface="Arial MT"/>
              <a:buChar char="–"/>
              <a:tabLst>
                <a:tab pos="856615" algn="l"/>
                <a:tab pos="857885" algn="l"/>
              </a:tabLst>
            </a:pPr>
            <a:r>
              <a:rPr sz="2300" dirty="0">
                <a:latin typeface="Calibri"/>
                <a:cs typeface="Calibri"/>
              </a:rPr>
              <a:t>There is </a:t>
            </a:r>
            <a:r>
              <a:rPr sz="2300" spc="-5" dirty="0">
                <a:latin typeface="Calibri"/>
                <a:cs typeface="Calibri"/>
              </a:rPr>
              <a:t>no </a:t>
            </a:r>
            <a:r>
              <a:rPr sz="2300" dirty="0">
                <a:latin typeface="Calibri"/>
                <a:cs typeface="Calibri"/>
              </a:rPr>
              <a:t>frequency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requirement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on</a:t>
            </a:r>
            <a:r>
              <a:rPr sz="2300" dirty="0">
                <a:latin typeface="Calibri"/>
                <a:cs typeface="Calibri"/>
              </a:rPr>
              <a:t> the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timer,</a:t>
            </a:r>
            <a:r>
              <a:rPr sz="2300" spc="10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but</a:t>
            </a:r>
            <a:endParaRPr sz="2300" dirty="0">
              <a:latin typeface="Calibri"/>
              <a:cs typeface="Calibri"/>
            </a:endParaRPr>
          </a:p>
          <a:p>
            <a:pPr marL="1314450" lvl="2" indent="-349885">
              <a:lnSpc>
                <a:spcPts val="1935"/>
              </a:lnSpc>
              <a:buFont typeface="Arial MT"/>
              <a:buChar char="•"/>
              <a:tabLst>
                <a:tab pos="1313815" algn="l"/>
                <a:tab pos="1315085" algn="l"/>
              </a:tabLst>
            </a:pPr>
            <a:r>
              <a:rPr sz="1900" spc="-5" dirty="0">
                <a:latin typeface="Calibri"/>
                <a:cs typeface="Calibri"/>
              </a:rPr>
              <a:t>It</a:t>
            </a:r>
            <a:r>
              <a:rPr sz="1900" spc="-10" dirty="0">
                <a:latin typeface="Calibri"/>
                <a:cs typeface="Calibri"/>
              </a:rPr>
              <a:t> must run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at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constant</a:t>
            </a:r>
            <a:endParaRPr sz="1900" dirty="0">
              <a:latin typeface="Calibri"/>
              <a:cs typeface="Calibri"/>
            </a:endParaRPr>
          </a:p>
          <a:p>
            <a:pPr marL="1314450">
              <a:lnSpc>
                <a:spcPts val="2055"/>
              </a:lnSpc>
            </a:pPr>
            <a:r>
              <a:rPr sz="1900" spc="-10" dirty="0">
                <a:latin typeface="Calibri"/>
                <a:cs typeface="Calibri"/>
              </a:rPr>
              <a:t>frequency</a:t>
            </a:r>
            <a:endParaRPr sz="1900" dirty="0">
              <a:latin typeface="Calibri"/>
              <a:cs typeface="Calibri"/>
            </a:endParaRPr>
          </a:p>
          <a:p>
            <a:pPr marL="1314450" marR="576580" lvl="2" indent="-349250">
              <a:lnSpc>
                <a:spcPts val="2050"/>
              </a:lnSpc>
              <a:spcBef>
                <a:spcPts val="145"/>
              </a:spcBef>
              <a:buFont typeface="Arial MT"/>
              <a:buChar char="•"/>
              <a:tabLst>
                <a:tab pos="1313815" algn="l"/>
                <a:tab pos="1315085" algn="l"/>
              </a:tabLst>
            </a:pP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platform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must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expose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frequency</a:t>
            </a:r>
            <a:endParaRPr sz="19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35875" y="5229478"/>
          <a:ext cx="4575810" cy="54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5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[63:0]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mtime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Register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30543" y="5229478"/>
          <a:ext cx="4575175" cy="5486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1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4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7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[63:0]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marL="1790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mtimecmp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Compare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Register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2910585" y="5809589"/>
            <a:ext cx="6388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mtime</a:t>
            </a:r>
            <a:r>
              <a:rPr sz="1100" i="1" spc="-2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85758" y="5809589"/>
            <a:ext cx="880744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mtimecmp</a:t>
            </a:r>
            <a:r>
              <a:rPr sz="1100" i="1" spc="-1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1776" y="839724"/>
            <a:ext cx="790955" cy="98602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6658482" y="831316"/>
            <a:ext cx="4183379" cy="246062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527685" algn="l"/>
                <a:tab pos="528320" algn="l"/>
              </a:tabLst>
            </a:pPr>
            <a:r>
              <a:rPr sz="2500" b="1" i="1" spc="-10" dirty="0">
                <a:solidFill>
                  <a:srgbClr val="3E3E3E"/>
                </a:solidFill>
                <a:latin typeface="Calibri"/>
                <a:cs typeface="Calibri"/>
              </a:rPr>
              <a:t>mtimecmp</a:t>
            </a:r>
            <a:endParaRPr sz="2500" dirty="0">
              <a:latin typeface="Calibri"/>
              <a:cs typeface="Calibri"/>
            </a:endParaRPr>
          </a:p>
          <a:p>
            <a:pPr marL="991235" marR="194945" lvl="1" indent="-425450">
              <a:lnSpc>
                <a:spcPts val="2490"/>
              </a:lnSpc>
              <a:spcBef>
                <a:spcPts val="545"/>
              </a:spcBef>
              <a:buFont typeface="Arial MT"/>
              <a:buChar char="–"/>
              <a:tabLst>
                <a:tab pos="991235" algn="l"/>
                <a:tab pos="991869" algn="l"/>
              </a:tabLst>
            </a:pPr>
            <a:r>
              <a:rPr sz="2300" spc="-5" dirty="0">
                <a:latin typeface="Calibri"/>
                <a:cs typeface="Calibri"/>
              </a:rPr>
              <a:t>RISC-V</a:t>
            </a:r>
            <a:r>
              <a:rPr sz="2300" spc="-3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defines</a:t>
            </a:r>
            <a:r>
              <a:rPr sz="2300" spc="-2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a</a:t>
            </a:r>
            <a:r>
              <a:rPr sz="2300" spc="-20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memory </a:t>
            </a:r>
            <a:r>
              <a:rPr sz="2300" spc="-505" dirty="0">
                <a:latin typeface="Calibri"/>
                <a:cs typeface="Calibri"/>
              </a:rPr>
              <a:t> </a:t>
            </a:r>
            <a:r>
              <a:rPr sz="2300" spc="-5" dirty="0">
                <a:latin typeface="Calibri"/>
                <a:cs typeface="Calibri"/>
              </a:rPr>
              <a:t>mapped timer </a:t>
            </a:r>
            <a:r>
              <a:rPr sz="2300" dirty="0">
                <a:latin typeface="Calibri"/>
                <a:cs typeface="Calibri"/>
              </a:rPr>
              <a:t>compare </a:t>
            </a:r>
            <a:r>
              <a:rPr sz="2300" spc="5" dirty="0">
                <a:latin typeface="Calibri"/>
                <a:cs typeface="Calibri"/>
              </a:rPr>
              <a:t> </a:t>
            </a:r>
            <a:r>
              <a:rPr sz="2300" dirty="0">
                <a:latin typeface="Calibri"/>
                <a:cs typeface="Calibri"/>
              </a:rPr>
              <a:t>register</a:t>
            </a:r>
          </a:p>
          <a:p>
            <a:pPr marL="991235" marR="5080" lvl="1" indent="-425450">
              <a:lnSpc>
                <a:spcPts val="2480"/>
              </a:lnSpc>
              <a:spcBef>
                <a:spcPts val="495"/>
              </a:spcBef>
              <a:buFont typeface="Arial MT"/>
              <a:buChar char="–"/>
              <a:tabLst>
                <a:tab pos="991235" algn="l"/>
                <a:tab pos="991869" algn="l"/>
              </a:tabLst>
            </a:pPr>
            <a:r>
              <a:rPr sz="2300" spc="-5" dirty="0">
                <a:latin typeface="Calibri"/>
                <a:cs typeface="Calibri"/>
              </a:rPr>
              <a:t>Triggers </a:t>
            </a:r>
            <a:r>
              <a:rPr sz="2300" dirty="0">
                <a:latin typeface="Calibri"/>
                <a:cs typeface="Calibri"/>
              </a:rPr>
              <a:t>an interrupt when </a:t>
            </a:r>
            <a:r>
              <a:rPr sz="2300" spc="-509" dirty="0">
                <a:latin typeface="Calibri"/>
                <a:cs typeface="Calibri"/>
              </a:rPr>
              <a:t> </a:t>
            </a:r>
            <a:r>
              <a:rPr sz="2300" i="1" spc="-5" dirty="0">
                <a:latin typeface="Calibri"/>
                <a:cs typeface="Calibri"/>
              </a:rPr>
              <a:t>mtime </a:t>
            </a:r>
            <a:r>
              <a:rPr sz="2300" dirty="0">
                <a:latin typeface="Calibri"/>
                <a:cs typeface="Calibri"/>
              </a:rPr>
              <a:t>is greater than </a:t>
            </a:r>
            <a:r>
              <a:rPr sz="2300" spc="-5" dirty="0">
                <a:latin typeface="Calibri"/>
                <a:cs typeface="Calibri"/>
              </a:rPr>
              <a:t>or </a:t>
            </a:r>
            <a:r>
              <a:rPr sz="2300" dirty="0">
                <a:latin typeface="Calibri"/>
                <a:cs typeface="Calibri"/>
              </a:rPr>
              <a:t> equal</a:t>
            </a:r>
            <a:r>
              <a:rPr sz="2300" spc="-5" dirty="0">
                <a:latin typeface="Calibri"/>
                <a:cs typeface="Calibri"/>
              </a:rPr>
              <a:t> to</a:t>
            </a:r>
            <a:r>
              <a:rPr sz="2300" spc="-1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mtimecmp</a:t>
            </a:r>
            <a:endParaRPr sz="23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dirty="0"/>
              <a:t>23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-1418"/>
            <a:ext cx="549813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Sup</a:t>
            </a:r>
            <a:r>
              <a:rPr spc="-90" dirty="0"/>
              <a:t>e</a:t>
            </a:r>
            <a:r>
              <a:rPr spc="-114" dirty="0"/>
              <a:t>rvis</a:t>
            </a:r>
            <a:r>
              <a:rPr spc="-160" dirty="0"/>
              <a:t>or</a:t>
            </a:r>
            <a:r>
              <a:rPr spc="-145" dirty="0"/>
              <a:t> </a:t>
            </a:r>
            <a:r>
              <a:rPr spc="-105" dirty="0"/>
              <a:t>CSRs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1307084"/>
            <a:ext cx="5926455" cy="12731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3700" marR="731520" indent="-3810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Most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of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the Machine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mode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CSRs have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Supervisor</a:t>
            </a:r>
            <a:r>
              <a:rPr sz="24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r>
              <a:rPr sz="24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equivalents</a:t>
            </a:r>
            <a:endParaRPr sz="2400" dirty="0">
              <a:latin typeface="Calibri"/>
              <a:cs typeface="Calibri"/>
            </a:endParaRPr>
          </a:p>
          <a:p>
            <a:pPr marL="850265" marR="5080" indent="-355600">
              <a:lnSpc>
                <a:spcPts val="2160"/>
              </a:lnSpc>
              <a:spcBef>
                <a:spcPts val="25"/>
              </a:spcBef>
              <a:tabLst>
                <a:tab pos="850265" algn="l"/>
              </a:tabLst>
            </a:pPr>
            <a:r>
              <a:rPr sz="2000" dirty="0">
                <a:solidFill>
                  <a:srgbClr val="797979"/>
                </a:solidFill>
                <a:latin typeface="Arial MT"/>
                <a:cs typeface="Arial MT"/>
              </a:rPr>
              <a:t>–	</a:t>
            </a:r>
            <a:r>
              <a:rPr sz="2000" spc="-5" dirty="0">
                <a:latin typeface="Calibri"/>
                <a:cs typeface="Calibri"/>
              </a:rPr>
              <a:t>Supervisor </a:t>
            </a:r>
            <a:r>
              <a:rPr sz="2000" dirty="0">
                <a:latin typeface="Calibri"/>
                <a:cs typeface="Calibri"/>
              </a:rPr>
              <a:t>mode CSRs can </a:t>
            </a:r>
            <a:r>
              <a:rPr sz="2000" spc="-5" dirty="0">
                <a:latin typeface="Calibri"/>
                <a:cs typeface="Calibri"/>
              </a:rPr>
              <a:t>be used </a:t>
            </a:r>
            <a:r>
              <a:rPr sz="2000" dirty="0">
                <a:latin typeface="Calibri"/>
                <a:cs typeface="Calibri"/>
              </a:rPr>
              <a:t>to control 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state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Supervisor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User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Modes.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76247" y="2522931"/>
            <a:ext cx="5332730" cy="1458733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367665" marR="5080" indent="-355600">
              <a:lnSpc>
                <a:spcPts val="2160"/>
              </a:lnSpc>
              <a:spcBef>
                <a:spcPts val="375"/>
              </a:spcBef>
              <a:buFont typeface="Arial MT"/>
              <a:buChar char="–"/>
              <a:tabLst>
                <a:tab pos="367665" algn="l"/>
                <a:tab pos="368300" algn="l"/>
              </a:tabLst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equivalent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Supervisor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CSRs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same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mapping as </a:t>
            </a:r>
            <a:r>
              <a:rPr sz="2000" spc="-5" dirty="0">
                <a:latin typeface="Calibri"/>
                <a:cs typeface="Calibri"/>
              </a:rPr>
              <a:t>Machine </a:t>
            </a:r>
            <a:r>
              <a:rPr sz="2000" dirty="0">
                <a:latin typeface="Calibri"/>
                <a:cs typeface="Calibri"/>
              </a:rPr>
              <a:t>mode without </a:t>
            </a:r>
            <a:r>
              <a:rPr sz="2000" spc="-5" dirty="0">
                <a:latin typeface="Calibri"/>
                <a:cs typeface="Calibri"/>
              </a:rPr>
              <a:t>Machine </a:t>
            </a:r>
            <a:r>
              <a:rPr sz="2000" dirty="0">
                <a:latin typeface="Calibri"/>
                <a:cs typeface="Calibri"/>
              </a:rPr>
              <a:t> mode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control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bits</a:t>
            </a:r>
            <a:endParaRPr sz="2000" dirty="0">
              <a:latin typeface="Calibri"/>
              <a:cs typeface="Calibri"/>
            </a:endParaRPr>
          </a:p>
          <a:p>
            <a:pPr marL="367665" marR="321945" indent="-355600">
              <a:lnSpc>
                <a:spcPts val="2160"/>
              </a:lnSpc>
              <a:spcBef>
                <a:spcPts val="5"/>
              </a:spcBef>
              <a:buFont typeface="Arial MT"/>
              <a:buChar char="–"/>
              <a:tabLst>
                <a:tab pos="367665" algn="l"/>
                <a:tab pos="368300" algn="l"/>
              </a:tabLst>
            </a:pPr>
            <a:r>
              <a:rPr sz="2000" i="1" spc="-5" dirty="0">
                <a:latin typeface="Calibri"/>
                <a:cs typeface="Calibri"/>
              </a:rPr>
              <a:t>sstatus, stvec, sip, sie, sepc, scause, </a:t>
            </a:r>
            <a:r>
              <a:rPr sz="2000" i="1" dirty="0">
                <a:latin typeface="Calibri"/>
                <a:cs typeface="Calibri"/>
              </a:rPr>
              <a:t>satp</a:t>
            </a:r>
            <a:r>
              <a:rPr sz="2000" dirty="0">
                <a:latin typeface="Calibri"/>
                <a:cs typeface="Calibri"/>
              </a:rPr>
              <a:t>, and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more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93139" y="3886327"/>
            <a:ext cx="5668010" cy="2131994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93700" marR="5080" indent="-381000">
              <a:lnSpc>
                <a:spcPts val="2590"/>
              </a:lnSpc>
              <a:spcBef>
                <a:spcPts val="425"/>
              </a:spcBef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400" b="1" i="1" spc="-5" dirty="0">
                <a:solidFill>
                  <a:srgbClr val="3B3B3B"/>
                </a:solidFill>
                <a:latin typeface="Calibri"/>
                <a:cs typeface="Calibri"/>
              </a:rPr>
              <a:t>satp</a:t>
            </a:r>
            <a:r>
              <a:rPr sz="2400" b="1" i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-</a:t>
            </a:r>
            <a:r>
              <a:rPr sz="2400" b="1" i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Supervisor</a:t>
            </a:r>
            <a:r>
              <a:rPr sz="24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Address</a:t>
            </a:r>
            <a:r>
              <a:rPr sz="24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Translation</a:t>
            </a:r>
            <a:r>
              <a:rPr sz="24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and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Protection</a:t>
            </a:r>
            <a:r>
              <a:rPr sz="24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Register</a:t>
            </a:r>
            <a:endParaRPr sz="2400" dirty="0">
              <a:latin typeface="Calibri"/>
              <a:cs typeface="Calibri"/>
            </a:endParaRPr>
          </a:p>
          <a:p>
            <a:pPr marL="850265" marR="541655" indent="-355600">
              <a:lnSpc>
                <a:spcPts val="2160"/>
              </a:lnSpc>
              <a:spcBef>
                <a:spcPts val="25"/>
              </a:spcBef>
              <a:tabLst>
                <a:tab pos="850265" algn="l"/>
              </a:tabLst>
            </a:pPr>
            <a:r>
              <a:rPr sz="2000" dirty="0">
                <a:solidFill>
                  <a:srgbClr val="797979"/>
                </a:solidFill>
                <a:latin typeface="Arial MT"/>
                <a:cs typeface="Arial MT"/>
              </a:rPr>
              <a:t>–	</a:t>
            </a:r>
            <a:r>
              <a:rPr sz="2000" spc="-5" dirty="0">
                <a:latin typeface="Calibri"/>
                <a:cs typeface="Calibri"/>
              </a:rPr>
              <a:t>Used </a:t>
            </a:r>
            <a:r>
              <a:rPr sz="2000" dirty="0">
                <a:latin typeface="Calibri"/>
                <a:cs typeface="Calibri"/>
              </a:rPr>
              <a:t>to control </a:t>
            </a:r>
            <a:r>
              <a:rPr sz="2000" spc="-5" dirty="0">
                <a:latin typeface="Calibri"/>
                <a:cs typeface="Calibri"/>
              </a:rPr>
              <a:t>Supervisor </a:t>
            </a:r>
            <a:r>
              <a:rPr sz="2000" dirty="0">
                <a:latin typeface="Calibri"/>
                <a:cs typeface="Calibri"/>
              </a:rPr>
              <a:t>mode address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translation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protection</a:t>
            </a:r>
            <a:endParaRPr lang="en-US" sz="2000" spc="-5" dirty="0">
              <a:latin typeface="Calibri"/>
              <a:cs typeface="Calibri"/>
            </a:endParaRPr>
          </a:p>
          <a:p>
            <a:pPr marL="850265" marR="541655" indent="-355600">
              <a:lnSpc>
                <a:spcPts val="2160"/>
              </a:lnSpc>
              <a:spcBef>
                <a:spcPts val="25"/>
              </a:spcBef>
              <a:tabLst>
                <a:tab pos="850265" algn="l"/>
              </a:tabLst>
            </a:pPr>
            <a:r>
              <a:rPr lang="en-US" sz="2000" dirty="0">
                <a:latin typeface="Arial MT"/>
                <a:cs typeface="Arial MT"/>
              </a:rPr>
              <a:t>–	</a:t>
            </a:r>
            <a:r>
              <a:rPr lang="en-US" sz="2000" spc="-5" dirty="0">
                <a:solidFill>
                  <a:srgbClr val="FF0000"/>
                </a:solidFill>
                <a:latin typeface="Calibri"/>
                <a:cs typeface="Calibri"/>
              </a:rPr>
              <a:t>Virtual Memory is only supported in Supervisor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mode</a:t>
            </a:r>
            <a:endParaRPr lang="en-US" sz="2000" spc="-5" dirty="0">
              <a:solidFill>
                <a:srgbClr val="FF0000"/>
              </a:solidFill>
              <a:latin typeface="Calibri"/>
              <a:cs typeface="Calibri"/>
            </a:endParaRPr>
          </a:p>
          <a:p>
            <a:pPr marL="850265" marR="541655" indent="-355600">
              <a:lnSpc>
                <a:spcPts val="2160"/>
              </a:lnSpc>
              <a:spcBef>
                <a:spcPts val="25"/>
              </a:spcBef>
              <a:tabLst>
                <a:tab pos="850265" algn="l"/>
              </a:tabLst>
            </a:pP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7234173" y="2109597"/>
          <a:ext cx="4710430" cy="1097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4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[21:0]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Physical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 Number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[30:22]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Space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Identifier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MODE=1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uses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Sv32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Translation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9106027" y="3237992"/>
            <a:ext cx="84645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RV32</a:t>
            </a:r>
            <a:r>
              <a:rPr sz="1100" i="1" spc="-3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satp</a:t>
            </a:r>
            <a:r>
              <a:rPr sz="1100" i="1" spc="-5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7234173" y="3831844"/>
          <a:ext cx="4710430" cy="10972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84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0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9999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[43:0]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PPN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Physical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 Number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root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[59:44]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ASID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Space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Identifier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[63:60]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Encodings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for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Sv32,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Sv39,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Sv48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9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9106027" y="4960365"/>
            <a:ext cx="8464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RV64</a:t>
            </a:r>
            <a:r>
              <a:rPr sz="1100" i="1" spc="-3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satp</a:t>
            </a:r>
            <a:r>
              <a:rPr sz="1100" i="1" spc="-5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-1418"/>
            <a:ext cx="5042510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V</a:t>
            </a:r>
            <a:r>
              <a:rPr spc="-55" dirty="0"/>
              <a:t>i</a:t>
            </a:r>
            <a:r>
              <a:rPr spc="-80" dirty="0"/>
              <a:t>rt</a:t>
            </a:r>
            <a:r>
              <a:rPr spc="-130" dirty="0"/>
              <a:t>u</a:t>
            </a:r>
            <a:r>
              <a:rPr spc="-110" dirty="0"/>
              <a:t>al</a:t>
            </a:r>
            <a:r>
              <a:rPr spc="-140" dirty="0"/>
              <a:t> </a:t>
            </a:r>
            <a:r>
              <a:rPr spc="-45" dirty="0"/>
              <a:t>Memo</a:t>
            </a:r>
            <a:r>
              <a:rPr spc="-145" dirty="0"/>
              <a:t>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1532" y="1161668"/>
            <a:ext cx="4977765" cy="8972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457200" marR="5080" indent="-445134">
              <a:lnSpc>
                <a:spcPct val="80100"/>
              </a:lnSpc>
              <a:spcBef>
                <a:spcPts val="620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RISC-V has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support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sz="22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Virtual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Memory </a:t>
            </a:r>
            <a:r>
              <a:rPr sz="2200" b="1" spc="-48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allowing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for</a:t>
            </a:r>
            <a:r>
              <a:rPr sz="22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sophisticated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memory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management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OS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support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(Linux)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532" y="2375154"/>
            <a:ext cx="5441315" cy="323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45134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Requires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an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S-Mode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implementation</a:t>
            </a:r>
            <a:endParaRPr sz="2200" dirty="0">
              <a:latin typeface="Calibri"/>
              <a:cs typeface="Calibri"/>
            </a:endParaRPr>
          </a:p>
          <a:p>
            <a:pPr marL="457200" indent="-445134">
              <a:lnSpc>
                <a:spcPts val="2170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Sv32</a:t>
            </a:r>
            <a:endParaRPr sz="2200" dirty="0">
              <a:latin typeface="Calibri"/>
              <a:cs typeface="Calibri"/>
            </a:endParaRPr>
          </a:p>
          <a:p>
            <a:pPr marL="1066800" lvl="1" indent="-419734">
              <a:lnSpc>
                <a:spcPts val="1735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32bit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Virtual </a:t>
            </a:r>
            <a:r>
              <a:rPr sz="1800" dirty="0">
                <a:latin typeface="Calibri"/>
                <a:cs typeface="Calibri"/>
              </a:rPr>
              <a:t>Address</a:t>
            </a:r>
          </a:p>
          <a:p>
            <a:pPr marL="1066800" lvl="1" indent="-419734">
              <a:lnSpc>
                <a:spcPts val="1670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4KiB,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4MiB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-5" dirty="0">
                <a:latin typeface="Calibri"/>
                <a:cs typeface="Calibri"/>
              </a:rPr>
              <a:t> (2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Levels)</a:t>
            </a:r>
          </a:p>
          <a:p>
            <a:pPr marL="457200" indent="-445134">
              <a:lnSpc>
                <a:spcPts val="2160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Sv39</a:t>
            </a:r>
            <a:r>
              <a:rPr sz="22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(requires</a:t>
            </a:r>
            <a:r>
              <a:rPr sz="22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an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RV64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implementation)</a:t>
            </a:r>
            <a:endParaRPr sz="2200" dirty="0">
              <a:latin typeface="Calibri"/>
              <a:cs typeface="Calibri"/>
            </a:endParaRPr>
          </a:p>
          <a:p>
            <a:pPr marL="1066800" lvl="1" indent="-419734">
              <a:lnSpc>
                <a:spcPts val="1735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39bit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Virtual </a:t>
            </a:r>
            <a:r>
              <a:rPr sz="1800" dirty="0">
                <a:latin typeface="Calibri"/>
                <a:cs typeface="Calibri"/>
              </a:rPr>
              <a:t>Address</a:t>
            </a:r>
          </a:p>
          <a:p>
            <a:pPr marL="1066800" lvl="1" indent="-419734">
              <a:lnSpc>
                <a:spcPts val="1670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4KiB,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2MiB,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1GiB </a:t>
            </a:r>
            <a:r>
              <a:rPr sz="1800" dirty="0">
                <a:latin typeface="Calibri"/>
                <a:cs typeface="Calibri"/>
              </a:rPr>
              <a:t>page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(3 </a:t>
            </a:r>
            <a:r>
              <a:rPr sz="1800" dirty="0">
                <a:latin typeface="Calibri"/>
                <a:cs typeface="Calibri"/>
              </a:rPr>
              <a:t>Levels)</a:t>
            </a:r>
          </a:p>
          <a:p>
            <a:pPr marL="457200" indent="-445134">
              <a:lnSpc>
                <a:spcPts val="2160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Sv48</a:t>
            </a:r>
            <a:r>
              <a:rPr sz="22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(requires</a:t>
            </a:r>
            <a:r>
              <a:rPr sz="22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an</a:t>
            </a:r>
            <a:r>
              <a:rPr sz="22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RV64</a:t>
            </a:r>
            <a:r>
              <a:rPr sz="22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implementation)</a:t>
            </a:r>
            <a:endParaRPr sz="2200" dirty="0">
              <a:latin typeface="Calibri"/>
              <a:cs typeface="Calibri"/>
            </a:endParaRPr>
          </a:p>
          <a:p>
            <a:pPr marL="1066800" lvl="1" indent="-419734">
              <a:lnSpc>
                <a:spcPts val="1735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48bit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Virtual </a:t>
            </a:r>
            <a:r>
              <a:rPr sz="1800" dirty="0">
                <a:latin typeface="Calibri"/>
                <a:cs typeface="Calibri"/>
              </a:rPr>
              <a:t>Address</a:t>
            </a:r>
          </a:p>
          <a:p>
            <a:pPr marL="1066800" marR="673100" lvl="1" indent="-419100">
              <a:lnSpc>
                <a:spcPct val="80000"/>
              </a:lnSpc>
              <a:spcBef>
                <a:spcPts val="215"/>
              </a:spcBef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1800" dirty="0">
                <a:latin typeface="Calibri"/>
                <a:cs typeface="Calibri"/>
              </a:rPr>
              <a:t>4KiB,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2MiB,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 GiB,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512GB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page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tables</a:t>
            </a:r>
            <a:r>
              <a:rPr sz="1800" spc="-5" dirty="0">
                <a:latin typeface="Calibri"/>
                <a:cs typeface="Calibri"/>
              </a:rPr>
              <a:t> (4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Levels)</a:t>
            </a:r>
          </a:p>
          <a:p>
            <a:pPr marL="457200" indent="-445134">
              <a:lnSpc>
                <a:spcPts val="1830"/>
              </a:lnSpc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Page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Tables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also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contain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access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permission</a:t>
            </a:r>
            <a:endParaRPr sz="2200" dirty="0">
              <a:latin typeface="Calibri"/>
              <a:cs typeface="Calibri"/>
            </a:endParaRPr>
          </a:p>
          <a:p>
            <a:pPr marL="457200">
              <a:lnSpc>
                <a:spcPts val="2375"/>
              </a:lnSpc>
            </a:pP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attributes</a:t>
            </a:r>
            <a:endParaRPr sz="2200" dirty="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59141" y="227947"/>
            <a:ext cx="1174115" cy="4081779"/>
            <a:chOff x="7859141" y="1312036"/>
            <a:chExt cx="1174115" cy="4081779"/>
          </a:xfrm>
        </p:grpSpPr>
        <p:sp>
          <p:nvSpPr>
            <p:cNvPr id="6" name="object 6"/>
            <p:cNvSpPr/>
            <p:nvPr/>
          </p:nvSpPr>
          <p:spPr>
            <a:xfrm>
              <a:off x="7873746" y="1326641"/>
              <a:ext cx="1144905" cy="4052570"/>
            </a:xfrm>
            <a:custGeom>
              <a:avLst/>
              <a:gdLst/>
              <a:ahLst/>
              <a:cxnLst/>
              <a:rect l="l" t="t" r="r" b="b"/>
              <a:pathLst>
                <a:path w="1144904" h="4052570">
                  <a:moveTo>
                    <a:pt x="0" y="4052316"/>
                  </a:moveTo>
                  <a:lnTo>
                    <a:pt x="1144524" y="4052316"/>
                  </a:lnTo>
                  <a:lnTo>
                    <a:pt x="1144524" y="0"/>
                  </a:lnTo>
                  <a:lnTo>
                    <a:pt x="0" y="0"/>
                  </a:lnTo>
                  <a:lnTo>
                    <a:pt x="0" y="4052316"/>
                  </a:lnTo>
                  <a:close/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872984" y="4753355"/>
              <a:ext cx="1144905" cy="624840"/>
            </a:xfrm>
            <a:custGeom>
              <a:avLst/>
              <a:gdLst/>
              <a:ahLst/>
              <a:cxnLst/>
              <a:rect l="l" t="t" r="r" b="b"/>
              <a:pathLst>
                <a:path w="1144904" h="624839">
                  <a:moveTo>
                    <a:pt x="0" y="624840"/>
                  </a:moveTo>
                  <a:lnTo>
                    <a:pt x="1144524" y="624840"/>
                  </a:lnTo>
                  <a:lnTo>
                    <a:pt x="1144524" y="0"/>
                  </a:lnTo>
                  <a:lnTo>
                    <a:pt x="0" y="0"/>
                  </a:lnTo>
                  <a:lnTo>
                    <a:pt x="0" y="624840"/>
                  </a:lnTo>
                  <a:close/>
                </a:path>
              </a:pathLst>
            </a:custGeom>
            <a:ln w="12191">
              <a:solidFill>
                <a:srgbClr val="0D467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6896481" y="30336"/>
            <a:ext cx="805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0xFFFF_FFFF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79463" y="4041884"/>
            <a:ext cx="8661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0x0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_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00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88223" y="3675363"/>
            <a:ext cx="1115695" cy="605155"/>
          </a:xfrm>
          <a:prstGeom prst="rect">
            <a:avLst/>
          </a:prstGeom>
          <a:solidFill>
            <a:srgbClr val="797979"/>
          </a:solidFill>
        </p:spPr>
        <p:txBody>
          <a:bodyPr vert="horz" wrap="square" lIns="0" tIns="1905" rIns="0" bIns="0" rtlCol="0">
            <a:spAutoFit/>
          </a:bodyPr>
          <a:lstStyle/>
          <a:p>
            <a:pPr marL="164465" marR="159385" indent="65405">
              <a:lnSpc>
                <a:spcPct val="100000"/>
              </a:lnSpc>
              <a:spcBef>
                <a:spcPts val="15"/>
              </a:spcBef>
            </a:pP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Virtual 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FFFFFF"/>
                </a:solidFill>
                <a:latin typeface="Calibri"/>
                <a:cs typeface="Calibri"/>
              </a:rPr>
              <a:t>Addre</a:t>
            </a:r>
            <a:r>
              <a:rPr sz="1900" spc="-5" dirty="0">
                <a:solidFill>
                  <a:srgbClr val="FFFFFF"/>
                </a:solidFill>
                <a:latin typeface="Calibri"/>
                <a:cs typeface="Calibri"/>
              </a:rPr>
              <a:t>ss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76490" y="4365836"/>
            <a:ext cx="171132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B555E"/>
                </a:solidFill>
                <a:latin typeface="Calibri"/>
                <a:cs typeface="Calibri"/>
              </a:rPr>
              <a:t>Virtual</a:t>
            </a:r>
            <a:r>
              <a:rPr sz="1600" spc="-2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B555E"/>
                </a:solidFill>
                <a:latin typeface="Calibri"/>
                <a:cs typeface="Calibri"/>
              </a:rPr>
              <a:t>Address</a:t>
            </a:r>
            <a:r>
              <a:rPr sz="1600" spc="-1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4B555E"/>
                </a:solidFill>
                <a:latin typeface="Calibri"/>
                <a:cs typeface="Calibri"/>
              </a:rPr>
              <a:t>Map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588500" y="-11701"/>
            <a:ext cx="805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0xFFFF_FFFF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571101" y="3999416"/>
            <a:ext cx="868044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x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0000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_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000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554806"/>
              </p:ext>
            </p:extLst>
          </p:nvPr>
        </p:nvGraphicFramePr>
        <p:xfrm>
          <a:off x="10550652" y="185402"/>
          <a:ext cx="1144270" cy="405231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4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1749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39">
                <a:tc>
                  <a:txBody>
                    <a:bodyPr/>
                    <a:lstStyle/>
                    <a:p>
                      <a:pPr marL="179070" marR="171450" indent="1270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sic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  Addr</a:t>
                      </a:r>
                      <a:r>
                        <a:rPr sz="1900" spc="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ss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97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10111485" y="4365836"/>
            <a:ext cx="1815464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B555E"/>
                </a:solidFill>
                <a:latin typeface="Calibri"/>
                <a:cs typeface="Calibri"/>
              </a:rPr>
              <a:t>Physical</a:t>
            </a:r>
            <a:r>
              <a:rPr sz="1600" spc="-4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B555E"/>
                </a:solidFill>
                <a:latin typeface="Calibri"/>
                <a:cs typeface="Calibri"/>
              </a:rPr>
              <a:t>Address</a:t>
            </a:r>
            <a:r>
              <a:rPr sz="160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600" spc="-5" dirty="0">
                <a:solidFill>
                  <a:srgbClr val="4B555E"/>
                </a:solidFill>
                <a:latin typeface="Calibri"/>
                <a:cs typeface="Calibri"/>
              </a:rPr>
              <a:t>Map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017507" y="1566146"/>
            <a:ext cx="1546860" cy="2680335"/>
          </a:xfrm>
          <a:custGeom>
            <a:avLst/>
            <a:gdLst/>
            <a:ahLst/>
            <a:cxnLst/>
            <a:rect l="l" t="t" r="r" b="b"/>
            <a:pathLst>
              <a:path w="1546859" h="2680335">
                <a:moveTo>
                  <a:pt x="0" y="2103247"/>
                </a:moveTo>
                <a:lnTo>
                  <a:pt x="1500886" y="0"/>
                </a:lnTo>
              </a:path>
              <a:path w="1546859" h="2680335">
                <a:moveTo>
                  <a:pt x="45720" y="2679827"/>
                </a:moveTo>
                <a:lnTo>
                  <a:pt x="1546606" y="659891"/>
                </a:lnTo>
              </a:path>
            </a:pathLst>
          </a:custGeom>
          <a:ln w="9144">
            <a:solidFill>
              <a:srgbClr val="4B555E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26" name="Picture 2" descr="3-Level Paging System">
            <a:extLst>
              <a:ext uri="{FF2B5EF4-FFF2-40B4-BE49-F238E27FC236}">
                <a16:creationId xmlns:a16="http://schemas.microsoft.com/office/drawing/2014/main" id="{06C8D698-55EE-EF1B-031D-708668C707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606" y="4635679"/>
            <a:ext cx="4209669" cy="222232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-1418"/>
            <a:ext cx="777478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P</a:t>
            </a:r>
            <a:r>
              <a:rPr spc="-35" dirty="0"/>
              <a:t>h</a:t>
            </a:r>
            <a:r>
              <a:rPr spc="-90" dirty="0"/>
              <a:t>ysi</a:t>
            </a:r>
            <a:r>
              <a:rPr spc="-110" dirty="0"/>
              <a:t>cal</a:t>
            </a:r>
            <a:r>
              <a:rPr spc="-140" dirty="0"/>
              <a:t> </a:t>
            </a:r>
            <a:r>
              <a:rPr spc="-45" dirty="0"/>
              <a:t>Memo</a:t>
            </a:r>
            <a:r>
              <a:rPr spc="-145" dirty="0"/>
              <a:t>ry</a:t>
            </a:r>
            <a:r>
              <a:rPr spc="-150" dirty="0"/>
              <a:t> </a:t>
            </a:r>
            <a:r>
              <a:rPr spc="-95" dirty="0"/>
              <a:t>P</a:t>
            </a:r>
            <a:r>
              <a:rPr spc="-75" dirty="0"/>
              <a:t>r</a:t>
            </a:r>
            <a:r>
              <a:rPr spc="-50" dirty="0"/>
              <a:t>ote</a:t>
            </a:r>
            <a:r>
              <a:rPr spc="-60" dirty="0"/>
              <a:t>c</a:t>
            </a:r>
            <a:r>
              <a:rPr spc="-70" dirty="0"/>
              <a:t>tion</a:t>
            </a:r>
            <a:r>
              <a:rPr spc="-114" dirty="0"/>
              <a:t> </a:t>
            </a:r>
            <a:r>
              <a:rPr spc="-195" dirty="0"/>
              <a:t>(</a:t>
            </a:r>
            <a:r>
              <a:rPr spc="-275" dirty="0"/>
              <a:t>P</a:t>
            </a:r>
            <a:r>
              <a:rPr spc="10" dirty="0"/>
              <a:t>M</a:t>
            </a:r>
            <a:r>
              <a:rPr spc="-5" dirty="0"/>
              <a:t>P</a:t>
            </a:r>
            <a:r>
              <a:rPr spc="-445" dirty="0"/>
              <a:t>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81532" y="1145235"/>
            <a:ext cx="4695190" cy="171790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45134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Can</a:t>
            </a:r>
            <a:r>
              <a:rPr sz="22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be used to</a:t>
            </a:r>
            <a:r>
              <a:rPr sz="22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enforce</a:t>
            </a:r>
            <a:r>
              <a:rPr sz="22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access</a:t>
            </a:r>
            <a:endParaRPr sz="2200" dirty="0">
              <a:latin typeface="Calibri"/>
              <a:cs typeface="Calibri"/>
            </a:endParaRPr>
          </a:p>
          <a:p>
            <a:pPr marL="457200">
              <a:lnSpc>
                <a:spcPts val="2115"/>
              </a:lnSpc>
            </a:pP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restrictions</a:t>
            </a:r>
            <a:r>
              <a:rPr sz="22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on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less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privileged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modes</a:t>
            </a:r>
            <a:endParaRPr sz="2200" dirty="0">
              <a:latin typeface="Calibri"/>
              <a:cs typeface="Calibri"/>
            </a:endParaRPr>
          </a:p>
          <a:p>
            <a:pPr marL="1066800" marR="123189" indent="-445134">
              <a:lnSpc>
                <a:spcPct val="80000"/>
              </a:lnSpc>
              <a:spcBef>
                <a:spcPts val="265"/>
              </a:spcBef>
              <a:tabLst>
                <a:tab pos="1066800" algn="l"/>
              </a:tabLst>
            </a:pPr>
            <a:r>
              <a:rPr sz="2200" spc="-5" dirty="0">
                <a:solidFill>
                  <a:srgbClr val="797979"/>
                </a:solidFill>
                <a:latin typeface="Arial MT"/>
                <a:cs typeface="Arial MT"/>
              </a:rPr>
              <a:t>–	</a:t>
            </a:r>
            <a:r>
              <a:rPr lang="en-US" sz="2200" spc="-5" dirty="0">
                <a:latin typeface="Calibri"/>
                <a:cs typeface="Calibri"/>
              </a:rPr>
              <a:t>Machine Mode can </a:t>
            </a:r>
            <a:r>
              <a:rPr sz="2200" spc="-5" dirty="0">
                <a:latin typeface="Calibri"/>
                <a:cs typeface="Calibri"/>
              </a:rPr>
              <a:t>Prevent Supervisor and User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software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from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accessing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unwanted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memory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81532" y="2958211"/>
            <a:ext cx="4338320" cy="628650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marL="457200" marR="5080" indent="-445134">
              <a:lnSpc>
                <a:spcPct val="80000"/>
              </a:lnSpc>
              <a:spcBef>
                <a:spcPts val="620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Up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16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 regions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with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 a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minimum </a:t>
            </a:r>
            <a:r>
              <a:rPr sz="2200" b="1" spc="-48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region</a:t>
            </a:r>
            <a:r>
              <a:rPr sz="22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size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4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bytes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81532" y="4043553"/>
            <a:ext cx="4667250" cy="22435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57200" indent="-445134">
              <a:lnSpc>
                <a:spcPts val="2375"/>
              </a:lnSpc>
              <a:spcBef>
                <a:spcPts val="95"/>
              </a:spcBef>
              <a:buFont typeface="Arial MT"/>
              <a:buChar char="•"/>
              <a:tabLst>
                <a:tab pos="457200" algn="l"/>
                <a:tab pos="457834" algn="l"/>
              </a:tabLst>
            </a:pP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Ability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 to</a:t>
            </a:r>
            <a:r>
              <a:rPr sz="22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Lock</a:t>
            </a:r>
            <a:r>
              <a:rPr sz="22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200" b="1" spc="-5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200" b="1" spc="-10" dirty="0">
                <a:solidFill>
                  <a:srgbClr val="3B3B3B"/>
                </a:solidFill>
                <a:latin typeface="Calibri"/>
                <a:cs typeface="Calibri"/>
              </a:rPr>
              <a:t> region</a:t>
            </a:r>
            <a:endParaRPr sz="2200" dirty="0">
              <a:latin typeface="Calibri"/>
              <a:cs typeface="Calibri"/>
            </a:endParaRPr>
          </a:p>
          <a:p>
            <a:pPr marL="1066800" marR="443230" lvl="1" indent="-445134">
              <a:lnSpc>
                <a:spcPts val="2110"/>
              </a:lnSpc>
              <a:spcBef>
                <a:spcPts val="245"/>
              </a:spcBef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locked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region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enforces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permissions on all </a:t>
            </a:r>
            <a:r>
              <a:rPr sz="2200" dirty="0">
                <a:latin typeface="Calibri"/>
                <a:cs typeface="Calibri"/>
              </a:rPr>
              <a:t>accesses,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including </a:t>
            </a:r>
            <a:r>
              <a:rPr sz="2200" spc="-15" dirty="0">
                <a:latin typeface="Calibri"/>
                <a:cs typeface="Calibri"/>
              </a:rPr>
              <a:t>M-Mode</a:t>
            </a:r>
            <a:r>
              <a:rPr lang="en-US" sz="2200" spc="-15" dirty="0">
                <a:latin typeface="Calibri"/>
                <a:cs typeface="Calibri"/>
              </a:rPr>
              <a:t> i.e. none of the mode will be able to gain access here</a:t>
            </a:r>
            <a:endParaRPr sz="2200" dirty="0">
              <a:latin typeface="Calibri"/>
              <a:cs typeface="Calibri"/>
            </a:endParaRPr>
          </a:p>
          <a:p>
            <a:pPr marL="1066800" lvl="1" indent="-445134">
              <a:lnSpc>
                <a:spcPts val="1870"/>
              </a:lnSpc>
              <a:buFont typeface="Arial MT"/>
              <a:buChar char="–"/>
              <a:tabLst>
                <a:tab pos="1066800" algn="l"/>
                <a:tab pos="1067435" algn="l"/>
              </a:tabLst>
            </a:pPr>
            <a:r>
              <a:rPr sz="2200" spc="-5" dirty="0">
                <a:latin typeface="Calibri"/>
                <a:cs typeface="Calibri"/>
              </a:rPr>
              <a:t>Only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way</a:t>
            </a:r>
            <a:r>
              <a:rPr sz="2200" spc="-5" dirty="0">
                <a:latin typeface="Calibri"/>
                <a:cs typeface="Calibri"/>
              </a:rPr>
              <a:t> to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unlock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region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a</a:t>
            </a:r>
            <a:endParaRPr sz="2200" dirty="0">
              <a:latin typeface="Calibri"/>
              <a:cs typeface="Calibri"/>
            </a:endParaRPr>
          </a:p>
          <a:p>
            <a:pPr marL="1066800">
              <a:lnSpc>
                <a:spcPts val="2375"/>
              </a:lnSpc>
            </a:pPr>
            <a:r>
              <a:rPr sz="2200" spc="-5" dirty="0">
                <a:latin typeface="Calibri"/>
                <a:cs typeface="Calibri"/>
              </a:rPr>
              <a:t>Reset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972806" y="1306448"/>
            <a:ext cx="805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0xFFFF_FFFF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40802" y="5583123"/>
            <a:ext cx="866140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0x0000_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0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000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82357" y="1658239"/>
            <a:ext cx="7962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4</a:t>
            </a:r>
            <a:r>
              <a:rPr sz="1200" spc="-4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Byte</a:t>
            </a:r>
            <a:r>
              <a:rPr sz="1200" spc="-4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Regio </a:t>
            </a:r>
            <a:r>
              <a:rPr sz="1200" spc="-26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Only accessi </a:t>
            </a:r>
            <a:r>
              <a:rPr sz="1200" spc="-26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reset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694419" y="1956816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5">
                <a:moveTo>
                  <a:pt x="0" y="0"/>
                </a:moveTo>
                <a:lnTo>
                  <a:pt x="227964" y="0"/>
                </a:lnTo>
              </a:path>
            </a:pathLst>
          </a:custGeom>
          <a:ln w="9144">
            <a:solidFill>
              <a:srgbClr val="FFCC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7182357" y="2653665"/>
            <a:ext cx="82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User</a:t>
            </a:r>
            <a:r>
              <a:rPr sz="1200" spc="-4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Mode</a:t>
            </a:r>
            <a:r>
              <a:rPr sz="1200" spc="-4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h </a:t>
            </a:r>
            <a:r>
              <a:rPr sz="1200" spc="-254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RWX</a:t>
            </a:r>
            <a:r>
              <a:rPr sz="1200" spc="-6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Privileg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94</a:t>
            </a:fld>
            <a:endParaRPr dirty="0"/>
          </a:p>
        </p:txBody>
      </p:sp>
      <p:sp>
        <p:nvSpPr>
          <p:cNvPr id="11" name="object 11"/>
          <p:cNvSpPr txBox="1"/>
          <p:nvPr/>
        </p:nvSpPr>
        <p:spPr>
          <a:xfrm>
            <a:off x="7182357" y="3855466"/>
            <a:ext cx="8293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User</a:t>
            </a:r>
            <a:r>
              <a:rPr sz="1200" spc="-4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Mode</a:t>
            </a:r>
            <a:r>
              <a:rPr sz="1200" spc="-4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h </a:t>
            </a:r>
            <a:r>
              <a:rPr sz="1200" spc="-254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only</a:t>
            </a:r>
            <a:r>
              <a:rPr sz="1200" spc="-5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Privileg</a:t>
            </a:r>
            <a:endParaRPr sz="1200">
              <a:latin typeface="Calibri"/>
              <a:cs typeface="Calibri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7991093" y="1491996"/>
          <a:ext cx="2748914" cy="43296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1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46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3933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n</a:t>
                      </a:r>
                      <a:r>
                        <a:rPr sz="1200" spc="-4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Locked.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" marB="0">
                    <a:lnT w="9525">
                      <a:solidFill>
                        <a:srgbClr val="FFCC00"/>
                      </a:solidFill>
                      <a:prstDash val="solid"/>
                    </a:lnT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9525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381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271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3810" marB="0">
                    <a:lnT w="9525">
                      <a:solidFill>
                        <a:srgbClr val="FFCC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9525">
                      <a:solidFill>
                        <a:srgbClr val="FFCC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 marL="194945">
                        <a:lnSpc>
                          <a:spcPct val="100000"/>
                        </a:lnSpc>
                        <a:spcBef>
                          <a:spcPts val="420"/>
                        </a:spcBef>
                      </a:pP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Locked</a:t>
                      </a:r>
                      <a:r>
                        <a:rPr sz="19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Region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533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400">
                <a:tc>
                  <a:txBody>
                    <a:bodyPr/>
                    <a:lstStyle/>
                    <a:p>
                      <a:pPr marL="19685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le</a:t>
                      </a:r>
                      <a:r>
                        <a:rPr sz="1200" spc="-5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after</a:t>
                      </a:r>
                      <a:r>
                        <a:rPr sz="1200" spc="-5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a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9525">
                      <a:solidFill>
                        <a:srgbClr val="FFCC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33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FFCC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0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9525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8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5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full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3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9525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280"/>
                        </a:lnSpc>
                        <a:spcBef>
                          <a:spcPts val="509"/>
                        </a:spcBef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9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64769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380">
                <a:tc>
                  <a:txBody>
                    <a:bodyPr/>
                    <a:lstStyle/>
                    <a:p>
                      <a:pPr marL="52069">
                        <a:lnSpc>
                          <a:spcPts val="1145"/>
                        </a:lnSpc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195"/>
                        </a:lnSpc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Context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79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09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as</a:t>
                      </a:r>
                      <a:r>
                        <a:rPr sz="1200" spc="-5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Read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70485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 rowSpan="3">
                  <a:txBody>
                    <a:bodyPr/>
                    <a:lstStyle/>
                    <a:p>
                      <a:pPr marL="100965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User</a:t>
                      </a:r>
                      <a:r>
                        <a:rPr sz="19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</a:t>
                      </a:r>
                      <a:r>
                        <a:rPr sz="19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154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81597">
                <a:tc rowSpan="2">
                  <a:txBody>
                    <a:bodyPr/>
                    <a:lstStyle/>
                    <a:p>
                      <a:pPr marL="17780">
                        <a:lnSpc>
                          <a:spcPts val="1260"/>
                        </a:lnSpc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71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5494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736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12700">
                      <a:solidFill>
                        <a:srgbClr val="0D467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76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0"/>
                        </a:spcBef>
                      </a:pPr>
                      <a:r>
                        <a:rPr sz="1200" dirty="0">
                          <a:solidFill>
                            <a:srgbClr val="4B555E"/>
                          </a:solidFill>
                          <a:latin typeface="Calibri"/>
                          <a:cs typeface="Calibri"/>
                        </a:rPr>
                        <a:t>as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6985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FFCC00"/>
                      </a:solidFill>
                      <a:prstDash val="solid"/>
                    </a:lnT>
                    <a:lnB w="12700">
                      <a:solidFill>
                        <a:srgbClr val="FFCC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sz="1900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Shared</a:t>
                      </a:r>
                      <a:r>
                        <a:rPr sz="1900" spc="-3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Library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8255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144"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25"/>
                        </a:lnSpc>
                      </a:pPr>
                      <a:r>
                        <a:rPr sz="19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Code</a:t>
                      </a:r>
                      <a:endParaRPr sz="19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12700">
                      <a:solidFill>
                        <a:srgbClr val="0D467E"/>
                      </a:solidFill>
                      <a:prstDash val="solid"/>
                    </a:lnB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11302"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R w="3810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8100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D467E"/>
                      </a:solidFill>
                      <a:prstDash val="solid"/>
                    </a:lnT>
                    <a:lnB w="381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7182357" y="4757673"/>
            <a:ext cx="8293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User</a:t>
            </a:r>
            <a:r>
              <a:rPr sz="1200" spc="-4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Mode</a:t>
            </a:r>
            <a:r>
              <a:rPr sz="1200" spc="-4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h </a:t>
            </a:r>
            <a:r>
              <a:rPr sz="1200" spc="-254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Execute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only </a:t>
            </a:r>
            <a:r>
              <a:rPr sz="1200" spc="-26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Privileges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828278" y="5859881"/>
            <a:ext cx="204660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" dirty="0">
                <a:solidFill>
                  <a:srgbClr val="4B555E"/>
                </a:solidFill>
                <a:latin typeface="Calibri"/>
                <a:cs typeface="Calibri"/>
              </a:rPr>
              <a:t>Example PMP</a:t>
            </a:r>
            <a:r>
              <a:rPr sz="1400" spc="-1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400" spc="-5" dirty="0">
                <a:solidFill>
                  <a:srgbClr val="4B555E"/>
                </a:solidFill>
                <a:latin typeface="Calibri"/>
                <a:cs typeface="Calibri"/>
              </a:rPr>
              <a:t>Memory</a:t>
            </a:r>
            <a:r>
              <a:rPr sz="1400" spc="-2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4B555E"/>
                </a:solidFill>
                <a:latin typeface="Calibri"/>
                <a:cs typeface="Calibri"/>
              </a:rPr>
              <a:t>Map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949178" y="3134105"/>
            <a:ext cx="96520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588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Can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define 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e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n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tire</a:t>
            </a:r>
            <a:r>
              <a:rPr sz="1200" spc="-15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a</a:t>
            </a:r>
            <a:r>
              <a:rPr sz="1200" spc="5" dirty="0">
                <a:solidFill>
                  <a:srgbClr val="4B555E"/>
                </a:solidFill>
                <a:latin typeface="Calibri"/>
                <a:cs typeface="Calibri"/>
              </a:rPr>
              <a:t>d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dre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ss 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map as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not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accessible</a:t>
            </a:r>
            <a:endParaRPr sz="1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to</a:t>
            </a:r>
            <a:r>
              <a:rPr sz="1200" spc="-3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spc="-5" dirty="0">
                <a:solidFill>
                  <a:srgbClr val="4B555E"/>
                </a:solidFill>
                <a:latin typeface="Calibri"/>
                <a:cs typeface="Calibri"/>
              </a:rPr>
              <a:t>U-Mode</a:t>
            </a:r>
            <a:r>
              <a:rPr sz="1200" spc="-3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in</a:t>
            </a:r>
            <a:r>
              <a:rPr sz="1200" spc="-30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1 </a:t>
            </a:r>
            <a:r>
              <a:rPr sz="1200" spc="-254" dirty="0">
                <a:solidFill>
                  <a:srgbClr val="4B555E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4B555E"/>
                </a:solidFill>
                <a:latin typeface="Calibri"/>
                <a:cs typeface="Calibri"/>
              </a:rPr>
              <a:t>register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2445C6-D862-035E-01D7-B1A2F670DF12}"/>
              </a:ext>
            </a:extLst>
          </p:cNvPr>
          <p:cNvSpPr txBox="1"/>
          <p:nvPr/>
        </p:nvSpPr>
        <p:spPr>
          <a:xfrm>
            <a:off x="6096000" y="6202837"/>
            <a:ext cx="609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If USER mode tries to enter other regions apart from grey zones then the software will then TRAP to machine mode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6622" y="1127887"/>
            <a:ext cx="5933799" cy="436869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ts val="2155"/>
              </a:lnSpc>
              <a:spcBef>
                <a:spcPts val="95"/>
              </a:spcBef>
              <a:buSzPct val="102702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RISC-V</a:t>
            </a:r>
            <a:r>
              <a:rPr sz="185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defines</a:t>
            </a:r>
            <a:r>
              <a:rPr sz="185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85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following</a:t>
            </a:r>
            <a:r>
              <a:rPr sz="185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  <a:r>
              <a:rPr sz="1850" b="1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per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 Hart</a:t>
            </a:r>
            <a:r>
              <a:rPr lang="en-US" sz="1850" b="1" spc="-5" dirty="0">
                <a:solidFill>
                  <a:srgbClr val="3B3B3B"/>
                </a:solidFill>
                <a:latin typeface="Calibri"/>
                <a:cs typeface="Calibri"/>
              </a:rPr>
              <a:t>/ Core</a:t>
            </a:r>
            <a:endParaRPr sz="1850" dirty="0">
              <a:latin typeface="Calibri"/>
              <a:cs typeface="Calibri"/>
            </a:endParaRPr>
          </a:p>
          <a:p>
            <a:pPr marL="1002665" lvl="1" indent="-381635">
              <a:lnSpc>
                <a:spcPts val="190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Software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–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architecturally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defined</a:t>
            </a:r>
            <a:r>
              <a:rPr sz="1650" dirty="0">
                <a:latin typeface="Calibri"/>
                <a:cs typeface="Calibri"/>
              </a:rPr>
              <a:t> software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</a:t>
            </a:r>
          </a:p>
          <a:p>
            <a:pPr marL="1002665" lvl="1" indent="-381635">
              <a:lnSpc>
                <a:spcPts val="189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dirty="0">
                <a:latin typeface="Calibri"/>
                <a:cs typeface="Calibri"/>
              </a:rPr>
              <a:t>Timer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–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architecturally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defined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timer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interrupt</a:t>
            </a:r>
            <a:endParaRPr sz="1650" dirty="0">
              <a:latin typeface="Calibri"/>
              <a:cs typeface="Calibri"/>
            </a:endParaRPr>
          </a:p>
          <a:p>
            <a:pPr marL="1002665" lvl="1" indent="-381635">
              <a:lnSpc>
                <a:spcPts val="1900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dirty="0">
                <a:latin typeface="Calibri"/>
                <a:cs typeface="Calibri"/>
              </a:rPr>
              <a:t>External </a:t>
            </a:r>
            <a:r>
              <a:rPr sz="1650" spc="5" dirty="0">
                <a:latin typeface="Calibri"/>
                <a:cs typeface="Calibri"/>
              </a:rPr>
              <a:t>–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Peripheral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Interrupts</a:t>
            </a:r>
          </a:p>
          <a:p>
            <a:pPr marL="1002665" lvl="1" indent="-381635">
              <a:lnSpc>
                <a:spcPts val="197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Local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lang="en-US" sz="1650" spc="5" dirty="0">
                <a:latin typeface="Calibri"/>
                <a:cs typeface="Calibri"/>
              </a:rPr>
              <a:t>–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Hart</a:t>
            </a:r>
            <a:r>
              <a:rPr lang="en-US" sz="1650" spc="5" dirty="0">
                <a:latin typeface="Calibri"/>
                <a:cs typeface="Calibri"/>
              </a:rPr>
              <a:t>/Core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specific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Peripheral </a:t>
            </a:r>
            <a:r>
              <a:rPr sz="1650" dirty="0">
                <a:latin typeface="Calibri"/>
                <a:cs typeface="Calibri"/>
              </a:rPr>
              <a:t>Interrupts</a:t>
            </a:r>
            <a:r>
              <a:rPr lang="en-US" sz="1650" dirty="0">
                <a:latin typeface="Calibri"/>
                <a:cs typeface="Calibri"/>
              </a:rPr>
              <a:t> i.e. specific to a particular core</a:t>
            </a:r>
            <a:endParaRPr sz="165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Clr>
                <a:srgbClr val="797979"/>
              </a:buClr>
              <a:buFont typeface="Arial MT"/>
              <a:buChar char="–"/>
            </a:pPr>
            <a:endParaRPr sz="1500" dirty="0">
              <a:latin typeface="Calibri"/>
              <a:cs typeface="Calibri"/>
            </a:endParaRPr>
          </a:p>
          <a:p>
            <a:pPr marL="469265" indent="-457200">
              <a:lnSpc>
                <a:spcPts val="2155"/>
              </a:lnSpc>
              <a:buSzPct val="102702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Optionally</a:t>
            </a:r>
            <a:r>
              <a:rPr sz="1850" b="1" spc="-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per</a:t>
            </a:r>
            <a:r>
              <a:rPr sz="185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privilege</a:t>
            </a:r>
            <a:r>
              <a:rPr sz="1850" b="1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level</a:t>
            </a:r>
            <a:endParaRPr sz="1850" dirty="0">
              <a:latin typeface="Calibri"/>
              <a:cs typeface="Calibri"/>
            </a:endParaRPr>
          </a:p>
          <a:p>
            <a:pPr marL="1002665" marR="582295" lvl="1" indent="-381000">
              <a:lnSpc>
                <a:spcPct val="80800"/>
              </a:lnSpc>
              <a:spcBef>
                <a:spcPts val="330"/>
              </a:spcBef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Can</a:t>
            </a:r>
            <a:r>
              <a:rPr sz="1650" spc="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have </a:t>
            </a:r>
            <a:r>
              <a:rPr sz="1650" dirty="0">
                <a:latin typeface="Calibri"/>
                <a:cs typeface="Calibri"/>
              </a:rPr>
              <a:t>Supervisor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Software/Timer/Machine </a:t>
            </a:r>
            <a:r>
              <a:rPr sz="1650" spc="-3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Interrupts</a:t>
            </a:r>
          </a:p>
          <a:p>
            <a:pPr marL="1002665" lvl="1" indent="-381635">
              <a:lnSpc>
                <a:spcPts val="190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Can</a:t>
            </a:r>
            <a:r>
              <a:rPr sz="1650" spc="-2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have</a:t>
            </a:r>
            <a:r>
              <a:rPr sz="1650" spc="-3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User</a:t>
            </a:r>
            <a:r>
              <a:rPr sz="1650" spc="-4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Software/Timer/Machine</a:t>
            </a:r>
            <a:endParaRPr sz="165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0"/>
              </a:spcBef>
              <a:buClr>
                <a:srgbClr val="797979"/>
              </a:buClr>
              <a:buFont typeface="Arial MT"/>
              <a:buChar char="–"/>
            </a:pPr>
            <a:endParaRPr sz="1850" dirty="0">
              <a:latin typeface="Calibri"/>
              <a:cs typeface="Calibri"/>
            </a:endParaRPr>
          </a:p>
          <a:p>
            <a:pPr marL="469265" marR="276225" indent="-457200">
              <a:lnSpc>
                <a:spcPct val="80000"/>
              </a:lnSpc>
              <a:buSzPct val="102702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Local</a:t>
            </a:r>
            <a:r>
              <a:rPr sz="185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  <a:r>
              <a:rPr sz="185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are</a:t>
            </a:r>
            <a:r>
              <a:rPr sz="185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optional and implementation </a:t>
            </a:r>
            <a:r>
              <a:rPr sz="1850" b="1" spc="-40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specific</a:t>
            </a:r>
            <a:endParaRPr sz="1850" dirty="0">
              <a:latin typeface="Calibri"/>
              <a:cs typeface="Calibri"/>
            </a:endParaRPr>
          </a:p>
          <a:p>
            <a:pPr marL="1002665" lvl="1" indent="-381635">
              <a:lnSpc>
                <a:spcPts val="183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Can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be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used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hart-specific </a:t>
            </a:r>
            <a:r>
              <a:rPr sz="1650" dirty="0">
                <a:latin typeface="Calibri"/>
                <a:cs typeface="Calibri"/>
              </a:rPr>
              <a:t>peripheral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interrupts</a:t>
            </a:r>
          </a:p>
          <a:p>
            <a:pPr marL="1002665" marR="285115" lvl="1" indent="-381000">
              <a:lnSpc>
                <a:spcPct val="80400"/>
              </a:lnSpc>
              <a:spcBef>
                <a:spcPts val="335"/>
              </a:spcBef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dirty="0">
                <a:latin typeface="Calibri"/>
                <a:cs typeface="Calibri"/>
              </a:rPr>
              <a:t>Useful for latency-sensitive </a:t>
            </a:r>
            <a:r>
              <a:rPr sz="1650" spc="5" dirty="0">
                <a:latin typeface="Calibri"/>
                <a:cs typeface="Calibri"/>
              </a:rPr>
              <a:t>embedded systems </a:t>
            </a:r>
            <a:r>
              <a:rPr sz="1650" dirty="0">
                <a:latin typeface="Calibri"/>
                <a:cs typeface="Calibri"/>
              </a:rPr>
              <a:t>or </a:t>
            </a:r>
            <a:r>
              <a:rPr sz="1650" spc="-36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small </a:t>
            </a:r>
            <a:r>
              <a:rPr sz="1650" spc="5" dirty="0">
                <a:latin typeface="Calibri"/>
                <a:cs typeface="Calibri"/>
              </a:rPr>
              <a:t>embedded systems with a small </a:t>
            </a:r>
            <a:r>
              <a:rPr sz="1650" dirty="0">
                <a:latin typeface="Calibri"/>
                <a:cs typeface="Calibri"/>
              </a:rPr>
              <a:t>number of 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3489" y="16870"/>
            <a:ext cx="469686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RIS</a:t>
            </a:r>
            <a:r>
              <a:rPr spc="-200" dirty="0"/>
              <a:t>C</a:t>
            </a:r>
            <a:r>
              <a:rPr spc="-229" dirty="0"/>
              <a:t>-</a:t>
            </a:r>
            <a:r>
              <a:rPr spc="-45" dirty="0"/>
              <a:t>V</a:t>
            </a:r>
            <a:r>
              <a:rPr spc="-165" dirty="0"/>
              <a:t> </a:t>
            </a:r>
            <a:r>
              <a:rPr spc="-175" dirty="0"/>
              <a:t>Inter</a:t>
            </a:r>
            <a:r>
              <a:rPr spc="-160" dirty="0"/>
              <a:t>r</a:t>
            </a:r>
            <a:r>
              <a:rPr spc="-70" dirty="0"/>
              <a:t>upts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48984" y="2281427"/>
            <a:ext cx="5804888" cy="221767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95</a:t>
            </a:fld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648A06-1DDE-3519-52AD-91ADD806020B}"/>
              </a:ext>
            </a:extLst>
          </p:cNvPr>
          <p:cNvSpPr txBox="1"/>
          <p:nvPr/>
        </p:nvSpPr>
        <p:spPr>
          <a:xfrm>
            <a:off x="966622" y="5652639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For more Details Refer:   https://five-embeddev.com/quickref/interrupts.html</a:t>
            </a:r>
            <a:endParaRPr lang="en-US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5917" y="108591"/>
            <a:ext cx="1077714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135" dirty="0"/>
              <a:t>Interrupts bits in </a:t>
            </a:r>
            <a:r>
              <a:rPr spc="-60" dirty="0"/>
              <a:t>Machine</a:t>
            </a:r>
            <a:r>
              <a:rPr spc="-150" dirty="0"/>
              <a:t> </a:t>
            </a:r>
            <a:r>
              <a:rPr spc="-105" dirty="0"/>
              <a:t>Status</a:t>
            </a:r>
            <a:r>
              <a:rPr spc="-140" dirty="0"/>
              <a:t> </a:t>
            </a:r>
            <a:r>
              <a:rPr spc="-150" dirty="0"/>
              <a:t>(</a:t>
            </a:r>
            <a:r>
              <a:rPr i="1" spc="-150" dirty="0" err="1">
                <a:latin typeface="Verdana"/>
                <a:cs typeface="Verdana"/>
              </a:rPr>
              <a:t>mstatus</a:t>
            </a:r>
            <a:r>
              <a:rPr i="1" spc="-150" dirty="0">
                <a:latin typeface="Verdana"/>
                <a:cs typeface="Verdana"/>
              </a:rPr>
              <a:t>)</a:t>
            </a:r>
            <a:endParaRPr spc="-135" dirty="0"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96</a:t>
            </a:fld>
            <a:endParaRPr dirty="0"/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607734"/>
              </p:ext>
            </p:extLst>
          </p:nvPr>
        </p:nvGraphicFramePr>
        <p:xfrm>
          <a:off x="1236751" y="1352803"/>
          <a:ext cx="4575810" cy="32983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711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42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3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R="2476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58419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UIE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5651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SIE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3</a:t>
                      </a:r>
                      <a:endParaRPr sz="120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MIE</a:t>
                      </a:r>
                      <a:endParaRPr sz="120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b="1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b="1" spc="-3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3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Enable</a:t>
                      </a:r>
                      <a:endParaRPr sz="120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UPIE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Enable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SPIE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78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26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MPIE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Previous </a:t>
                      </a:r>
                      <a:r>
                        <a:rPr sz="1200" b="1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Enabler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34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SPP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Privilege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6034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[10:9]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dirty="0">
                          <a:latin typeface="Calibri"/>
                          <a:cs typeface="Calibri"/>
                        </a:rPr>
                        <a:t>[12:11]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890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MPP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5905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b="1" spc="-5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Previous</a:t>
                      </a:r>
                      <a:r>
                        <a:rPr sz="12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latin typeface="Calibri"/>
                          <a:cs typeface="Calibri"/>
                        </a:rPr>
                        <a:t>Privilege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474166" y="5168894"/>
            <a:ext cx="9426575" cy="1580515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689610" algn="ctr">
              <a:lnSpc>
                <a:spcPct val="100000"/>
              </a:lnSpc>
              <a:spcBef>
                <a:spcPts val="345"/>
              </a:spcBef>
            </a:pPr>
            <a:r>
              <a:rPr sz="1100" dirty="0">
                <a:solidFill>
                  <a:srgbClr val="C53927"/>
                </a:solidFill>
                <a:latin typeface="Calibri"/>
                <a:cs typeface="Calibri"/>
              </a:rPr>
              <a:t>RV32</a:t>
            </a:r>
            <a:r>
              <a:rPr sz="1100" spc="1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mstatus</a:t>
            </a:r>
            <a:r>
              <a:rPr sz="1100" i="1" spc="-4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spc="-5" dirty="0">
                <a:solidFill>
                  <a:srgbClr val="C53927"/>
                </a:solidFill>
                <a:latin typeface="Calibri"/>
                <a:cs typeface="Calibri"/>
              </a:rPr>
              <a:t>CSR</a:t>
            </a:r>
            <a:endParaRPr sz="11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34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M/S/U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IE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–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Global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6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Enables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for</a:t>
            </a:r>
            <a:r>
              <a:rPr sz="16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Modes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which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supports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  <a:endParaRPr sz="16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M/S/U</a:t>
            </a:r>
            <a:r>
              <a:rPr sz="16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PIE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– Encodes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 state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enables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prior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an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interrupt.</a:t>
            </a:r>
            <a:endParaRPr sz="1600" dirty="0">
              <a:latin typeface="Calibri"/>
              <a:cs typeface="Calibri"/>
            </a:endParaRPr>
          </a:p>
          <a:p>
            <a:pPr marL="1003300" lvl="1" indent="-38227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1003300" algn="l"/>
                <a:tab pos="1003935" algn="l"/>
              </a:tabLst>
            </a:pPr>
            <a:r>
              <a:rPr sz="1400" spc="-5" dirty="0">
                <a:latin typeface="Calibri"/>
                <a:cs typeface="Calibri"/>
              </a:rPr>
              <a:t>These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bits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written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order</a:t>
            </a:r>
            <a:r>
              <a:rPr sz="1400" dirty="0">
                <a:latin typeface="Calibri"/>
                <a:cs typeface="Calibri"/>
              </a:rPr>
              <a:t> 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enable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interrupts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returning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lower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privilege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modes</a:t>
            </a:r>
            <a:endParaRPr sz="14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M/S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PP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– Encodes</a:t>
            </a:r>
            <a:r>
              <a:rPr sz="16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privilege level</a:t>
            </a:r>
            <a:r>
              <a:rPr sz="16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prior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 the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previous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endParaRPr sz="1600" dirty="0">
              <a:latin typeface="Calibri"/>
              <a:cs typeface="Calibri"/>
            </a:endParaRPr>
          </a:p>
          <a:p>
            <a:pPr marL="1003300" lvl="1" indent="-382270">
              <a:lnSpc>
                <a:spcPct val="100000"/>
              </a:lnSpc>
              <a:spcBef>
                <a:spcPts val="305"/>
              </a:spcBef>
              <a:buFont typeface="Arial MT"/>
              <a:buChar char="–"/>
              <a:tabLst>
                <a:tab pos="1003300" algn="l"/>
                <a:tab pos="1003935" algn="l"/>
              </a:tabLst>
            </a:pPr>
            <a:r>
              <a:rPr sz="1400" spc="-5" dirty="0">
                <a:latin typeface="Calibri"/>
                <a:cs typeface="Calibri"/>
              </a:rPr>
              <a:t>These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bits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can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also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written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order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enter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lower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privilege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mode </a:t>
            </a:r>
            <a:r>
              <a:rPr sz="1400" dirty="0">
                <a:latin typeface="Calibri"/>
                <a:cs typeface="Calibri"/>
              </a:rPr>
              <a:t>when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executing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MRET</a:t>
            </a:r>
            <a:r>
              <a:rPr sz="1400" spc="-5" dirty="0">
                <a:latin typeface="Calibri"/>
                <a:cs typeface="Calibri"/>
              </a:rPr>
              <a:t> or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SRET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instructions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872B8C45-8903-8E43-EBCA-BF44D147BA87}"/>
              </a:ext>
            </a:extLst>
          </p:cNvPr>
          <p:cNvSpPr/>
          <p:nvPr/>
        </p:nvSpPr>
        <p:spPr>
          <a:xfrm>
            <a:off x="962050" y="1583703"/>
            <a:ext cx="274701" cy="21681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57D70C-AD5B-DF55-6B91-260B81697E97}"/>
              </a:ext>
            </a:extLst>
          </p:cNvPr>
          <p:cNvSpPr txBox="1"/>
          <p:nvPr/>
        </p:nvSpPr>
        <p:spPr>
          <a:xfrm>
            <a:off x="238344" y="2249633"/>
            <a:ext cx="8151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Interrupt Specific Bits for different Modes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BB74EB-61D0-8390-1FC4-F6FA4FBC48E7}"/>
              </a:ext>
            </a:extLst>
          </p:cNvPr>
          <p:cNvSpPr txBox="1"/>
          <p:nvPr/>
        </p:nvSpPr>
        <p:spPr>
          <a:xfrm>
            <a:off x="6216316" y="1003138"/>
            <a:ext cx="5975684" cy="424731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Previous Interrupt Enable bit (MPIE)</a:t>
            </a:r>
            <a:r>
              <a:rPr lang="en-US" dirty="0"/>
              <a:t> in RISC-V stores the prior global interrupt enable state so that when returning from an interrupt/trap (</a:t>
            </a:r>
            <a:r>
              <a:rPr lang="en-US" dirty="0" err="1"/>
              <a:t>mret</a:t>
            </a:r>
            <a:r>
              <a:rPr lang="en-US" dirty="0"/>
              <a:t>), the processor can restore the exact same interrupt configuration it had before.</a:t>
            </a:r>
          </a:p>
          <a:p>
            <a:endParaRPr lang="en-US" dirty="0"/>
          </a:p>
          <a:p>
            <a:r>
              <a:rPr lang="en-US" b="1" dirty="0"/>
              <a:t>Why is this useful?</a:t>
            </a:r>
            <a:endParaRPr lang="en-US" sz="1600" dirty="0"/>
          </a:p>
          <a:p>
            <a:pPr lvl="0"/>
            <a:r>
              <a:rPr lang="en-US" dirty="0"/>
              <a:t>Without MPIE, the system wouldn’t know whether interrupts were enabled or disabled before the trap.</a:t>
            </a:r>
            <a:endParaRPr lang="en-US" sz="1600" dirty="0"/>
          </a:p>
          <a:p>
            <a:pPr lvl="0"/>
            <a:r>
              <a:rPr lang="en-US" dirty="0"/>
              <a:t>With it:</a:t>
            </a:r>
            <a:endParaRPr lang="en-US" sz="1600" dirty="0"/>
          </a:p>
          <a:p>
            <a:pPr lvl="1"/>
            <a:r>
              <a:rPr lang="en-US" dirty="0"/>
              <a:t>If interrupts were </a:t>
            </a:r>
            <a:r>
              <a:rPr lang="en-US" b="1" dirty="0"/>
              <a:t>enabled</a:t>
            </a:r>
            <a:r>
              <a:rPr lang="en-US" dirty="0"/>
              <a:t> before trap → they’ll be enabled again after return.</a:t>
            </a:r>
            <a:endParaRPr lang="en-US" sz="1600" dirty="0"/>
          </a:p>
          <a:p>
            <a:pPr lvl="1"/>
            <a:r>
              <a:rPr lang="en-US" dirty="0"/>
              <a:t>If interrupts were </a:t>
            </a:r>
            <a:r>
              <a:rPr lang="en-US" b="1" dirty="0"/>
              <a:t>disabled</a:t>
            </a:r>
            <a:r>
              <a:rPr lang="en-US" dirty="0"/>
              <a:t> → they stay disabled after return.</a:t>
            </a:r>
            <a:endParaRPr lang="en-US" sz="1600" dirty="0"/>
          </a:p>
          <a:p>
            <a:pPr lvl="0"/>
            <a:r>
              <a:rPr lang="en-US" dirty="0"/>
              <a:t>This makes </a:t>
            </a:r>
            <a:r>
              <a:rPr lang="en-US" b="1" dirty="0"/>
              <a:t>interrupt handling transparent</a:t>
            </a:r>
            <a:r>
              <a:rPr lang="en-US" dirty="0"/>
              <a:t> to application code and supports </a:t>
            </a:r>
            <a:r>
              <a:rPr lang="en-US" b="1" dirty="0"/>
              <a:t>nested interrupts</a:t>
            </a:r>
            <a:r>
              <a:rPr lang="en-US" dirty="0"/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3490" y="16870"/>
            <a:ext cx="9099178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</a:t>
            </a:r>
            <a:r>
              <a:rPr spc="-55" dirty="0"/>
              <a:t>a</a:t>
            </a:r>
            <a:r>
              <a:rPr spc="-20" dirty="0"/>
              <a:t>c</a:t>
            </a:r>
            <a:r>
              <a:rPr spc="-35" dirty="0"/>
              <a:t>h</a:t>
            </a:r>
            <a:r>
              <a:rPr spc="-75" dirty="0"/>
              <a:t>ine</a:t>
            </a:r>
            <a:r>
              <a:rPr spc="-155" dirty="0"/>
              <a:t> </a:t>
            </a:r>
            <a:r>
              <a:rPr spc="-525" dirty="0"/>
              <a:t>I</a:t>
            </a:r>
            <a:r>
              <a:rPr spc="-60" dirty="0"/>
              <a:t>nt</a:t>
            </a:r>
            <a:r>
              <a:rPr spc="-75" dirty="0"/>
              <a:t>e</a:t>
            </a:r>
            <a:r>
              <a:rPr spc="-110" dirty="0"/>
              <a:t>rr</a:t>
            </a:r>
            <a:r>
              <a:rPr spc="-175" dirty="0"/>
              <a:t>u</a:t>
            </a:r>
            <a:r>
              <a:rPr spc="-35" dirty="0"/>
              <a:t>pt</a:t>
            </a:r>
            <a:r>
              <a:rPr spc="-130" dirty="0"/>
              <a:t> </a:t>
            </a:r>
            <a:r>
              <a:rPr spc="-55" dirty="0"/>
              <a:t>Ca</a:t>
            </a:r>
            <a:r>
              <a:rPr spc="-65" dirty="0"/>
              <a:t>u</a:t>
            </a:r>
            <a:r>
              <a:rPr spc="-114" dirty="0"/>
              <a:t>se</a:t>
            </a:r>
            <a:r>
              <a:rPr spc="-150" dirty="0"/>
              <a:t> </a:t>
            </a:r>
            <a:r>
              <a:rPr spc="-75" dirty="0"/>
              <a:t>C</a:t>
            </a:r>
            <a:r>
              <a:rPr spc="-70" dirty="0"/>
              <a:t>S</a:t>
            </a:r>
            <a:r>
              <a:rPr spc="-114" dirty="0"/>
              <a:t>R</a:t>
            </a:r>
            <a:r>
              <a:rPr spc="-165" dirty="0"/>
              <a:t> </a:t>
            </a:r>
            <a:r>
              <a:rPr spc="-445" dirty="0"/>
              <a:t>(</a:t>
            </a:r>
            <a:r>
              <a:rPr i="1" spc="-5" dirty="0">
                <a:latin typeface="Verdana"/>
                <a:cs typeface="Verdana"/>
              </a:rPr>
              <a:t>mca</a:t>
            </a:r>
            <a:r>
              <a:rPr i="1" spc="-20" dirty="0">
                <a:latin typeface="Verdana"/>
                <a:cs typeface="Verdana"/>
              </a:rPr>
              <a:t>u</a:t>
            </a:r>
            <a:r>
              <a:rPr i="1" spc="-229" dirty="0">
                <a:latin typeface="Verdana"/>
                <a:cs typeface="Verdana"/>
              </a:rPr>
              <a:t>se)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825500" y="1301876"/>
            <a:ext cx="4607560" cy="160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  <a:r>
              <a:rPr sz="2000" b="1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are</a:t>
            </a:r>
            <a:r>
              <a:rPr sz="20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identified</a:t>
            </a:r>
            <a:r>
              <a:rPr sz="20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by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 reading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endParaRPr sz="2000" dirty="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b="1" i="1" dirty="0">
                <a:solidFill>
                  <a:srgbClr val="3B3B3B"/>
                </a:solidFill>
                <a:latin typeface="Calibri"/>
                <a:cs typeface="Calibri"/>
              </a:rPr>
              <a:t>mcause</a:t>
            </a:r>
            <a:r>
              <a:rPr sz="2000" b="1" i="1" spc="-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CSR</a:t>
            </a:r>
            <a:endParaRPr sz="2000" dirty="0">
              <a:latin typeface="Calibri"/>
              <a:cs typeface="Calibri"/>
            </a:endParaRPr>
          </a:p>
          <a:p>
            <a:pPr marL="469900" marR="71120" indent="-457834">
              <a:lnSpc>
                <a:spcPct val="100000"/>
              </a:lnSpc>
              <a:spcBef>
                <a:spcPts val="395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2000" b="1" i="1" spc="-20" dirty="0">
                <a:solidFill>
                  <a:srgbClr val="FF0000"/>
                </a:solidFill>
                <a:latin typeface="Calibri"/>
                <a:cs typeface="Calibri"/>
              </a:rPr>
              <a:t>I</a:t>
            </a:r>
            <a:r>
              <a:rPr sz="2000" b="1" i="1" dirty="0">
                <a:solidFill>
                  <a:srgbClr val="FF0000"/>
                </a:solidFill>
                <a:latin typeface="Calibri"/>
                <a:cs typeface="Calibri"/>
              </a:rPr>
              <a:t>nterrupt</a:t>
            </a:r>
            <a:r>
              <a:rPr sz="2000" b="1" i="1" spc="-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field</a:t>
            </a:r>
            <a:r>
              <a:rPr sz="20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determines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if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0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trap </a:t>
            </a:r>
            <a:r>
              <a:rPr sz="2000" b="1" spc="-43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was caused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by an interrupt or an </a:t>
            </a:r>
            <a:r>
              <a:rPr sz="20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exception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5737478" y="2026285"/>
          <a:ext cx="3134995" cy="4608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2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500">
                <a:tc gridSpan="2">
                  <a:txBody>
                    <a:bodyPr/>
                    <a:lstStyle/>
                    <a:p>
                      <a:pPr marL="69024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1</a:t>
                      </a:r>
                      <a:r>
                        <a:rPr sz="14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(interrupt)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7979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377825" marR="154940" indent="-14668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tion 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4549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 Software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Software 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Timer 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Timer 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 External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711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281"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6985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-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L="6921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≥16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X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058147" y="1097661"/>
          <a:ext cx="3007995" cy="56859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26">
                <a:tc gridSpan="2">
                  <a:txBody>
                    <a:bodyPr/>
                    <a:lstStyle/>
                    <a:p>
                      <a:pPr marL="59880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400" b="1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=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sz="1400" b="1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(exception)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7979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453">
                <a:tc>
                  <a:txBody>
                    <a:bodyPr/>
                    <a:lstStyle/>
                    <a:p>
                      <a:pPr marL="274320" marR="102235" indent="-14478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c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p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tion 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73406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Instruction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Misaligned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Instruction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Illegal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Instruction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256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Breakpoint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Misaligned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00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383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Store/AMO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Address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Misaligned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257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Store/AMO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Access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383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Call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U-mode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383">
                <a:tc>
                  <a:txBody>
                    <a:bodyPr/>
                    <a:lstStyle/>
                    <a:p>
                      <a:pPr marL="1841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Call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S-mode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384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 marR="43560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Environment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Call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from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M- </a:t>
                      </a:r>
                      <a:r>
                        <a:rPr sz="1200" spc="-254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8307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Instruction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2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83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Load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83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8345"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Store/AMO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Page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Fault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8356">
                <a:tc>
                  <a:txBody>
                    <a:bodyPr/>
                    <a:lstStyle/>
                    <a:p>
                      <a:pPr marL="1968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≥16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1114536"/>
              </p:ext>
            </p:extLst>
          </p:nvPr>
        </p:nvGraphicFramePr>
        <p:xfrm>
          <a:off x="888034" y="3716782"/>
          <a:ext cx="4710428" cy="10123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78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1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07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90170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93345" algn="ct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815" marB="0"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XLEN-1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89535" algn="ctr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200" i="1" spc="-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Interrupt</a:t>
                      </a:r>
                      <a:endParaRPr sz="1200" i="1" dirty="0">
                        <a:solidFill>
                          <a:srgbClr val="FF0000"/>
                        </a:solidFill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92735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Identifies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if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an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was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39395">
                        <a:lnSpc>
                          <a:spcPct val="100000"/>
                        </a:lnSpc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synchronous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or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asynchronous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447"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[XLEN-2:0]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08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Exception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Code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398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Identifies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exception</a:t>
                      </a: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2898139" y="4754117"/>
            <a:ext cx="70358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mc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aus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e</a:t>
            </a:r>
            <a:r>
              <a:rPr sz="1100" i="1" spc="-1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C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SR</a:t>
            </a:r>
            <a:endParaRPr sz="11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05085CB-00D7-7951-6CF8-F3B4906CBAC4}"/>
                  </a:ext>
                </a:extLst>
              </p14:cNvPr>
              <p14:cNvContentPartPr/>
              <p14:nvPr/>
            </p14:nvContentPartPr>
            <p14:xfrm>
              <a:off x="5816520" y="736560"/>
              <a:ext cx="6013800" cy="60138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05085CB-00D7-7951-6CF8-F3B4906CBA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7160" y="727200"/>
                <a:ext cx="6032520" cy="6032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6622" y="1449451"/>
            <a:ext cx="5727700" cy="3733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838200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mie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used to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enable/disable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given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endParaRPr sz="2400" dirty="0">
              <a:latin typeface="Calibri"/>
              <a:cs typeface="Calibri"/>
            </a:endParaRPr>
          </a:p>
          <a:p>
            <a:pPr marL="469265" marR="923290" indent="-4572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mip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indicates which interrupts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are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currently pending</a:t>
            </a:r>
            <a:endParaRPr sz="2400" dirty="0">
              <a:latin typeface="Calibri"/>
              <a:cs typeface="Calibri"/>
            </a:endParaRPr>
          </a:p>
          <a:p>
            <a:pPr marL="1002665" lvl="1" indent="-38163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used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for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polling</a:t>
            </a:r>
            <a:endParaRPr sz="20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Lesser-privilege</a:t>
            </a:r>
            <a:r>
              <a:rPr sz="24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bits</a:t>
            </a:r>
            <a:r>
              <a:rPr sz="24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mip</a:t>
            </a:r>
            <a:r>
              <a:rPr sz="2400" b="1" i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are</a:t>
            </a:r>
            <a:r>
              <a:rPr sz="24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writeable</a:t>
            </a:r>
            <a:endParaRPr sz="2400" dirty="0">
              <a:latin typeface="Calibri"/>
              <a:cs typeface="Calibri"/>
            </a:endParaRPr>
          </a:p>
          <a:p>
            <a:pPr marL="1002665" marR="5080" lvl="1" indent="-381000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2000" spc="-5" dirty="0">
                <a:latin typeface="Calibri"/>
                <a:cs typeface="Calibri"/>
              </a:rPr>
              <a:t>i.e. </a:t>
            </a:r>
            <a:r>
              <a:rPr sz="2000" dirty="0">
                <a:latin typeface="Calibri"/>
                <a:cs typeface="Calibri"/>
              </a:rPr>
              <a:t>Machine-mode </a:t>
            </a:r>
            <a:r>
              <a:rPr sz="2000" spc="-5" dirty="0">
                <a:latin typeface="Calibri"/>
                <a:cs typeface="Calibri"/>
              </a:rPr>
              <a:t>software </a:t>
            </a:r>
            <a:r>
              <a:rPr sz="2000" dirty="0">
                <a:latin typeface="Calibri"/>
                <a:cs typeface="Calibri"/>
              </a:rPr>
              <a:t>can </a:t>
            </a:r>
            <a:r>
              <a:rPr sz="2000" spc="-5" dirty="0">
                <a:latin typeface="Calibri"/>
                <a:cs typeface="Calibri"/>
              </a:rPr>
              <a:t>be used </a:t>
            </a:r>
            <a:r>
              <a:rPr sz="2000" dirty="0">
                <a:latin typeface="Calibri"/>
                <a:cs typeface="Calibri"/>
              </a:rPr>
              <a:t>to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generate a </a:t>
            </a:r>
            <a:r>
              <a:rPr sz="2000" spc="-5" dirty="0">
                <a:latin typeface="Calibri"/>
                <a:cs typeface="Calibri"/>
              </a:rPr>
              <a:t>supervisor </a:t>
            </a:r>
            <a:r>
              <a:rPr sz="2000" dirty="0">
                <a:latin typeface="Calibri"/>
                <a:cs typeface="Calibri"/>
              </a:rPr>
              <a:t>interrupt </a:t>
            </a:r>
            <a:r>
              <a:rPr sz="2000" spc="-5" dirty="0">
                <a:latin typeface="Calibri"/>
                <a:cs typeface="Calibri"/>
              </a:rPr>
              <a:t>by setting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STIP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bit</a:t>
            </a:r>
            <a:endParaRPr sz="20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mip</a:t>
            </a:r>
            <a:r>
              <a:rPr sz="2400" b="1" i="1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has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 the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same</a:t>
            </a:r>
            <a:r>
              <a:rPr sz="24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mapping</a:t>
            </a:r>
            <a:r>
              <a:rPr sz="24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as</a:t>
            </a:r>
            <a:r>
              <a:rPr sz="24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i="1" dirty="0">
                <a:solidFill>
                  <a:srgbClr val="3B3B3B"/>
                </a:solidFill>
                <a:latin typeface="Calibri"/>
                <a:cs typeface="Calibri"/>
              </a:rPr>
              <a:t>mie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98</a:t>
            </a:fld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42137" y="0"/>
            <a:ext cx="10428357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Machine</a:t>
            </a:r>
            <a:r>
              <a:rPr spc="-150" dirty="0"/>
              <a:t> </a:t>
            </a:r>
            <a:r>
              <a:rPr spc="-114" dirty="0"/>
              <a:t>Interrupt-Enable</a:t>
            </a:r>
            <a:r>
              <a:rPr spc="-120" dirty="0"/>
              <a:t> </a:t>
            </a:r>
            <a:r>
              <a:rPr spc="-70" dirty="0"/>
              <a:t>and</a:t>
            </a:r>
            <a:r>
              <a:rPr spc="-125" dirty="0"/>
              <a:t> </a:t>
            </a:r>
            <a:r>
              <a:rPr spc="-45" dirty="0"/>
              <a:t>Pending</a:t>
            </a:r>
            <a:r>
              <a:rPr spc="-125" dirty="0"/>
              <a:t> </a:t>
            </a:r>
            <a:r>
              <a:rPr spc="-105" dirty="0"/>
              <a:t>CSRs</a:t>
            </a:r>
            <a:r>
              <a:rPr spc="-150" dirty="0"/>
              <a:t> </a:t>
            </a:r>
            <a:r>
              <a:rPr spc="-185" dirty="0"/>
              <a:t>(</a:t>
            </a:r>
            <a:r>
              <a:rPr i="1" spc="-185" dirty="0">
                <a:latin typeface="Verdana"/>
                <a:cs typeface="Verdana"/>
              </a:rPr>
              <a:t>mie,</a:t>
            </a:r>
            <a:r>
              <a:rPr i="1" spc="-135" dirty="0">
                <a:latin typeface="Verdana"/>
                <a:cs typeface="Verdana"/>
              </a:rPr>
              <a:t> </a:t>
            </a:r>
            <a:r>
              <a:rPr i="1" spc="-150" dirty="0">
                <a:latin typeface="Verdana"/>
                <a:cs typeface="Verdana"/>
              </a:rPr>
              <a:t>mip)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763205"/>
              </p:ext>
            </p:extLst>
          </p:nvPr>
        </p:nvGraphicFramePr>
        <p:xfrm>
          <a:off x="7283577" y="1819275"/>
          <a:ext cx="4575175" cy="41212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483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14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R="66040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6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 Software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SSIE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Software Interrupt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2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3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MSIE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Software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4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UTIE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 Timer Interrupt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4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STIE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540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Timer Interrupt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7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MTIE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769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Timer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8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UEIE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64769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User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9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SEIE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731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11</a:t>
                      </a: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493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MEIE</a:t>
                      </a:r>
                      <a:endParaRPr sz="1200" dirty="0">
                        <a:highlight>
                          <a:srgbClr val="FFFF00"/>
                        </a:highlight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667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2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External</a:t>
                      </a:r>
                      <a:r>
                        <a:rPr sz="1200" spc="-2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45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highlight>
                            <a:srgbClr val="FFFF00"/>
                          </a:highlight>
                          <a:latin typeface="Calibri"/>
                          <a:cs typeface="Calibri"/>
                        </a:rPr>
                        <a:t>Enable</a:t>
                      </a: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12-15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R="7429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i="1" dirty="0"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32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≥16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239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LIE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413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Local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Enable</a:t>
                      </a: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9338564" y="5965647"/>
            <a:ext cx="4794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mie</a:t>
            </a:r>
            <a:r>
              <a:rPr sz="1100" i="1" spc="-1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C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SR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60241" y="1264665"/>
            <a:ext cx="5916930" cy="3073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50" b="1" i="1" spc="-5" dirty="0">
                <a:solidFill>
                  <a:srgbClr val="3B3B3B"/>
                </a:solidFill>
                <a:latin typeface="Calibri"/>
                <a:cs typeface="Calibri"/>
              </a:rPr>
              <a:t>mtvec</a:t>
            </a:r>
            <a:r>
              <a:rPr sz="1850" b="1" i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sets</a:t>
            </a:r>
            <a:r>
              <a:rPr sz="185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Base</a:t>
            </a:r>
            <a:r>
              <a:rPr sz="185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85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vector</a:t>
            </a:r>
            <a:r>
              <a:rPr sz="185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185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85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850" b="1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dirty="0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endParaRPr sz="185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99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66622" y="3752469"/>
            <a:ext cx="6604634" cy="15506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7200">
              <a:lnSpc>
                <a:spcPts val="2155"/>
              </a:lnSpc>
              <a:spcBef>
                <a:spcPts val="95"/>
              </a:spcBef>
              <a:buSzPct val="102702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850" b="1" i="1" spc="-5" dirty="0">
                <a:solidFill>
                  <a:srgbClr val="3B3B3B"/>
                </a:solidFill>
                <a:latin typeface="Calibri"/>
                <a:cs typeface="Calibri"/>
              </a:rPr>
              <a:t>mtvec.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r>
              <a:rPr sz="185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=</a:t>
            </a:r>
            <a:r>
              <a:rPr sz="1850" b="1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Direct</a:t>
            </a:r>
            <a:endParaRPr sz="1850" dirty="0">
              <a:latin typeface="Calibri"/>
              <a:cs typeface="Calibri"/>
            </a:endParaRPr>
          </a:p>
          <a:p>
            <a:pPr marL="1002665" lvl="1" indent="-381635">
              <a:lnSpc>
                <a:spcPts val="190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dirty="0">
                <a:latin typeface="Calibri"/>
                <a:cs typeface="Calibri"/>
              </a:rPr>
              <a:t>All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Interrupts </a:t>
            </a:r>
            <a:r>
              <a:rPr sz="1650" spc="5" dirty="0">
                <a:latin typeface="Calibri"/>
                <a:cs typeface="Calibri"/>
              </a:rPr>
              <a:t>trap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to</a:t>
            </a:r>
            <a:r>
              <a:rPr sz="165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address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i="1" spc="5" dirty="0">
                <a:latin typeface="Calibri"/>
                <a:cs typeface="Calibri"/>
              </a:rPr>
              <a:t>mtvec.</a:t>
            </a:r>
            <a:r>
              <a:rPr sz="1650" spc="5" dirty="0">
                <a:latin typeface="Calibri"/>
                <a:cs typeface="Calibri"/>
              </a:rPr>
              <a:t>Base</a:t>
            </a:r>
            <a:endParaRPr sz="1650" dirty="0">
              <a:latin typeface="Calibri"/>
              <a:cs typeface="Calibri"/>
            </a:endParaRPr>
          </a:p>
          <a:p>
            <a:pPr marL="1002665" lvl="1" indent="-381635">
              <a:lnSpc>
                <a:spcPts val="194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Software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must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read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i="1" spc="5" dirty="0">
                <a:latin typeface="Calibri"/>
                <a:cs typeface="Calibri"/>
              </a:rPr>
              <a:t>mcause</a:t>
            </a:r>
            <a:r>
              <a:rPr sz="1650" i="1" spc="-2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CSR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10" dirty="0">
                <a:latin typeface="Calibri"/>
                <a:cs typeface="Calibri"/>
              </a:rPr>
              <a:t>and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react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accordingly</a:t>
            </a:r>
            <a:endParaRPr sz="1650" dirty="0">
              <a:latin typeface="Calibri"/>
              <a:cs typeface="Calibri"/>
            </a:endParaRPr>
          </a:p>
          <a:p>
            <a:pPr marL="469265" indent="-457200">
              <a:lnSpc>
                <a:spcPts val="2130"/>
              </a:lnSpc>
              <a:buSzPct val="102702"/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850" b="1" i="1" spc="-5" dirty="0" err="1">
                <a:solidFill>
                  <a:srgbClr val="3B3B3B"/>
                </a:solidFill>
                <a:latin typeface="Calibri"/>
                <a:cs typeface="Calibri"/>
              </a:rPr>
              <a:t>mtvec</a:t>
            </a:r>
            <a:r>
              <a:rPr sz="1850" b="1" spc="-5" dirty="0" err="1">
                <a:solidFill>
                  <a:srgbClr val="3B3B3B"/>
                </a:solidFill>
                <a:latin typeface="Calibri"/>
                <a:cs typeface="Calibri"/>
              </a:rPr>
              <a:t>.</a:t>
            </a:r>
            <a:r>
              <a:rPr lang="en-US" sz="1850" b="1" spc="-5" dirty="0" err="1">
                <a:solidFill>
                  <a:srgbClr val="3B3B3B"/>
                </a:solidFill>
                <a:latin typeface="Calibri"/>
                <a:cs typeface="Calibri"/>
              </a:rPr>
              <a:t>Mode</a:t>
            </a:r>
            <a:r>
              <a:rPr lang="en-US" sz="1850" b="1" spc="-5" dirty="0">
                <a:solidFill>
                  <a:srgbClr val="3B3B3B"/>
                </a:solidFill>
                <a:latin typeface="Calibri"/>
                <a:cs typeface="Calibri"/>
              </a:rPr>
              <a:t> = </a:t>
            </a:r>
            <a:r>
              <a:rPr sz="1850" b="1" spc="-5" dirty="0">
                <a:solidFill>
                  <a:srgbClr val="3B3B3B"/>
                </a:solidFill>
                <a:latin typeface="Calibri"/>
                <a:cs typeface="Calibri"/>
              </a:rPr>
              <a:t>Vectored</a:t>
            </a:r>
            <a:endParaRPr sz="1850" dirty="0">
              <a:latin typeface="Calibri"/>
              <a:cs typeface="Calibri"/>
            </a:endParaRPr>
          </a:p>
          <a:p>
            <a:pPr marL="1002665" lvl="1" indent="-381635">
              <a:lnSpc>
                <a:spcPts val="1905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dirty="0">
                <a:latin typeface="Calibri"/>
                <a:cs typeface="Calibri"/>
              </a:rPr>
              <a:t>Interrupts </a:t>
            </a:r>
            <a:r>
              <a:rPr sz="1650" spc="5" dirty="0">
                <a:latin typeface="Calibri"/>
                <a:cs typeface="Calibri"/>
              </a:rPr>
              <a:t>trap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to the</a:t>
            </a:r>
            <a:r>
              <a:rPr sz="1650" spc="-1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address</a:t>
            </a:r>
            <a:r>
              <a:rPr sz="1650" spc="20" dirty="0">
                <a:latin typeface="Calibri"/>
                <a:cs typeface="Calibri"/>
              </a:rPr>
              <a:t> </a:t>
            </a:r>
            <a:r>
              <a:rPr sz="1650" i="1" spc="5" dirty="0">
                <a:latin typeface="Calibri"/>
                <a:cs typeface="Calibri"/>
              </a:rPr>
              <a:t>mtvec.</a:t>
            </a:r>
            <a:r>
              <a:rPr sz="1650" spc="5" dirty="0">
                <a:latin typeface="Calibri"/>
                <a:cs typeface="Calibri"/>
              </a:rPr>
              <a:t>Base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+ </a:t>
            </a:r>
            <a:r>
              <a:rPr sz="1650" dirty="0">
                <a:latin typeface="Calibri"/>
                <a:cs typeface="Calibri"/>
              </a:rPr>
              <a:t>(4*</a:t>
            </a:r>
            <a:r>
              <a:rPr sz="1650" i="1" dirty="0">
                <a:latin typeface="Calibri"/>
                <a:cs typeface="Calibri"/>
              </a:rPr>
              <a:t>mcause.ExCode)</a:t>
            </a:r>
            <a:endParaRPr sz="1650" dirty="0">
              <a:latin typeface="Calibri"/>
              <a:cs typeface="Calibri"/>
            </a:endParaRPr>
          </a:p>
          <a:p>
            <a:pPr marL="1002665" lvl="1" indent="-381635">
              <a:lnSpc>
                <a:spcPts val="1970"/>
              </a:lnSpc>
              <a:buSzPct val="103030"/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650" spc="5" dirty="0">
                <a:latin typeface="Calibri"/>
                <a:cs typeface="Calibri"/>
              </a:rPr>
              <a:t>Eliminates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the</a:t>
            </a:r>
            <a:r>
              <a:rPr sz="1650" spc="-1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need</a:t>
            </a:r>
            <a:r>
              <a:rPr sz="1650" spc="5" dirty="0">
                <a:latin typeface="Calibri"/>
                <a:cs typeface="Calibri"/>
              </a:rPr>
              <a:t> to</a:t>
            </a:r>
            <a:r>
              <a:rPr sz="1650" spc="-5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read</a:t>
            </a:r>
            <a:r>
              <a:rPr sz="1650" spc="1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mcause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for</a:t>
            </a:r>
            <a:r>
              <a:rPr sz="1650" spc="5" dirty="0">
                <a:latin typeface="Calibri"/>
                <a:cs typeface="Calibri"/>
              </a:rPr>
              <a:t> </a:t>
            </a:r>
            <a:r>
              <a:rPr sz="1650" dirty="0">
                <a:latin typeface="Calibri"/>
                <a:cs typeface="Calibri"/>
              </a:rPr>
              <a:t>asynchronous</a:t>
            </a:r>
            <a:r>
              <a:rPr sz="1650" spc="-30" dirty="0">
                <a:latin typeface="Calibri"/>
                <a:cs typeface="Calibri"/>
              </a:rPr>
              <a:t> </a:t>
            </a:r>
            <a:r>
              <a:rPr sz="1650" spc="5" dirty="0">
                <a:latin typeface="Calibri"/>
                <a:cs typeface="Calibri"/>
              </a:rPr>
              <a:t>exceptions</a:t>
            </a:r>
            <a:endParaRPr sz="165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9030" y="407889"/>
            <a:ext cx="8062483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60" dirty="0"/>
              <a:t>M</a:t>
            </a:r>
            <a:r>
              <a:rPr spc="-55" dirty="0"/>
              <a:t>a</a:t>
            </a:r>
            <a:r>
              <a:rPr spc="-20" dirty="0"/>
              <a:t>c</a:t>
            </a:r>
            <a:r>
              <a:rPr spc="-35" dirty="0"/>
              <a:t>h</a:t>
            </a:r>
            <a:r>
              <a:rPr spc="-75" dirty="0"/>
              <a:t>ine</a:t>
            </a:r>
            <a:r>
              <a:rPr spc="-155" dirty="0"/>
              <a:t> T</a:t>
            </a:r>
            <a:r>
              <a:rPr spc="-120" dirty="0"/>
              <a:t>r</a:t>
            </a:r>
            <a:r>
              <a:rPr spc="-170" dirty="0"/>
              <a:t>a</a:t>
            </a:r>
            <a:r>
              <a:rPr spc="-25" dirty="0"/>
              <a:t>p</a:t>
            </a:r>
            <a:r>
              <a:rPr spc="-150" dirty="0"/>
              <a:t> </a:t>
            </a:r>
            <a:r>
              <a:rPr spc="-65" dirty="0"/>
              <a:t>V</a:t>
            </a:r>
            <a:r>
              <a:rPr spc="-70" dirty="0"/>
              <a:t>ector</a:t>
            </a:r>
            <a:r>
              <a:rPr spc="-150" dirty="0"/>
              <a:t> </a:t>
            </a:r>
            <a:r>
              <a:rPr spc="-75" dirty="0"/>
              <a:t>C</a:t>
            </a:r>
            <a:r>
              <a:rPr spc="-70" dirty="0"/>
              <a:t>S</a:t>
            </a:r>
            <a:r>
              <a:rPr spc="-114" dirty="0"/>
              <a:t>R</a:t>
            </a:r>
            <a:r>
              <a:rPr spc="-165" dirty="0"/>
              <a:t> </a:t>
            </a:r>
            <a:r>
              <a:rPr spc="-445" dirty="0"/>
              <a:t>(</a:t>
            </a:r>
            <a:r>
              <a:rPr i="1" spc="-120" dirty="0">
                <a:latin typeface="Verdana"/>
                <a:cs typeface="Verdana"/>
              </a:rPr>
              <a:t>mtvec)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298955" y="2203830"/>
          <a:ext cx="4709160" cy="11950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99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38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020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Bits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Field</a:t>
                      </a:r>
                      <a:r>
                        <a:rPr sz="12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43180" marB="0">
                    <a:solidFill>
                      <a:srgbClr val="7979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850">
                <a:tc>
                  <a:txBody>
                    <a:bodyPr/>
                    <a:lstStyle/>
                    <a:p>
                      <a:pPr marR="52069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[XLEN-1:6]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Base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514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Machine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Trap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Vector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Base</a:t>
                      </a:r>
                      <a:r>
                        <a:rPr sz="1200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Address.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51435" algn="ctr">
                        <a:lnSpc>
                          <a:spcPct val="100000"/>
                        </a:lnSpc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64-byte</a:t>
                      </a:r>
                      <a:r>
                        <a:rPr sz="12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Alignment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R="5016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[1:0]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Mode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20140" marR="147955" indent="-91186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MODE</a:t>
                      </a:r>
                      <a:r>
                        <a:rPr sz="1200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Sets</a:t>
                      </a:r>
                      <a:r>
                        <a:rPr sz="1200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the</a:t>
                      </a:r>
                      <a:r>
                        <a:rPr sz="12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interrupt</a:t>
                      </a:r>
                      <a:r>
                        <a:rPr sz="12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processing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mode.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353180" y="3490976"/>
            <a:ext cx="6146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mtvec</a:t>
            </a:r>
            <a:r>
              <a:rPr sz="1100" i="1" spc="-1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C</a:t>
            </a:r>
            <a:r>
              <a:rPr sz="1100" i="1" dirty="0">
                <a:solidFill>
                  <a:srgbClr val="C53927"/>
                </a:solidFill>
                <a:latin typeface="Calibri"/>
                <a:cs typeface="Calibri"/>
              </a:rPr>
              <a:t>SR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564503" y="2203830"/>
          <a:ext cx="5394325" cy="19570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9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984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500">
                <a:tc gridSpan="3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400" b="1" spc="-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mtvec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Modes</a:t>
                      </a:r>
                      <a:endParaRPr sz="1400">
                        <a:latin typeface="Calibri"/>
                        <a:cs typeface="Calibri"/>
                      </a:endParaRPr>
                    </a:p>
                  </a:txBody>
                  <a:tcPr marL="0" marR="0" marT="40640" marB="0">
                    <a:solidFill>
                      <a:srgbClr val="79797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marL="38735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Value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797979"/>
                      </a:solidFill>
                      <a:prstDash val="solid"/>
                    </a:lnL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431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Name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57480" algn="ctr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Description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0480" marB="0">
                    <a:lnR w="12700">
                      <a:solidFill>
                        <a:srgbClr val="797979"/>
                      </a:solidFill>
                      <a:prstDash val="solid"/>
                    </a:lnR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0x0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6215" algn="ctr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Direct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Exceptions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set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PC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 mtvec.BASE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4765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2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4-Byte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alignment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6830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latin typeface="Calibri"/>
                          <a:cs typeface="Calibri"/>
                        </a:rPr>
                        <a:t>0x1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194945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Vectored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247650" marR="31623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spc="-5" dirty="0">
                          <a:latin typeface="Calibri"/>
                          <a:cs typeface="Calibri"/>
                        </a:rPr>
                        <a:t>Asynchronous interrupts set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pc to </a:t>
                      </a:r>
                      <a:r>
                        <a:rPr sz="12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mtvec.BASE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+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(4×mcause.EXCCODE) </a:t>
                      </a:r>
                      <a:r>
                        <a:rPr sz="1200" spc="-2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Requires</a:t>
                      </a:r>
                      <a:r>
                        <a:rPr sz="12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5" dirty="0">
                          <a:latin typeface="Calibri"/>
                          <a:cs typeface="Calibri"/>
                        </a:rPr>
                        <a:t>4-Byte</a:t>
                      </a:r>
                      <a:r>
                        <a:rPr sz="1200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latin typeface="Calibri"/>
                          <a:cs typeface="Calibri"/>
                        </a:rPr>
                        <a:t>alignment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  <a:solidFill>
                      <a:srgbClr val="EB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pPr marL="3937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sz="1200" spc="-35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0x01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2700">
                      <a:solidFill>
                        <a:srgbClr val="797979"/>
                      </a:solidFill>
                      <a:prstDash val="solid"/>
                    </a:lnL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4765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200" dirty="0">
                          <a:solidFill>
                            <a:srgbClr val="FF0000"/>
                          </a:solidFill>
                          <a:latin typeface="Calibri"/>
                          <a:cs typeface="Calibri"/>
                        </a:rPr>
                        <a:t>Reserved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R w="12700">
                      <a:solidFill>
                        <a:srgbClr val="797979"/>
                      </a:solidFill>
                      <a:prstDash val="solid"/>
                    </a:lnR>
                    <a:lnT w="12700">
                      <a:solidFill>
                        <a:srgbClr val="797979"/>
                      </a:solidFill>
                      <a:prstDash val="solid"/>
                    </a:lnT>
                    <a:lnB w="12700">
                      <a:solidFill>
                        <a:srgbClr val="79797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510124C-E957-B05E-22ED-A03634F63456}"/>
                  </a:ext>
                </a:extLst>
              </p14:cNvPr>
              <p14:cNvContentPartPr/>
              <p14:nvPr/>
            </p14:nvContentPartPr>
            <p14:xfrm>
              <a:off x="2565360" y="2336760"/>
              <a:ext cx="6775920" cy="1257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510124C-E957-B05E-22ED-A03634F6345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56000" y="2327400"/>
                <a:ext cx="6794640" cy="1276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6171" y="1579085"/>
            <a:ext cx="5952594" cy="2021707"/>
          </a:xfrm>
          <a:prstGeom prst="rect">
            <a:avLst/>
          </a:prstGeom>
        </p:spPr>
        <p:txBody>
          <a:bodyPr vert="horz" wrap="square" lIns="0" tIns="7175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56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On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entry,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RISC-V</a:t>
            </a:r>
            <a:r>
              <a:rPr sz="20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hart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will</a:t>
            </a:r>
            <a:endParaRPr lang="en-US" sz="2000" dirty="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415"/>
              </a:spcBef>
              <a:tabLst>
                <a:tab pos="1002665" algn="l"/>
              </a:tabLst>
            </a:pPr>
            <a:r>
              <a:rPr lang="en-US" sz="1800" dirty="0">
                <a:latin typeface="Arial MT"/>
                <a:cs typeface="Arial MT"/>
              </a:rPr>
              <a:t>–	</a:t>
            </a:r>
            <a:r>
              <a:rPr lang="en-US" sz="1800" spc="-5" dirty="0">
                <a:latin typeface="Calibri"/>
                <a:cs typeface="Calibri"/>
              </a:rPr>
              <a:t>Save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10" dirty="0">
                <a:latin typeface="Calibri"/>
                <a:cs typeface="Calibri"/>
              </a:rPr>
              <a:t> </a:t>
            </a:r>
            <a:r>
              <a:rPr lang="en-US" sz="1800" spc="-5" dirty="0">
                <a:latin typeface="Calibri"/>
                <a:cs typeface="Calibri"/>
              </a:rPr>
              <a:t>current</a:t>
            </a:r>
            <a:r>
              <a:rPr lang="en-US" sz="1800" spc="5" dirty="0">
                <a:latin typeface="Calibri"/>
                <a:cs typeface="Calibri"/>
              </a:rPr>
              <a:t> </a:t>
            </a:r>
            <a:r>
              <a:rPr lang="en-US" sz="1800" spc="-5" dirty="0">
                <a:latin typeface="Calibri"/>
                <a:cs typeface="Calibri"/>
              </a:rPr>
              <a:t>state</a:t>
            </a:r>
          </a:p>
          <a:p>
            <a:pPr marL="621665">
              <a:spcBef>
                <a:spcPts val="415"/>
              </a:spcBef>
              <a:tabLst>
                <a:tab pos="1002665" algn="l"/>
              </a:tabLst>
            </a:pPr>
            <a:r>
              <a:rPr lang="en-US" sz="1800" dirty="0">
                <a:latin typeface="Arial MT"/>
                <a:cs typeface="Arial MT"/>
              </a:rPr>
              <a:t>–	</a:t>
            </a:r>
            <a:r>
              <a:rPr lang="en-US" spc="-5" dirty="0">
                <a:latin typeface="Calibri"/>
                <a:cs typeface="Calibri"/>
              </a:rPr>
              <a:t>PC is Copied to Machine Exception Program Counter</a:t>
            </a:r>
          </a:p>
          <a:p>
            <a:pPr marL="621665">
              <a:spcBef>
                <a:spcPts val="415"/>
              </a:spcBef>
              <a:tabLst>
                <a:tab pos="1002665" algn="l"/>
              </a:tabLst>
            </a:pPr>
            <a:r>
              <a:rPr lang="en-US" sz="1800" dirty="0">
                <a:latin typeface="Arial MT"/>
                <a:cs typeface="Arial MT"/>
              </a:rPr>
              <a:t>–    </a:t>
            </a:r>
            <a:r>
              <a:rPr lang="en-US" spc="-5" dirty="0">
                <a:latin typeface="Calibri"/>
                <a:cs typeface="Calibri"/>
              </a:rPr>
              <a:t>Privilege mode is Copied to M Status Prev. Priv. Mode</a:t>
            </a:r>
            <a:endParaRPr lang="en-US" sz="1800" dirty="0">
              <a:latin typeface="Calibri"/>
              <a:cs typeface="Calibri"/>
            </a:endParaRPr>
          </a:p>
          <a:p>
            <a:pPr marL="621665">
              <a:spcBef>
                <a:spcPts val="415"/>
              </a:spcBef>
              <a:tabLst>
                <a:tab pos="1002665" algn="l"/>
              </a:tabLst>
            </a:pPr>
            <a:r>
              <a:rPr lang="en-US" sz="1800" dirty="0">
                <a:latin typeface="Arial MT"/>
                <a:cs typeface="Arial MT"/>
              </a:rPr>
              <a:t>–    </a:t>
            </a:r>
            <a:r>
              <a:rPr lang="en-US" spc="-5" dirty="0">
                <a:latin typeface="Calibri"/>
                <a:cs typeface="Calibri"/>
              </a:rPr>
              <a:t>Int. EN is Copied to Machine Status Previous Int. EN</a:t>
            </a:r>
            <a:endParaRPr lang="en-US" sz="1800" dirty="0">
              <a:latin typeface="Calibri"/>
              <a:cs typeface="Calibri"/>
            </a:endParaRPr>
          </a:p>
          <a:p>
            <a:pPr marL="621665">
              <a:lnSpc>
                <a:spcPct val="100000"/>
              </a:lnSpc>
              <a:spcBef>
                <a:spcPts val="415"/>
              </a:spcBef>
              <a:tabLst>
                <a:tab pos="1002665" algn="l"/>
              </a:tabLst>
            </a:pPr>
            <a:endParaRPr sz="1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48107" y="4377626"/>
            <a:ext cx="7178140" cy="11644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1665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sz="1800" dirty="0">
                <a:latin typeface="Arial MT"/>
                <a:cs typeface="Arial MT"/>
              </a:rPr>
              <a:t>–	</a:t>
            </a:r>
            <a:r>
              <a:rPr sz="1800" spc="-5" dirty="0">
                <a:latin typeface="Calibri"/>
                <a:cs typeface="Calibri"/>
              </a:rPr>
              <a:t>Then</a:t>
            </a:r>
            <a:r>
              <a:rPr sz="1800" dirty="0">
                <a:latin typeface="Calibri"/>
                <a:cs typeface="Calibri"/>
              </a:rPr>
              <a:t> set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PC</a:t>
            </a:r>
            <a:r>
              <a:rPr sz="1800" dirty="0">
                <a:latin typeface="Calibri"/>
                <a:cs typeface="Calibri"/>
              </a:rPr>
              <a:t> =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i="1" dirty="0" err="1">
                <a:latin typeface="Calibri"/>
                <a:cs typeface="Calibri"/>
              </a:rPr>
              <a:t>mtvec</a:t>
            </a:r>
            <a:r>
              <a:rPr lang="en-US" sz="1800" i="1" dirty="0">
                <a:latin typeface="Calibri"/>
                <a:cs typeface="Calibri"/>
              </a:rPr>
              <a:t> (address)</a:t>
            </a:r>
            <a:r>
              <a:rPr sz="1800" i="1" dirty="0">
                <a:latin typeface="Calibri"/>
                <a:cs typeface="Calibri"/>
              </a:rPr>
              <a:t>,</a:t>
            </a:r>
            <a:r>
              <a:rPr sz="1800" i="1" spc="-10" dirty="0">
                <a:latin typeface="Calibri"/>
                <a:cs typeface="Calibri"/>
              </a:rPr>
              <a:t> </a:t>
            </a:r>
            <a:r>
              <a:rPr sz="1800" i="1" spc="-5" dirty="0">
                <a:latin typeface="Calibri"/>
                <a:cs typeface="Calibri"/>
              </a:rPr>
              <a:t>mstatus</a:t>
            </a:r>
            <a:r>
              <a:rPr sz="1800" spc="-5" dirty="0">
                <a:latin typeface="Calibri"/>
                <a:cs typeface="Calibri"/>
              </a:rPr>
              <a:t>.MIE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=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0</a:t>
            </a:r>
            <a:r>
              <a:rPr lang="en-US" dirty="0">
                <a:latin typeface="Calibri"/>
                <a:cs typeface="Calibri"/>
              </a:rPr>
              <a:t>(to disable Interrupt)</a:t>
            </a:r>
          </a:p>
          <a:p>
            <a:pPr marL="621665">
              <a:lnSpc>
                <a:spcPct val="100000"/>
              </a:lnSpc>
              <a:spcBef>
                <a:spcPts val="100"/>
              </a:spcBef>
              <a:tabLst>
                <a:tab pos="1002665" algn="l"/>
              </a:tabLst>
            </a:pPr>
            <a:r>
              <a:rPr lang="en-US" sz="1800" dirty="0">
                <a:latin typeface="Arial MT"/>
                <a:cs typeface="Arial MT"/>
              </a:rPr>
              <a:t>–	At this Point we are in Trap Handler</a:t>
            </a:r>
            <a:endParaRPr sz="18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MRET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instruction</a:t>
            </a:r>
            <a:r>
              <a:rPr sz="2000" b="1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restores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state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3490" y="79182"/>
            <a:ext cx="5870041" cy="56810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3600" spc="-95" dirty="0"/>
              <a:t>Trap</a:t>
            </a:r>
            <a:r>
              <a:rPr sz="3600" spc="-130" dirty="0"/>
              <a:t> </a:t>
            </a:r>
            <a:r>
              <a:rPr sz="3600" spc="-65" dirty="0"/>
              <a:t>H</a:t>
            </a:r>
            <a:r>
              <a:rPr sz="3600" spc="-70" dirty="0"/>
              <a:t>a</a:t>
            </a:r>
            <a:r>
              <a:rPr sz="3600" spc="-85" dirty="0"/>
              <a:t>n</a:t>
            </a:r>
            <a:r>
              <a:rPr sz="3600" spc="-75" dirty="0"/>
              <a:t>dler</a:t>
            </a:r>
            <a:r>
              <a:rPr sz="3600" spc="-114" dirty="0"/>
              <a:t> </a:t>
            </a:r>
            <a:r>
              <a:rPr sz="3600" spc="-450" dirty="0"/>
              <a:t>–</a:t>
            </a:r>
            <a:r>
              <a:rPr sz="3600" spc="-125" dirty="0"/>
              <a:t> </a:t>
            </a:r>
            <a:r>
              <a:rPr sz="3600" spc="-40" dirty="0"/>
              <a:t>Ent</a:t>
            </a:r>
            <a:r>
              <a:rPr sz="3600" spc="-125" dirty="0"/>
              <a:t>ry</a:t>
            </a:r>
            <a:r>
              <a:rPr sz="3600" spc="-145" dirty="0"/>
              <a:t> </a:t>
            </a:r>
            <a:r>
              <a:rPr sz="3600" spc="-70" dirty="0"/>
              <a:t>a</a:t>
            </a:r>
            <a:r>
              <a:rPr sz="3600" spc="-85" dirty="0"/>
              <a:t>n</a:t>
            </a:r>
            <a:r>
              <a:rPr sz="3600" spc="-10" dirty="0"/>
              <a:t>d</a:t>
            </a:r>
            <a:r>
              <a:rPr sz="3600" spc="-110" dirty="0"/>
              <a:t> </a:t>
            </a:r>
            <a:r>
              <a:rPr sz="3600" spc="-75" dirty="0"/>
              <a:t>Exit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6459092" y="1839214"/>
            <a:ext cx="46101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834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sz="2400" spc="-5" dirty="0">
                <a:latin typeface="Calibri"/>
                <a:cs typeface="Calibri"/>
              </a:rPr>
              <a:t>Typical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trap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handler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software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763141"/>
              </p:ext>
            </p:extLst>
          </p:nvPr>
        </p:nvGraphicFramePr>
        <p:xfrm>
          <a:off x="887265" y="3502420"/>
          <a:ext cx="1121410" cy="833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PC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Priv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MIE</a:t>
                      </a:r>
                      <a:endParaRPr sz="1600" dirty="0">
                        <a:latin typeface="Arial"/>
                        <a:cs typeface="Arial"/>
                      </a:endParaRPr>
                    </a:p>
                  </a:txBody>
                  <a:tcPr marL="0" marR="0" marT="1143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0894050"/>
              </p:ext>
            </p:extLst>
          </p:nvPr>
        </p:nvGraphicFramePr>
        <p:xfrm>
          <a:off x="3500925" y="3502420"/>
          <a:ext cx="1121410" cy="83362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1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8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i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MEPC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2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100" b="1" i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mstatus.</a:t>
                      </a:r>
                      <a:r>
                        <a:rPr sz="11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MPP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050" b="1" i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mstatus.</a:t>
                      </a:r>
                      <a:r>
                        <a:rPr sz="105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MPIE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461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" name="object 8"/>
          <p:cNvGrpSpPr/>
          <p:nvPr/>
        </p:nvGrpSpPr>
        <p:grpSpPr>
          <a:xfrm>
            <a:off x="2232956" y="3740164"/>
            <a:ext cx="1056640" cy="384175"/>
            <a:chOff x="2883407" y="3070860"/>
            <a:chExt cx="1056640" cy="384175"/>
          </a:xfrm>
        </p:grpSpPr>
        <p:sp>
          <p:nvSpPr>
            <p:cNvPr id="9" name="object 9"/>
            <p:cNvSpPr/>
            <p:nvPr/>
          </p:nvSpPr>
          <p:spPr>
            <a:xfrm>
              <a:off x="2896361" y="3083814"/>
              <a:ext cx="1030605" cy="358140"/>
            </a:xfrm>
            <a:custGeom>
              <a:avLst/>
              <a:gdLst/>
              <a:ahLst/>
              <a:cxnLst/>
              <a:rect l="l" t="t" r="r" b="b"/>
              <a:pathLst>
                <a:path w="1030604" h="358139">
                  <a:moveTo>
                    <a:pt x="851153" y="0"/>
                  </a:moveTo>
                  <a:lnTo>
                    <a:pt x="851153" y="89535"/>
                  </a:lnTo>
                  <a:lnTo>
                    <a:pt x="0" y="89535"/>
                  </a:lnTo>
                  <a:lnTo>
                    <a:pt x="0" y="268605"/>
                  </a:lnTo>
                  <a:lnTo>
                    <a:pt x="851153" y="268605"/>
                  </a:lnTo>
                  <a:lnTo>
                    <a:pt x="851153" y="358139"/>
                  </a:lnTo>
                  <a:lnTo>
                    <a:pt x="1030224" y="179070"/>
                  </a:lnTo>
                  <a:lnTo>
                    <a:pt x="851153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896361" y="3083814"/>
              <a:ext cx="1030605" cy="358140"/>
            </a:xfrm>
            <a:custGeom>
              <a:avLst/>
              <a:gdLst/>
              <a:ahLst/>
              <a:cxnLst/>
              <a:rect l="l" t="t" r="r" b="b"/>
              <a:pathLst>
                <a:path w="1030604" h="358139">
                  <a:moveTo>
                    <a:pt x="0" y="89535"/>
                  </a:moveTo>
                  <a:lnTo>
                    <a:pt x="851153" y="89535"/>
                  </a:lnTo>
                  <a:lnTo>
                    <a:pt x="851153" y="0"/>
                  </a:lnTo>
                  <a:lnTo>
                    <a:pt x="1030224" y="179070"/>
                  </a:lnTo>
                  <a:lnTo>
                    <a:pt x="851153" y="358139"/>
                  </a:lnTo>
                  <a:lnTo>
                    <a:pt x="851153" y="268605"/>
                  </a:lnTo>
                  <a:lnTo>
                    <a:pt x="0" y="268605"/>
                  </a:lnTo>
                  <a:lnTo>
                    <a:pt x="0" y="89535"/>
                  </a:lnTo>
                  <a:close/>
                </a:path>
              </a:pathLst>
            </a:custGeom>
            <a:ln w="2590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923531" y="2958083"/>
            <a:ext cx="4175760" cy="193865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30480" rIns="0" bIns="0" rtlCol="0">
            <a:spAutoFit/>
          </a:bodyPr>
          <a:lstStyle/>
          <a:p>
            <a:pPr marL="367665">
              <a:lnSpc>
                <a:spcPts val="1430"/>
              </a:lnSpc>
              <a:spcBef>
                <a:spcPts val="240"/>
              </a:spcBef>
            </a:pPr>
            <a:r>
              <a:rPr sz="1200" spc="-5" dirty="0">
                <a:latin typeface="Courier New"/>
                <a:cs typeface="Courier New"/>
              </a:rPr>
              <a:t>Push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Registers</a:t>
            </a:r>
            <a:endParaRPr sz="1200">
              <a:latin typeface="Courier New"/>
              <a:cs typeface="Courier New"/>
            </a:endParaRPr>
          </a:p>
          <a:p>
            <a:pPr marL="367665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…</a:t>
            </a:r>
            <a:endParaRPr sz="1200">
              <a:latin typeface="Courier New"/>
              <a:cs typeface="Courier New"/>
            </a:endParaRPr>
          </a:p>
          <a:p>
            <a:pPr marL="367665" marR="1780539">
              <a:lnSpc>
                <a:spcPct val="100000"/>
              </a:lnSpc>
            </a:pPr>
            <a:r>
              <a:rPr sz="1200" spc="-5" dirty="0">
                <a:latin typeface="Courier New"/>
                <a:cs typeface="Courier New"/>
              </a:rPr>
              <a:t>interrupt </a:t>
            </a:r>
            <a:r>
              <a:rPr sz="1200" dirty="0">
                <a:latin typeface="Courier New"/>
                <a:cs typeface="Courier New"/>
              </a:rPr>
              <a:t>= </a:t>
            </a:r>
            <a:r>
              <a:rPr sz="1200" spc="-5" dirty="0">
                <a:latin typeface="Courier New"/>
                <a:cs typeface="Courier New"/>
              </a:rPr>
              <a:t>mcause.msb </a:t>
            </a:r>
            <a:r>
              <a:rPr sz="1200" spc="-71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if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interrupt</a:t>
            </a:r>
            <a:endParaRPr sz="1200">
              <a:latin typeface="Courier New"/>
              <a:cs typeface="Courier New"/>
            </a:endParaRPr>
          </a:p>
          <a:p>
            <a:pPr marL="367665" marR="762000" indent="184150">
              <a:lnSpc>
                <a:spcPct val="100000"/>
              </a:lnSpc>
              <a:spcBef>
                <a:spcPts val="25"/>
              </a:spcBef>
            </a:pPr>
            <a:r>
              <a:rPr sz="1200" spc="-5" dirty="0">
                <a:latin typeface="Courier New"/>
                <a:cs typeface="Courier New"/>
              </a:rPr>
              <a:t>branch </a:t>
            </a:r>
            <a:r>
              <a:rPr sz="1200" dirty="0">
                <a:latin typeface="Courier New"/>
                <a:cs typeface="Courier New"/>
              </a:rPr>
              <a:t>isr_handler[mcause.code] </a:t>
            </a:r>
            <a:r>
              <a:rPr sz="1200" spc="-71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else</a:t>
            </a:r>
            <a:endParaRPr sz="1200">
              <a:latin typeface="Courier New"/>
              <a:cs typeface="Courier New"/>
            </a:endParaRPr>
          </a:p>
          <a:p>
            <a:pPr marL="552450">
              <a:lnSpc>
                <a:spcPts val="1430"/>
              </a:lnSpc>
            </a:pPr>
            <a:r>
              <a:rPr sz="1200" spc="-5" dirty="0">
                <a:latin typeface="Courier New"/>
                <a:cs typeface="Courier New"/>
              </a:rPr>
              <a:t>branch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exception_handler[mcause.code]</a:t>
            </a:r>
            <a:endParaRPr sz="1200">
              <a:latin typeface="Courier New"/>
              <a:cs typeface="Courier New"/>
            </a:endParaRPr>
          </a:p>
          <a:p>
            <a:pPr marL="367665">
              <a:lnSpc>
                <a:spcPts val="1430"/>
              </a:lnSpc>
            </a:pPr>
            <a:r>
              <a:rPr sz="1200" dirty="0">
                <a:latin typeface="Courier New"/>
                <a:cs typeface="Courier New"/>
              </a:rPr>
              <a:t>…</a:t>
            </a:r>
            <a:endParaRPr sz="1200">
              <a:latin typeface="Courier New"/>
              <a:cs typeface="Courier New"/>
            </a:endParaRPr>
          </a:p>
          <a:p>
            <a:pPr marL="367665" marR="2607945">
              <a:lnSpc>
                <a:spcPct val="100000"/>
              </a:lnSpc>
              <a:spcBef>
                <a:spcPts val="25"/>
              </a:spcBef>
            </a:pPr>
            <a:r>
              <a:rPr sz="1200" spc="-5" dirty="0">
                <a:latin typeface="Courier New"/>
                <a:cs typeface="Courier New"/>
              </a:rPr>
              <a:t>Pop</a:t>
            </a:r>
            <a:r>
              <a:rPr sz="1200" spc="-7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Registers </a:t>
            </a:r>
            <a:r>
              <a:rPr sz="1200" spc="-705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MRET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146160" y="4959477"/>
            <a:ext cx="173037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Interrupt</a:t>
            </a:r>
            <a:r>
              <a:rPr sz="1100" i="1" spc="-4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handler</a:t>
            </a:r>
            <a:r>
              <a:rPr sz="1100" i="1" spc="-20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pseudo</a:t>
            </a:r>
            <a:r>
              <a:rPr sz="1100" i="1" spc="-15" dirty="0">
                <a:solidFill>
                  <a:srgbClr val="C53927"/>
                </a:solidFill>
                <a:latin typeface="Calibri"/>
                <a:cs typeface="Calibri"/>
              </a:rPr>
              <a:t> </a:t>
            </a:r>
            <a:r>
              <a:rPr sz="1100" i="1" spc="-5" dirty="0">
                <a:solidFill>
                  <a:srgbClr val="C53927"/>
                </a:solidFill>
                <a:latin typeface="Calibri"/>
                <a:cs typeface="Calibri"/>
              </a:rPr>
              <a:t>code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53490" y="1025251"/>
            <a:ext cx="22974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mtevc.MODE</a:t>
            </a:r>
            <a:r>
              <a:rPr sz="2000" b="1" spc="-70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C00000"/>
                </a:solidFill>
                <a:latin typeface="Calibri"/>
                <a:cs typeface="Calibri"/>
              </a:rPr>
              <a:t>=</a:t>
            </a:r>
            <a:r>
              <a:rPr sz="2000" b="1" spc="-3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Calibri"/>
                <a:cs typeface="Calibri"/>
              </a:rPr>
              <a:t>Direct</a:t>
            </a:r>
            <a:endParaRPr sz="2000" dirty="0">
              <a:latin typeface="Calibri"/>
              <a:cs typeface="Calibri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443756"/>
              </p:ext>
            </p:extLst>
          </p:nvPr>
        </p:nvGraphicFramePr>
        <p:xfrm>
          <a:off x="887265" y="5882907"/>
          <a:ext cx="762000" cy="833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PC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Priv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"/>
                        </a:spcBef>
                      </a:pPr>
                      <a:r>
                        <a:rPr sz="16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MIE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70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5" name="object 15"/>
          <p:cNvGrpSpPr/>
          <p:nvPr/>
        </p:nvGrpSpPr>
        <p:grpSpPr>
          <a:xfrm>
            <a:off x="1801665" y="6120651"/>
            <a:ext cx="1487805" cy="384175"/>
            <a:chOff x="2452116" y="5451347"/>
            <a:chExt cx="1487805" cy="384175"/>
          </a:xfrm>
        </p:grpSpPr>
        <p:sp>
          <p:nvSpPr>
            <p:cNvPr id="16" name="object 16"/>
            <p:cNvSpPr/>
            <p:nvPr/>
          </p:nvSpPr>
          <p:spPr>
            <a:xfrm>
              <a:off x="2465070" y="5464301"/>
              <a:ext cx="1461770" cy="358140"/>
            </a:xfrm>
            <a:custGeom>
              <a:avLst/>
              <a:gdLst/>
              <a:ahLst/>
              <a:cxnLst/>
              <a:rect l="l" t="t" r="r" b="b"/>
              <a:pathLst>
                <a:path w="1461770" h="358139">
                  <a:moveTo>
                    <a:pt x="179069" y="0"/>
                  </a:moveTo>
                  <a:lnTo>
                    <a:pt x="0" y="179070"/>
                  </a:lnTo>
                  <a:lnTo>
                    <a:pt x="179069" y="358140"/>
                  </a:lnTo>
                  <a:lnTo>
                    <a:pt x="179069" y="268605"/>
                  </a:lnTo>
                  <a:lnTo>
                    <a:pt x="1461516" y="268605"/>
                  </a:lnTo>
                  <a:lnTo>
                    <a:pt x="1461516" y="89535"/>
                  </a:lnTo>
                  <a:lnTo>
                    <a:pt x="179069" y="89535"/>
                  </a:lnTo>
                  <a:lnTo>
                    <a:pt x="179069" y="0"/>
                  </a:lnTo>
                  <a:close/>
                </a:path>
              </a:pathLst>
            </a:custGeom>
            <a:solidFill>
              <a:srgbClr val="FFCC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65070" y="5464301"/>
              <a:ext cx="1461770" cy="358140"/>
            </a:xfrm>
            <a:custGeom>
              <a:avLst/>
              <a:gdLst/>
              <a:ahLst/>
              <a:cxnLst/>
              <a:rect l="l" t="t" r="r" b="b"/>
              <a:pathLst>
                <a:path w="1461770" h="358139">
                  <a:moveTo>
                    <a:pt x="1461516" y="268605"/>
                  </a:moveTo>
                  <a:lnTo>
                    <a:pt x="179069" y="268605"/>
                  </a:lnTo>
                  <a:lnTo>
                    <a:pt x="179069" y="358140"/>
                  </a:lnTo>
                  <a:lnTo>
                    <a:pt x="0" y="179070"/>
                  </a:lnTo>
                  <a:lnTo>
                    <a:pt x="179069" y="0"/>
                  </a:lnTo>
                  <a:lnTo>
                    <a:pt x="179069" y="89535"/>
                  </a:lnTo>
                  <a:lnTo>
                    <a:pt x="1461516" y="89535"/>
                  </a:lnTo>
                  <a:lnTo>
                    <a:pt x="1461516" y="268605"/>
                  </a:lnTo>
                  <a:close/>
                </a:path>
              </a:pathLst>
            </a:custGeom>
            <a:ln w="259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18" name="object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0345308"/>
              </p:ext>
            </p:extLst>
          </p:nvPr>
        </p:nvGraphicFramePr>
        <p:xfrm>
          <a:off x="3500925" y="5882907"/>
          <a:ext cx="1123315" cy="83362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233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7736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1600" b="1" i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MEPC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1206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1100" b="1" i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mstatus.</a:t>
                      </a:r>
                      <a:r>
                        <a:rPr sz="1100" b="1" spc="-5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MPP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T="514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050" b="1" i="1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mstatus.</a:t>
                      </a:r>
                      <a:r>
                        <a:rPr sz="1050" b="1" dirty="0">
                          <a:solidFill>
                            <a:srgbClr val="313A44"/>
                          </a:solidFill>
                          <a:latin typeface="Arial"/>
                          <a:cs typeface="Arial"/>
                        </a:rPr>
                        <a:t>MPIE</a:t>
                      </a:r>
                      <a:endParaRPr sz="1050">
                        <a:latin typeface="Arial"/>
                        <a:cs typeface="Arial"/>
                      </a:endParaRPr>
                    </a:p>
                  </a:txBody>
                  <a:tcPr marL="0" marR="0" marT="55244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100</a:t>
            </a:fld>
            <a:endParaRPr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379CC3-7E41-EE71-4E8F-07FCAAA79AEF}"/>
              </a:ext>
            </a:extLst>
          </p:cNvPr>
          <p:cNvCxnSpPr/>
          <p:nvPr/>
        </p:nvCxnSpPr>
        <p:spPr>
          <a:xfrm flipH="1">
            <a:off x="8502977" y="2498103"/>
            <a:ext cx="556182" cy="4599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E3B0FA9-2850-7411-950C-F9EC960C39E6}"/>
              </a:ext>
            </a:extLst>
          </p:cNvPr>
          <p:cNvSpPr txBox="1"/>
          <p:nvPr/>
        </p:nvSpPr>
        <p:spPr>
          <a:xfrm>
            <a:off x="8578707" y="2200439"/>
            <a:ext cx="96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Stacking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B0239B-816D-0D6B-DBA1-65C91A391B29}"/>
              </a:ext>
            </a:extLst>
          </p:cNvPr>
          <p:cNvCxnSpPr/>
          <p:nvPr/>
        </p:nvCxnSpPr>
        <p:spPr>
          <a:xfrm flipH="1">
            <a:off x="9134573" y="2799761"/>
            <a:ext cx="885490" cy="4901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C819F9E-E3C0-2D70-6D0D-70FAFC589C00}"/>
              </a:ext>
            </a:extLst>
          </p:cNvPr>
          <p:cNvSpPr txBox="1"/>
          <p:nvPr/>
        </p:nvSpPr>
        <p:spPr>
          <a:xfrm>
            <a:off x="9615341" y="2498103"/>
            <a:ext cx="22467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determine type of Int.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F0B2641-0633-C893-6903-A05873C97F09}"/>
              </a:ext>
            </a:extLst>
          </p:cNvPr>
          <p:cNvCxnSpPr/>
          <p:nvPr/>
        </p:nvCxnSpPr>
        <p:spPr>
          <a:xfrm flipH="1" flipV="1">
            <a:off x="7426247" y="4779390"/>
            <a:ext cx="501695" cy="518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EDF1666-20F7-0C50-230E-C8F959B202EF}"/>
              </a:ext>
            </a:extLst>
          </p:cNvPr>
          <p:cNvSpPr txBox="1"/>
          <p:nvPr/>
        </p:nvSpPr>
        <p:spPr>
          <a:xfrm>
            <a:off x="8022210" y="5297864"/>
            <a:ext cx="31780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 Return and Unstacking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E90493-4087-976C-8FA7-83F8D63433DF}"/>
                  </a:ext>
                </a:extLst>
              </p14:cNvPr>
              <p14:cNvContentPartPr/>
              <p14:nvPr/>
            </p14:nvContentPartPr>
            <p14:xfrm>
              <a:off x="7010280" y="2844720"/>
              <a:ext cx="3385080" cy="18482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EAE90493-4087-976C-8FA7-83F8D63433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000920" y="2835360"/>
                <a:ext cx="3403800" cy="18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A42280E-ADA1-0AE8-A6D2-B76AC94EFC1D}"/>
                  </a:ext>
                </a:extLst>
              </p14:cNvPr>
              <p14:cNvContentPartPr/>
              <p14:nvPr/>
            </p14:nvContentPartPr>
            <p14:xfrm>
              <a:off x="1555920" y="914400"/>
              <a:ext cx="6794640" cy="4426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A42280E-ADA1-0AE8-A6D2-B76AC94EFC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46560" y="905040"/>
                <a:ext cx="6813360" cy="4444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7CCE2-1A53-0771-F43A-3FE76A96A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Flow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E21D84-FFBA-A408-0E40-7F429432C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3687" y="290512"/>
            <a:ext cx="6524625" cy="6276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1F886AF-B193-1A74-0903-8C2A2630E520}"/>
                  </a:ext>
                </a:extLst>
              </p14:cNvPr>
              <p14:cNvContentPartPr/>
              <p14:nvPr/>
            </p14:nvContentPartPr>
            <p14:xfrm>
              <a:off x="2311560" y="1295280"/>
              <a:ext cx="2102040" cy="5029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1F886AF-B193-1A74-0903-8C2A2630E52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02200" y="1285920"/>
                <a:ext cx="2120760" cy="504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24406D1-F437-5FA2-D02D-768403D34B72}"/>
                  </a:ext>
                </a:extLst>
              </p14:cNvPr>
              <p14:cNvContentPartPr/>
              <p14:nvPr/>
            </p14:nvContentPartPr>
            <p14:xfrm>
              <a:off x="1733400" y="958680"/>
              <a:ext cx="10452600" cy="51948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24406D1-F437-5FA2-D02D-768403D34B7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724040" y="949320"/>
                <a:ext cx="10471320" cy="521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4680097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8408" y="1735835"/>
            <a:ext cx="3084830" cy="46882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111760" rIns="0" bIns="0" rtlCol="0">
            <a:spAutoFit/>
          </a:bodyPr>
          <a:lstStyle/>
          <a:p>
            <a:pPr marL="153035">
              <a:lnSpc>
                <a:spcPts val="1175"/>
              </a:lnSpc>
              <a:spcBef>
                <a:spcPts val="880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.align</a:t>
            </a:r>
            <a:r>
              <a:rPr sz="1000" spc="-5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2</a:t>
            </a:r>
            <a:endParaRPr sz="1000" dirty="0">
              <a:latin typeface="Courier New"/>
              <a:cs typeface="Courier New"/>
            </a:endParaRPr>
          </a:p>
          <a:p>
            <a:pPr marL="635" marR="1551940" indent="152400">
              <a:lnSpc>
                <a:spcPts val="1180"/>
              </a:lnSpc>
              <a:spcBef>
                <a:spcPts val="30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.global</a:t>
            </a:r>
            <a:r>
              <a:rPr sz="1000" spc="-5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trap_entry </a:t>
            </a:r>
            <a:r>
              <a:rPr sz="1000" spc="-585" dirty="0"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trap_entry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:</a:t>
            </a:r>
            <a:endParaRPr sz="1000" dirty="0">
              <a:latin typeface="Courier New"/>
              <a:cs typeface="Courier New"/>
            </a:endParaRPr>
          </a:p>
          <a:p>
            <a:pPr marL="153035">
              <a:lnSpc>
                <a:spcPts val="1110"/>
              </a:lnSpc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addi</a:t>
            </a:r>
            <a:r>
              <a:rPr sz="1000" spc="-1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sp,</a:t>
            </a:r>
            <a:r>
              <a:rPr sz="1000" spc="-1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sp,</a:t>
            </a:r>
            <a:r>
              <a:rPr sz="1000" spc="-1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-16*REGBYTES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000" dirty="0">
              <a:latin typeface="Courier New"/>
              <a:cs typeface="Courier New"/>
            </a:endParaRPr>
          </a:p>
          <a:p>
            <a:pPr marL="153035" marR="789940">
              <a:lnSpc>
                <a:spcPct val="97500"/>
              </a:lnSpc>
              <a:tabLst>
                <a:tab pos="991235" algn="l"/>
              </a:tabLst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//store ABI Caller Registers </a:t>
            </a:r>
            <a:r>
              <a:rPr sz="1000" spc="-59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STORE</a:t>
            </a:r>
            <a:r>
              <a:rPr sz="1000" spc="1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x1,	0*REGBYTES(sp) </a:t>
            </a:r>
            <a:r>
              <a:rPr sz="100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STORE</a:t>
            </a:r>
            <a:r>
              <a:rPr sz="1000" spc="1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x5,	2*REGBYTES(sp)</a:t>
            </a:r>
            <a:endParaRPr sz="1000" dirty="0">
              <a:latin typeface="Courier New"/>
              <a:cs typeface="Courier New"/>
            </a:endParaRPr>
          </a:p>
          <a:p>
            <a:pPr marL="915035">
              <a:lnSpc>
                <a:spcPts val="1145"/>
              </a:lnSpc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…</a:t>
            </a:r>
            <a:endParaRPr sz="1000" dirty="0">
              <a:latin typeface="Courier New"/>
              <a:cs typeface="Courier New"/>
            </a:endParaRPr>
          </a:p>
          <a:p>
            <a:pPr marL="153035" marR="942340">
              <a:lnSpc>
                <a:spcPts val="1160"/>
              </a:lnSpc>
              <a:spcBef>
                <a:spcPts val="50"/>
              </a:spcBef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STORE x30, 14*REGBYTES(sp) </a:t>
            </a:r>
            <a:r>
              <a:rPr sz="1000" spc="-59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STORE</a:t>
            </a:r>
            <a:r>
              <a:rPr sz="1000" spc="-2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x31,</a:t>
            </a:r>
            <a:r>
              <a:rPr sz="1000" spc="-2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15*REGBYTES(sp)</a:t>
            </a:r>
            <a:endParaRPr sz="1000" dirty="0">
              <a:latin typeface="Courier New"/>
              <a:cs typeface="Courier New"/>
            </a:endParaRPr>
          </a:p>
          <a:p>
            <a:pPr marL="153035" marR="1323340">
              <a:lnSpc>
                <a:spcPts val="1140"/>
              </a:lnSpc>
              <a:spcBef>
                <a:spcPts val="985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//call C Code Handler </a:t>
            </a:r>
            <a:r>
              <a:rPr sz="1000" spc="-59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call</a:t>
            </a:r>
            <a:r>
              <a:rPr sz="1000" spc="-1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handle_trap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950" dirty="0">
              <a:latin typeface="Courier New"/>
              <a:cs typeface="Courier New"/>
            </a:endParaRPr>
          </a:p>
          <a:p>
            <a:pPr marL="153035">
              <a:lnSpc>
                <a:spcPts val="1190"/>
              </a:lnSpc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//restore</a:t>
            </a:r>
            <a:r>
              <a:rPr sz="1000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ABI</a:t>
            </a:r>
            <a:r>
              <a:rPr sz="1000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Caller</a:t>
            </a:r>
            <a:r>
              <a:rPr sz="1000" spc="-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Registers</a:t>
            </a:r>
            <a:endParaRPr sz="1000" dirty="0">
              <a:latin typeface="Courier New"/>
              <a:cs typeface="Courier New"/>
            </a:endParaRPr>
          </a:p>
          <a:p>
            <a:pPr marL="153035">
              <a:lnSpc>
                <a:spcPts val="1170"/>
              </a:lnSpc>
              <a:tabLst>
                <a:tab pos="915035" algn="l"/>
              </a:tabLst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LOAD</a:t>
            </a:r>
            <a:r>
              <a:rPr sz="1000" spc="1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x1,	0*REGBYTES(sp)</a:t>
            </a:r>
            <a:endParaRPr sz="1000" dirty="0">
              <a:latin typeface="Courier New"/>
              <a:cs typeface="Courier New"/>
            </a:endParaRPr>
          </a:p>
          <a:p>
            <a:pPr marL="153035">
              <a:lnSpc>
                <a:spcPts val="1165"/>
              </a:lnSpc>
              <a:tabLst>
                <a:tab pos="915035" algn="l"/>
              </a:tabLst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LOAD</a:t>
            </a:r>
            <a:r>
              <a:rPr sz="1000" spc="5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x5,	2*REGBYTES(sp)</a:t>
            </a:r>
            <a:endParaRPr sz="1000" dirty="0">
              <a:latin typeface="Courier New"/>
              <a:cs typeface="Courier New"/>
            </a:endParaRPr>
          </a:p>
          <a:p>
            <a:pPr marL="915035">
              <a:lnSpc>
                <a:spcPts val="1160"/>
              </a:lnSpc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…</a:t>
            </a:r>
            <a:endParaRPr sz="1000" dirty="0">
              <a:latin typeface="Courier New"/>
              <a:cs typeface="Courier New"/>
            </a:endParaRPr>
          </a:p>
          <a:p>
            <a:pPr marL="153035" marR="1018540">
              <a:lnSpc>
                <a:spcPts val="1160"/>
              </a:lnSpc>
              <a:spcBef>
                <a:spcPts val="50"/>
              </a:spcBef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LOAD x30, 14*REGBYTES(sp) </a:t>
            </a:r>
            <a:r>
              <a:rPr sz="1000" spc="-59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LOAD</a:t>
            </a:r>
            <a:r>
              <a:rPr sz="1000" spc="-2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x31,</a:t>
            </a:r>
            <a:r>
              <a:rPr sz="1000" spc="-2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15*REGBYTES(sp)</a:t>
            </a:r>
            <a:endParaRPr sz="10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 dirty="0">
              <a:latin typeface="Courier New"/>
              <a:cs typeface="Courier New"/>
            </a:endParaRPr>
          </a:p>
          <a:p>
            <a:pPr marL="153035" marR="1094740">
              <a:lnSpc>
                <a:spcPts val="1150"/>
              </a:lnSpc>
              <a:spcBef>
                <a:spcPts val="880"/>
              </a:spcBef>
            </a:pP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addi sp, sp, 16*REGBYTES </a:t>
            </a:r>
            <a:r>
              <a:rPr sz="1000" spc="-59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mret</a:t>
            </a:r>
            <a:endParaRPr sz="1000" dirty="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53489" y="16870"/>
            <a:ext cx="664820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80" dirty="0"/>
              <a:t>Inte</a:t>
            </a:r>
            <a:r>
              <a:rPr spc="-160" dirty="0"/>
              <a:t>r</a:t>
            </a:r>
            <a:r>
              <a:rPr spc="-90" dirty="0"/>
              <a:t>r</a:t>
            </a:r>
            <a:r>
              <a:rPr spc="-140" dirty="0"/>
              <a:t>u</a:t>
            </a:r>
            <a:r>
              <a:rPr spc="-35" dirty="0"/>
              <a:t>pt</a:t>
            </a:r>
            <a:r>
              <a:rPr spc="-130" dirty="0"/>
              <a:t> </a:t>
            </a:r>
            <a:r>
              <a:rPr spc="-85" dirty="0"/>
              <a:t>Ha</a:t>
            </a:r>
            <a:r>
              <a:rPr spc="-90" dirty="0"/>
              <a:t>n</a:t>
            </a:r>
            <a:r>
              <a:rPr spc="-80" dirty="0"/>
              <a:t>d</a:t>
            </a:r>
            <a:r>
              <a:rPr spc="-50" dirty="0"/>
              <a:t>l</a:t>
            </a:r>
            <a:r>
              <a:rPr spc="-120" dirty="0"/>
              <a:t>er</a:t>
            </a:r>
            <a:r>
              <a:rPr spc="-135" dirty="0"/>
              <a:t> </a:t>
            </a:r>
            <a:r>
              <a:rPr spc="-40" dirty="0"/>
              <a:t>Code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977384" y="1735835"/>
            <a:ext cx="7002780" cy="4688205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260985">
              <a:lnSpc>
                <a:spcPct val="100000"/>
              </a:lnSpc>
              <a:spcBef>
                <a:spcPts val="60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1000" spc="-4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handle_trap()</a:t>
            </a:r>
            <a:endParaRPr sz="1000">
              <a:latin typeface="Courier New"/>
              <a:cs typeface="Courier New"/>
            </a:endParaRPr>
          </a:p>
          <a:p>
            <a:pPr marL="229235">
              <a:lnSpc>
                <a:spcPct val="100000"/>
              </a:lnSpc>
              <a:spcBef>
                <a:spcPts val="290"/>
              </a:spcBef>
            </a:pP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534035" marR="3413125">
              <a:lnSpc>
                <a:spcPts val="1520"/>
              </a:lnSpc>
              <a:spcBef>
                <a:spcPts val="60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unsigned long</a:t>
            </a:r>
            <a:r>
              <a:rPr sz="100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mcause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= read_csr(mcause); </a:t>
            </a:r>
            <a:r>
              <a:rPr sz="1000" spc="-58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if (mcause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&amp; MCAUSE_INT)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067435">
              <a:lnSpc>
                <a:spcPct val="100000"/>
              </a:lnSpc>
              <a:spcBef>
                <a:spcPts val="105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//mask interrupt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bit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and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branch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to handler</a:t>
            </a:r>
            <a:endParaRPr sz="1000">
              <a:latin typeface="Courier New"/>
              <a:cs typeface="Courier New"/>
            </a:endParaRPr>
          </a:p>
          <a:p>
            <a:pPr marL="1067435">
              <a:lnSpc>
                <a:spcPct val="100000"/>
              </a:lnSpc>
              <a:spcBef>
                <a:spcPts val="190"/>
              </a:spcBef>
            </a:pPr>
            <a:r>
              <a:rPr sz="1000" spc="-5" dirty="0">
                <a:latin typeface="Courier New"/>
                <a:cs typeface="Courier New"/>
              </a:rPr>
              <a:t>isr_handler[mcause &amp; MCAUSE_CAUSE]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 marL="534035">
              <a:lnSpc>
                <a:spcPct val="100000"/>
              </a:lnSpc>
              <a:spcBef>
                <a:spcPts val="300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else</a:t>
            </a:r>
            <a:r>
              <a:rPr sz="1000" spc="-3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067435" marR="3794760">
              <a:lnSpc>
                <a:spcPct val="117000"/>
              </a:lnSpc>
              <a:spcBef>
                <a:spcPts val="5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//branch to handler 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exception_handler[mcause]();</a:t>
            </a:r>
            <a:endParaRPr sz="1000">
              <a:latin typeface="Courier New"/>
              <a:cs typeface="Courier New"/>
            </a:endParaRPr>
          </a:p>
          <a:p>
            <a:pPr marL="534035">
              <a:lnSpc>
                <a:spcPct val="100000"/>
              </a:lnSpc>
              <a:spcBef>
                <a:spcPts val="300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29235">
              <a:lnSpc>
                <a:spcPct val="100000"/>
              </a:lnSpc>
              <a:spcBef>
                <a:spcPts val="190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50">
              <a:latin typeface="Courier New"/>
              <a:cs typeface="Courier New"/>
            </a:endParaRPr>
          </a:p>
          <a:p>
            <a:pPr marL="229235">
              <a:lnSpc>
                <a:spcPct val="100000"/>
              </a:lnSpc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//write</a:t>
            </a:r>
            <a:r>
              <a:rPr sz="1000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trap_entry</a:t>
            </a:r>
            <a:r>
              <a:rPr sz="1000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address</a:t>
            </a:r>
            <a:r>
              <a:rPr sz="1000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1000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mtvec</a:t>
            </a:r>
            <a:endParaRPr sz="1000">
              <a:latin typeface="Courier New"/>
              <a:cs typeface="Courier New"/>
            </a:endParaRPr>
          </a:p>
          <a:p>
            <a:pPr marL="229235">
              <a:lnSpc>
                <a:spcPct val="100000"/>
              </a:lnSpc>
              <a:spcBef>
                <a:spcPts val="204"/>
              </a:spcBef>
            </a:pPr>
            <a:r>
              <a:rPr sz="1000" spc="-5" dirty="0">
                <a:latin typeface="Courier New"/>
                <a:cs typeface="Courier New"/>
              </a:rPr>
              <a:t>write_csr(mtvec,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((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unsigned</a:t>
            </a:r>
            <a:r>
              <a:rPr sz="1000" spc="1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long</a:t>
            </a:r>
            <a:r>
              <a:rPr sz="1000" spc="-5" dirty="0">
                <a:latin typeface="Courier New"/>
                <a:cs typeface="Courier New"/>
              </a:rPr>
              <a:t>)&amp;trap_entry));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2050" y="982472"/>
            <a:ext cx="2943225" cy="514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RISC-V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Assembly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handler </a:t>
            </a:r>
            <a:r>
              <a:rPr sz="1600" b="1" spc="-3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 Push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and Pop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register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file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964938" y="982472"/>
            <a:ext cx="6445885" cy="51435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00"/>
              </a:lnSpc>
              <a:spcBef>
                <a:spcPts val="85"/>
              </a:spcBef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C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Code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Handler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determines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cause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branches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appropriate </a:t>
            </a:r>
            <a:r>
              <a:rPr sz="1600" b="1" spc="-3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function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 rot="192992">
            <a:off x="2407793" y="1772492"/>
            <a:ext cx="2557145" cy="2115185"/>
          </a:xfrm>
          <a:custGeom>
            <a:avLst/>
            <a:gdLst/>
            <a:ahLst/>
            <a:cxnLst/>
            <a:rect l="l" t="t" r="r" b="b"/>
            <a:pathLst>
              <a:path w="2557145" h="2115185">
                <a:moveTo>
                  <a:pt x="2557018" y="0"/>
                </a:moveTo>
                <a:lnTo>
                  <a:pt x="2474087" y="19177"/>
                </a:lnTo>
                <a:lnTo>
                  <a:pt x="2494292" y="43637"/>
                </a:lnTo>
                <a:lnTo>
                  <a:pt x="1400797" y="947458"/>
                </a:lnTo>
                <a:lnTo>
                  <a:pt x="834593" y="369963"/>
                </a:lnTo>
                <a:lnTo>
                  <a:pt x="843788" y="360934"/>
                </a:lnTo>
                <a:lnTo>
                  <a:pt x="857250" y="347726"/>
                </a:lnTo>
                <a:lnTo>
                  <a:pt x="776732" y="320040"/>
                </a:lnTo>
                <a:lnTo>
                  <a:pt x="802894" y="401066"/>
                </a:lnTo>
                <a:lnTo>
                  <a:pt x="825487" y="378891"/>
                </a:lnTo>
                <a:lnTo>
                  <a:pt x="1390954" y="955598"/>
                </a:lnTo>
                <a:lnTo>
                  <a:pt x="0" y="2105279"/>
                </a:lnTo>
                <a:lnTo>
                  <a:pt x="8128" y="2115058"/>
                </a:lnTo>
                <a:lnTo>
                  <a:pt x="1399882" y="964704"/>
                </a:lnTo>
                <a:lnTo>
                  <a:pt x="2517648" y="2104644"/>
                </a:lnTo>
                <a:lnTo>
                  <a:pt x="2526665" y="2095754"/>
                </a:lnTo>
                <a:lnTo>
                  <a:pt x="1409725" y="956576"/>
                </a:lnTo>
                <a:lnTo>
                  <a:pt x="2502395" y="53428"/>
                </a:lnTo>
                <a:lnTo>
                  <a:pt x="2522601" y="77851"/>
                </a:lnTo>
                <a:lnTo>
                  <a:pt x="2541295" y="35560"/>
                </a:lnTo>
                <a:lnTo>
                  <a:pt x="2557018" y="0"/>
                </a:lnTo>
                <a:close/>
              </a:path>
            </a:pathLst>
          </a:custGeom>
          <a:solidFill>
            <a:srgbClr val="4B555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426EC0-C7BF-87CA-0371-B4B00E74FA44}"/>
              </a:ext>
            </a:extLst>
          </p:cNvPr>
          <p:cNvSpPr txBox="1"/>
          <p:nvPr/>
        </p:nvSpPr>
        <p:spPr>
          <a:xfrm>
            <a:off x="4260914" y="4163347"/>
            <a:ext cx="84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57DE46-0A76-BA2A-382D-33F7364A2FBA}"/>
              </a:ext>
            </a:extLst>
          </p:cNvPr>
          <p:cNvSpPr txBox="1"/>
          <p:nvPr/>
        </p:nvSpPr>
        <p:spPr>
          <a:xfrm>
            <a:off x="195967" y="1821882"/>
            <a:ext cx="84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E691D6-6EB0-7901-44FD-CD6ECF072DFB}"/>
              </a:ext>
            </a:extLst>
          </p:cNvPr>
          <p:cNvSpPr txBox="1"/>
          <p:nvPr/>
        </p:nvSpPr>
        <p:spPr>
          <a:xfrm>
            <a:off x="113637" y="3706542"/>
            <a:ext cx="84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EB162-48EA-5DEB-34F7-7DF3FE9ECA0E}"/>
              </a:ext>
            </a:extLst>
          </p:cNvPr>
          <p:cNvSpPr txBox="1"/>
          <p:nvPr/>
        </p:nvSpPr>
        <p:spPr>
          <a:xfrm>
            <a:off x="4116525" y="1587826"/>
            <a:ext cx="84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6FACEDB-7664-84BB-D636-511DB4773D5C}"/>
              </a:ext>
            </a:extLst>
          </p:cNvPr>
          <p:cNvSpPr txBox="1"/>
          <p:nvPr/>
        </p:nvSpPr>
        <p:spPr>
          <a:xfrm>
            <a:off x="145844" y="5117025"/>
            <a:ext cx="848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94AF45F-66E2-6DDE-1AFA-78B4AFFDEED6}"/>
                  </a:ext>
                </a:extLst>
              </p14:cNvPr>
              <p14:cNvContentPartPr/>
              <p14:nvPr/>
            </p14:nvContentPartPr>
            <p14:xfrm>
              <a:off x="1200240" y="2190600"/>
              <a:ext cx="6248520" cy="3353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94AF45F-66E2-6DDE-1AFA-78B4AFFDEE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0880" y="2181240"/>
                <a:ext cx="6267240" cy="3372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66622" y="1336675"/>
            <a:ext cx="5033645" cy="6362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Pushing</a:t>
            </a:r>
            <a:r>
              <a:rPr sz="2000" b="1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Popping</a:t>
            </a:r>
            <a:r>
              <a:rPr sz="2000" b="1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Registers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Assembly</a:t>
            </a:r>
            <a:endParaRPr sz="2000">
              <a:latin typeface="Calibri"/>
              <a:cs typeface="Calibri"/>
            </a:endParaRPr>
          </a:p>
          <a:p>
            <a:pPr marL="469265">
              <a:lnSpc>
                <a:spcPct val="100000"/>
              </a:lnSpc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20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0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pain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248107" y="6540402"/>
            <a:ext cx="226059" cy="1752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50" b="0" i="0" kern="1200">
                <a:solidFill>
                  <a:srgbClr val="A9A9A9"/>
                </a:solidFill>
                <a:latin typeface="Arial MT"/>
                <a:ea typeface="+mn-ea"/>
                <a:cs typeface="Arial M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810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lang="en-US" smtClean="0"/>
              <a:pPr marL="38100">
                <a:lnSpc>
                  <a:spcPct val="100000"/>
                </a:lnSpc>
                <a:spcBef>
                  <a:spcPts val="5"/>
                </a:spcBef>
              </a:pPr>
              <a:t>103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966622" y="2353437"/>
            <a:ext cx="4832985" cy="94106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69265" marR="5080" indent="-4572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i="1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2000" b="1" i="1" spc="-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attribute</a:t>
            </a:r>
            <a:r>
              <a:rPr sz="2000" b="1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was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added</a:t>
            </a:r>
            <a:r>
              <a:rPr sz="20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20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GCC </a:t>
            </a:r>
            <a:r>
              <a:rPr sz="2000" b="1" spc="-434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to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facilitate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interrupt handlers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written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spc="-5" dirty="0">
                <a:solidFill>
                  <a:srgbClr val="3B3B3B"/>
                </a:solidFill>
                <a:latin typeface="Calibri"/>
                <a:cs typeface="Calibri"/>
              </a:rPr>
              <a:t>entirely</a:t>
            </a:r>
            <a:r>
              <a:rPr sz="20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20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3B3B3B"/>
                </a:solidFill>
                <a:latin typeface="Calibri"/>
                <a:cs typeface="Calibri"/>
              </a:rPr>
              <a:t>C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76197" y="3320034"/>
            <a:ext cx="4444365" cy="1499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700" marR="422909" indent="-381000">
              <a:lnSpc>
                <a:spcPct val="100000"/>
              </a:lnSpc>
              <a:spcBef>
                <a:spcPts val="100"/>
              </a:spcBef>
              <a:buFont typeface="Arial MT"/>
              <a:buChar char="–"/>
              <a:tabLst>
                <a:tab pos="393065" algn="l"/>
                <a:tab pos="393700" algn="l"/>
              </a:tabLst>
            </a:pPr>
            <a:r>
              <a:rPr sz="1800" spc="-5" dirty="0">
                <a:latin typeface="Calibri"/>
                <a:cs typeface="Calibri"/>
              </a:rPr>
              <a:t>Interrupt functions only saves/restores </a:t>
            </a:r>
            <a:r>
              <a:rPr sz="1800" spc="-39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necessary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registers</a:t>
            </a:r>
            <a:r>
              <a:rPr sz="1800" spc="-5" dirty="0">
                <a:latin typeface="Calibri"/>
                <a:cs typeface="Calibri"/>
              </a:rPr>
              <a:t> onto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" dirty="0">
                <a:latin typeface="Calibri"/>
                <a:cs typeface="Calibri"/>
              </a:rPr>
              <a:t> stack</a:t>
            </a:r>
            <a:endParaRPr sz="1800" dirty="0">
              <a:latin typeface="Calibri"/>
              <a:cs typeface="Calibri"/>
            </a:endParaRPr>
          </a:p>
          <a:p>
            <a:pPr marL="393700" indent="-381000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393065" algn="l"/>
                <a:tab pos="393700" algn="l"/>
              </a:tabLst>
            </a:pPr>
            <a:r>
              <a:rPr sz="1800" spc="-5" dirty="0">
                <a:latin typeface="Calibri"/>
                <a:cs typeface="Calibri"/>
              </a:rPr>
              <a:t>Align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function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on</a:t>
            </a:r>
            <a:r>
              <a:rPr sz="1800" dirty="0">
                <a:latin typeface="Calibri"/>
                <a:cs typeface="Calibri"/>
              </a:rPr>
              <a:t> an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8-byte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boundary</a:t>
            </a:r>
            <a:endParaRPr sz="1800" dirty="0">
              <a:latin typeface="Calibri"/>
              <a:cs typeface="Calibri"/>
            </a:endParaRPr>
          </a:p>
          <a:p>
            <a:pPr marL="393700" indent="-381000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393065" algn="l"/>
                <a:tab pos="393700" algn="l"/>
              </a:tabLst>
            </a:pPr>
            <a:r>
              <a:rPr sz="1800" spc="-5" dirty="0">
                <a:latin typeface="Calibri"/>
                <a:cs typeface="Calibri"/>
              </a:rPr>
              <a:t>Calles</a:t>
            </a:r>
            <a:r>
              <a:rPr sz="1800" spc="1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MRET after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popping</a:t>
            </a:r>
            <a:r>
              <a:rPr sz="1800" spc="20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register</a:t>
            </a:r>
            <a:r>
              <a:rPr sz="18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file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back</a:t>
            </a:r>
            <a:endParaRPr sz="1800" dirty="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5"/>
              </a:spcBef>
            </a:pPr>
            <a:r>
              <a:rPr sz="1800" spc="-5" dirty="0">
                <a:latin typeface="Calibri"/>
                <a:cs typeface="Calibri"/>
              </a:rPr>
              <a:t>off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5" dirty="0">
                <a:latin typeface="Calibri"/>
                <a:cs typeface="Calibri"/>
              </a:rPr>
              <a:t>stack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53490" y="16870"/>
            <a:ext cx="6478526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5" dirty="0"/>
              <a:t>Compil</a:t>
            </a:r>
            <a:r>
              <a:rPr spc="-65" dirty="0"/>
              <a:t>e</a:t>
            </a:r>
            <a:r>
              <a:rPr spc="-160" dirty="0"/>
              <a:t>r</a:t>
            </a:r>
            <a:r>
              <a:rPr spc="-145" dirty="0"/>
              <a:t> </a:t>
            </a:r>
            <a:r>
              <a:rPr spc="-180" dirty="0"/>
              <a:t>Inte</a:t>
            </a:r>
            <a:r>
              <a:rPr spc="-160" dirty="0"/>
              <a:t>r</a:t>
            </a:r>
            <a:r>
              <a:rPr spc="-90" dirty="0"/>
              <a:t>r</a:t>
            </a:r>
            <a:r>
              <a:rPr spc="-140" dirty="0"/>
              <a:t>u</a:t>
            </a:r>
            <a:r>
              <a:rPr spc="-35" dirty="0"/>
              <a:t>pt</a:t>
            </a:r>
            <a:r>
              <a:rPr spc="-130" dirty="0"/>
              <a:t> </a:t>
            </a:r>
            <a:r>
              <a:rPr spc="-75" dirty="0"/>
              <a:t>Attr</a:t>
            </a:r>
            <a:r>
              <a:rPr spc="-55" dirty="0"/>
              <a:t>ib</a:t>
            </a:r>
            <a:r>
              <a:rPr spc="-90" dirty="0"/>
              <a:t>u</a:t>
            </a:r>
            <a:r>
              <a:rPr spc="-65" dirty="0"/>
              <a:t>te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655307" y="2129027"/>
            <a:ext cx="5325110" cy="402971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8255" rIns="0" bIns="0" rtlCol="0">
            <a:spAutoFit/>
          </a:bodyPr>
          <a:lstStyle/>
          <a:p>
            <a:pPr marL="168910">
              <a:lnSpc>
                <a:spcPct val="100000"/>
              </a:lnSpc>
              <a:spcBef>
                <a:spcPts val="65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100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handle_trap(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1000" spc="-5" dirty="0">
                <a:latin typeface="Courier New"/>
                <a:cs typeface="Courier New"/>
              </a:rPr>
              <a:t>)</a:t>
            </a:r>
            <a:r>
              <a:rPr sz="1000" u="sng" spc="1210" dirty="0">
                <a:uFill>
                  <a:solidFill>
                    <a:srgbClr val="6E2E9E"/>
                  </a:solidFill>
                </a:u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attribute</a:t>
            </a:r>
            <a:r>
              <a:rPr sz="1000" spc="-5" dirty="0">
                <a:latin typeface="Courier New"/>
                <a:cs typeface="Courier New"/>
              </a:rPr>
              <a:t>((interrupt));</a:t>
            </a:r>
            <a:endParaRPr sz="1000">
              <a:latin typeface="Courier New"/>
              <a:cs typeface="Courier New"/>
            </a:endParaRPr>
          </a:p>
          <a:p>
            <a:pPr marL="229870">
              <a:lnSpc>
                <a:spcPct val="100000"/>
              </a:lnSpc>
              <a:spcBef>
                <a:spcPts val="285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1000" spc="-4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handle_trap()</a:t>
            </a:r>
            <a:endParaRPr sz="1000">
              <a:latin typeface="Courier New"/>
              <a:cs typeface="Courier New"/>
            </a:endParaRPr>
          </a:p>
          <a:p>
            <a:pPr marL="229870">
              <a:lnSpc>
                <a:spcPct val="100000"/>
              </a:lnSpc>
              <a:spcBef>
                <a:spcPts val="204"/>
              </a:spcBef>
            </a:pP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534670">
              <a:lnSpc>
                <a:spcPct val="100000"/>
              </a:lnSpc>
              <a:spcBef>
                <a:spcPts val="280"/>
              </a:spcBef>
            </a:pP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unsigned</a:t>
            </a:r>
            <a:r>
              <a:rPr sz="1000" spc="1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long</a:t>
            </a:r>
            <a:r>
              <a:rPr sz="1000" spc="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mcause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=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read_csr(mcause);</a:t>
            </a:r>
            <a:endParaRPr sz="1000">
              <a:latin typeface="Courier New"/>
              <a:cs typeface="Courier New"/>
            </a:endParaRPr>
          </a:p>
          <a:p>
            <a:pPr marL="534670">
              <a:lnSpc>
                <a:spcPct val="100000"/>
              </a:lnSpc>
              <a:spcBef>
                <a:spcPts val="325"/>
              </a:spcBef>
            </a:pPr>
            <a:r>
              <a:rPr sz="1000" spc="-5" dirty="0">
                <a:latin typeface="Courier New"/>
                <a:cs typeface="Courier New"/>
              </a:rPr>
              <a:t>if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(mcause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&amp;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MCAUSE_INT)</a:t>
            </a:r>
            <a:r>
              <a:rPr sz="1000" spc="-1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068070" marR="1049020">
              <a:lnSpc>
                <a:spcPts val="1400"/>
              </a:lnSpc>
              <a:spcBef>
                <a:spcPts val="70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//mask interrupt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bit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and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branch to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handler </a:t>
            </a:r>
            <a:r>
              <a:rPr sz="1000" spc="-58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isr_handler[mcause &amp;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MCAUSE_CAUSE]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();</a:t>
            </a:r>
            <a:endParaRPr sz="1000">
              <a:latin typeface="Courier New"/>
              <a:cs typeface="Courier New"/>
            </a:endParaRPr>
          </a:p>
          <a:p>
            <a:pPr marL="534670">
              <a:lnSpc>
                <a:spcPct val="100000"/>
              </a:lnSpc>
              <a:spcBef>
                <a:spcPts val="225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else</a:t>
            </a:r>
            <a:r>
              <a:rPr sz="1000" spc="-3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1068070" marR="972819">
              <a:lnSpc>
                <a:spcPct val="115999"/>
              </a:lnSpc>
              <a:spcBef>
                <a:spcPts val="10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//synchronous exception,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branch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handler 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exception_handler[mcause</a:t>
            </a:r>
            <a:r>
              <a:rPr sz="1000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&amp;</a:t>
            </a:r>
            <a:r>
              <a:rPr sz="1000" spc="5" dirty="0"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MCAUSE_CAUSE]();</a:t>
            </a:r>
            <a:endParaRPr sz="1000">
              <a:latin typeface="Courier New"/>
              <a:cs typeface="Courier New"/>
            </a:endParaRPr>
          </a:p>
          <a:p>
            <a:pPr marL="534670">
              <a:lnSpc>
                <a:spcPct val="100000"/>
              </a:lnSpc>
              <a:spcBef>
                <a:spcPts val="300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229870">
              <a:lnSpc>
                <a:spcPct val="100000"/>
              </a:lnSpc>
              <a:spcBef>
                <a:spcPts val="209"/>
              </a:spcBef>
            </a:pPr>
            <a:r>
              <a:rPr sz="1000" spc="-5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Courier New"/>
              <a:cs typeface="Courier New"/>
            </a:endParaRPr>
          </a:p>
          <a:p>
            <a:pPr marL="229870" marR="1429385">
              <a:lnSpc>
                <a:spcPct val="117000"/>
              </a:lnSpc>
              <a:spcBef>
                <a:spcPts val="5"/>
              </a:spcBef>
            </a:pP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//write handle_trap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address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00AF50"/>
                </a:solidFill>
                <a:latin typeface="Courier New"/>
                <a:cs typeface="Courier New"/>
              </a:rPr>
              <a:t>mtvec </a:t>
            </a:r>
            <a:r>
              <a:rPr sz="10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latin typeface="Courier New"/>
                <a:cs typeface="Courier New"/>
              </a:rPr>
              <a:t>write_csr(mtvec,</a:t>
            </a:r>
            <a:r>
              <a:rPr sz="1000" spc="10" dirty="0"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3B3B3B"/>
                </a:solidFill>
                <a:latin typeface="Courier New"/>
                <a:cs typeface="Courier New"/>
              </a:rPr>
              <a:t>((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unsigned</a:t>
            </a:r>
            <a:r>
              <a:rPr sz="1000" spc="1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000" spc="-5" dirty="0">
                <a:solidFill>
                  <a:srgbClr val="6F2F9F"/>
                </a:solidFill>
                <a:latin typeface="Courier New"/>
                <a:cs typeface="Courier New"/>
              </a:rPr>
              <a:t>long</a:t>
            </a:r>
            <a:r>
              <a:rPr sz="1000" spc="-5" dirty="0">
                <a:latin typeface="Courier New"/>
                <a:cs typeface="Courier New"/>
              </a:rPr>
              <a:t>)&amp;handle_trap));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3878" y="1341247"/>
            <a:ext cx="3573779" cy="514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handler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with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i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i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attribute.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No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assembly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Code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necessary</a:t>
            </a:r>
            <a:endParaRPr sz="1600">
              <a:latin typeface="Calibri"/>
              <a:cs typeface="Calibri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B6EC5836-6050-6B50-ADFB-01FD2D5D725C}"/>
                  </a:ext>
                </a:extLst>
              </p14:cNvPr>
              <p14:cNvContentPartPr/>
              <p14:nvPr/>
            </p14:nvContentPartPr>
            <p14:xfrm>
              <a:off x="1162080" y="1581120"/>
              <a:ext cx="4204080" cy="5274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B6EC5836-6050-6B50-ADFB-01FD2D5D725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52720" y="1571760"/>
                <a:ext cx="4222800" cy="546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3507" y="6527698"/>
            <a:ext cx="17526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A9A9A9"/>
                </a:solidFill>
                <a:latin typeface="Arial MT"/>
                <a:cs typeface="Arial MT"/>
              </a:rPr>
              <a:t>37</a:t>
            </a:r>
            <a:endParaRPr sz="10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34262" y="984961"/>
            <a:ext cx="5126355" cy="420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3065" marR="61594" indent="-3810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93700" algn="l"/>
              </a:tabLst>
            </a:pP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RISC-V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defines Global Interrupts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as a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Interrupt which can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be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routed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to any </a:t>
            </a:r>
            <a:r>
              <a:rPr sz="2400" b="1" spc="-5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hart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24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24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system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B3B3B"/>
              </a:buClr>
              <a:buFont typeface="Arial MT"/>
              <a:buChar char="•"/>
            </a:pPr>
            <a:endParaRPr sz="2850">
              <a:latin typeface="Calibri"/>
              <a:cs typeface="Calibri"/>
            </a:endParaRPr>
          </a:p>
          <a:p>
            <a:pPr marL="393065" marR="151130" indent="-381000">
              <a:lnSpc>
                <a:spcPct val="100000"/>
              </a:lnSpc>
              <a:buFont typeface="Arial MT"/>
              <a:buChar char="•"/>
              <a:tabLst>
                <a:tab pos="393065" algn="l"/>
                <a:tab pos="393700" algn="l"/>
              </a:tabLst>
            </a:pP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Global Interrupts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are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prioritized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and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distributed</a:t>
            </a:r>
            <a:r>
              <a:rPr sz="24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by</a:t>
            </a:r>
            <a:r>
              <a:rPr sz="2400" b="1" spc="-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Platform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Level </a:t>
            </a:r>
            <a:r>
              <a:rPr sz="24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24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Controller</a:t>
            </a:r>
            <a:r>
              <a:rPr sz="2400" b="1" spc="-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(PLIC)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Clr>
                <a:srgbClr val="3B3B3B"/>
              </a:buClr>
              <a:buFont typeface="Arial MT"/>
              <a:buChar char="•"/>
            </a:pPr>
            <a:endParaRPr sz="2850">
              <a:latin typeface="Calibri"/>
              <a:cs typeface="Calibri"/>
            </a:endParaRPr>
          </a:p>
          <a:p>
            <a:pPr marL="393065" marR="5080" indent="-381000" algn="just">
              <a:lnSpc>
                <a:spcPct val="100000"/>
              </a:lnSpc>
              <a:buFont typeface="Arial MT"/>
              <a:buChar char="•"/>
              <a:tabLst>
                <a:tab pos="393700" algn="l"/>
              </a:tabLst>
            </a:pP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The PLIC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is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connected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to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the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External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Interrupt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signal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for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1 or 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more harts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in </a:t>
            </a:r>
            <a:r>
              <a:rPr sz="2400" b="1" spc="-5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B3B3B"/>
                </a:solidFill>
                <a:latin typeface="Calibri"/>
                <a:cs typeface="Calibri"/>
              </a:rPr>
              <a:t>an</a:t>
            </a:r>
            <a:r>
              <a:rPr sz="2400" b="1" spc="-5" dirty="0">
                <a:solidFill>
                  <a:srgbClr val="3B3B3B"/>
                </a:solidFill>
                <a:latin typeface="Calibri"/>
                <a:cs typeface="Calibri"/>
              </a:rPr>
              <a:t> implementation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3490" y="16870"/>
            <a:ext cx="6751904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RIS</a:t>
            </a:r>
            <a:r>
              <a:rPr spc="-200" dirty="0"/>
              <a:t>C</a:t>
            </a:r>
            <a:r>
              <a:rPr spc="-229" dirty="0"/>
              <a:t>-</a:t>
            </a:r>
            <a:r>
              <a:rPr spc="-45" dirty="0"/>
              <a:t>V</a:t>
            </a:r>
            <a:r>
              <a:rPr spc="-165" dirty="0"/>
              <a:t> </a:t>
            </a:r>
            <a:r>
              <a:rPr spc="-85" dirty="0"/>
              <a:t>Glob</a:t>
            </a:r>
            <a:r>
              <a:rPr spc="-100" dirty="0"/>
              <a:t>al</a:t>
            </a:r>
            <a:r>
              <a:rPr spc="-145" dirty="0"/>
              <a:t> </a:t>
            </a:r>
            <a:r>
              <a:rPr spc="-175" dirty="0"/>
              <a:t>Inter</a:t>
            </a:r>
            <a:r>
              <a:rPr spc="-160" dirty="0"/>
              <a:t>r</a:t>
            </a:r>
            <a:r>
              <a:rPr spc="-70" dirty="0"/>
              <a:t>upts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8108" y="2058732"/>
            <a:ext cx="4650914" cy="268007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28A010-5B52-FD4E-5CA4-266B7F007C8E}"/>
                  </a:ext>
                </a:extLst>
              </p14:cNvPr>
              <p14:cNvContentPartPr/>
              <p14:nvPr/>
            </p14:nvContentPartPr>
            <p14:xfrm>
              <a:off x="7670880" y="1397160"/>
              <a:ext cx="3645000" cy="9464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28A010-5B52-FD4E-5CA4-266B7F007C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661520" y="1387800"/>
                <a:ext cx="3663720" cy="965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66622" y="824636"/>
            <a:ext cx="9830435" cy="1978025"/>
          </a:xfrm>
          <a:prstGeom prst="rect">
            <a:avLst/>
          </a:prstGeom>
        </p:spPr>
        <p:txBody>
          <a:bodyPr vert="horz" wrap="square" lIns="0" tIns="26034" rIns="0" bIns="0" rtlCol="0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this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example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 an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presented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PLIC</a:t>
            </a:r>
            <a:endParaRPr sz="16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PLIC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signals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an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spc="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hart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using</a:t>
            </a:r>
            <a:r>
              <a:rPr sz="160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Machine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External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(interrupt</a:t>
            </a:r>
            <a:r>
              <a:rPr sz="1600" b="1" spc="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11)</a:t>
            </a:r>
            <a:endParaRPr sz="16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11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sz="1600" b="1" spc="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handler</a:t>
            </a:r>
            <a:r>
              <a:rPr sz="16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(handle_trap)</a:t>
            </a:r>
            <a:r>
              <a:rPr sz="1600" b="1" spc="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branches</a:t>
            </a:r>
            <a:r>
              <a:rPr sz="16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defined</a:t>
            </a:r>
            <a:r>
              <a:rPr sz="1600" b="1" spc="1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function</a:t>
            </a:r>
            <a:r>
              <a:rPr sz="160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to handle</a:t>
            </a:r>
            <a:r>
              <a:rPr sz="160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Machine</a:t>
            </a:r>
            <a:r>
              <a:rPr sz="160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External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endParaRPr sz="1600" dirty="0">
              <a:latin typeface="Calibri"/>
              <a:cs typeface="Calibri"/>
            </a:endParaRPr>
          </a:p>
          <a:p>
            <a:pPr marL="1002665" lvl="1" indent="-381635">
              <a:lnSpc>
                <a:spcPct val="100000"/>
              </a:lnSpc>
              <a:spcBef>
                <a:spcPts val="140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400" dirty="0">
                <a:latin typeface="Calibri"/>
                <a:cs typeface="Calibri"/>
              </a:rPr>
              <a:t>C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Code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placed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address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of</a:t>
            </a:r>
            <a:r>
              <a:rPr sz="140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machine_external_interrupt</a:t>
            </a:r>
            <a:r>
              <a:rPr sz="1400" spc="6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function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location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11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async_handler</a:t>
            </a:r>
            <a:r>
              <a:rPr sz="1400" spc="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vector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table</a:t>
            </a:r>
            <a:endParaRPr sz="1400" dirty="0">
              <a:latin typeface="Calibri"/>
              <a:cs typeface="Calibri"/>
            </a:endParaRPr>
          </a:p>
          <a:p>
            <a:pPr marL="469265" indent="-4572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469900" algn="l"/>
              </a:tabLst>
            </a:pP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machine_external_interrupt</a:t>
            </a:r>
            <a:r>
              <a:rPr sz="1600" b="1" spc="5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handler</a:t>
            </a:r>
            <a:r>
              <a:rPr sz="1600" b="1" spc="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does</a:t>
            </a:r>
            <a:r>
              <a:rPr sz="1600" b="1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sz="16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sz="1600" b="1" spc="-5" dirty="0">
                <a:solidFill>
                  <a:srgbClr val="3B3B3B"/>
                </a:solidFill>
                <a:latin typeface="Calibri"/>
                <a:cs typeface="Calibri"/>
              </a:rPr>
              <a:t>following:</a:t>
            </a:r>
            <a:endParaRPr sz="1600" dirty="0">
              <a:latin typeface="Calibri"/>
              <a:cs typeface="Calibri"/>
            </a:endParaRPr>
          </a:p>
          <a:p>
            <a:pPr marL="1002665" lvl="1" indent="-381635">
              <a:lnSpc>
                <a:spcPct val="100000"/>
              </a:lnSpc>
              <a:spcBef>
                <a:spcPts val="140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400" dirty="0">
                <a:latin typeface="Calibri"/>
                <a:cs typeface="Calibri"/>
              </a:rPr>
              <a:t>Reads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PLIC’s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claim/complete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register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determine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highest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priority </a:t>
            </a:r>
            <a:r>
              <a:rPr sz="1400" spc="-5" dirty="0">
                <a:latin typeface="Calibri"/>
                <a:cs typeface="Calibri"/>
              </a:rPr>
              <a:t>pending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interrupt</a:t>
            </a:r>
            <a:endParaRPr sz="1400" dirty="0">
              <a:latin typeface="Calibri"/>
              <a:cs typeface="Calibri"/>
            </a:endParaRPr>
          </a:p>
          <a:p>
            <a:pPr marL="1002665" lvl="1" indent="-381635">
              <a:lnSpc>
                <a:spcPct val="100000"/>
              </a:lnSpc>
              <a:spcBef>
                <a:spcPts val="130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400" dirty="0">
                <a:latin typeface="Calibri"/>
                <a:cs typeface="Calibri"/>
              </a:rPr>
              <a:t>Uses </a:t>
            </a:r>
            <a:r>
              <a:rPr sz="1400" spc="-5" dirty="0">
                <a:latin typeface="Calibri"/>
                <a:cs typeface="Calibri"/>
              </a:rPr>
              <a:t>another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vector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table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 </a:t>
            </a:r>
            <a:r>
              <a:rPr sz="1400" spc="-5" dirty="0">
                <a:latin typeface="Calibri"/>
                <a:cs typeface="Calibri"/>
              </a:rPr>
              <a:t>branch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interrupt’s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specific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handler</a:t>
            </a:r>
            <a:endParaRPr sz="1400" dirty="0">
              <a:latin typeface="Calibri"/>
              <a:cs typeface="Calibri"/>
            </a:endParaRPr>
          </a:p>
          <a:p>
            <a:pPr marL="1002665" lvl="1" indent="-381635">
              <a:lnSpc>
                <a:spcPct val="100000"/>
              </a:lnSpc>
              <a:spcBef>
                <a:spcPts val="135"/>
              </a:spcBef>
              <a:buFont typeface="Arial MT"/>
              <a:buChar char="–"/>
              <a:tabLst>
                <a:tab pos="1002665" algn="l"/>
                <a:tab pos="1003300" algn="l"/>
              </a:tabLst>
            </a:pPr>
            <a:r>
              <a:rPr sz="1400" spc="-5" dirty="0">
                <a:latin typeface="Calibri"/>
                <a:cs typeface="Calibri"/>
              </a:rPr>
              <a:t>Completes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interrupt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writing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interrupt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number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back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PLIC’s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5" dirty="0">
                <a:latin typeface="Calibri"/>
                <a:cs typeface="Calibri"/>
              </a:rPr>
              <a:t>claim/complete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53489" y="16870"/>
            <a:ext cx="6912159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PLIC </a:t>
            </a:r>
            <a:r>
              <a:rPr spc="-229" dirty="0"/>
              <a:t>In</a:t>
            </a:r>
            <a:r>
              <a:rPr spc="-175" dirty="0"/>
              <a:t>t</a:t>
            </a:r>
            <a:r>
              <a:rPr spc="-135" dirty="0"/>
              <a:t>e</a:t>
            </a:r>
            <a:r>
              <a:rPr spc="-114" dirty="0"/>
              <a:t>r</a:t>
            </a:r>
            <a:r>
              <a:rPr spc="-90" dirty="0"/>
              <a:t>r</a:t>
            </a:r>
            <a:r>
              <a:rPr spc="-140" dirty="0"/>
              <a:t>u</a:t>
            </a:r>
            <a:r>
              <a:rPr spc="-35" dirty="0"/>
              <a:t>pt</a:t>
            </a:r>
            <a:r>
              <a:rPr spc="-120" dirty="0"/>
              <a:t> </a:t>
            </a:r>
            <a:r>
              <a:rPr spc="-40" dirty="0"/>
              <a:t>Code</a:t>
            </a:r>
            <a:r>
              <a:rPr spc="-150" dirty="0"/>
              <a:t> </a:t>
            </a:r>
            <a:r>
              <a:rPr spc="-110" dirty="0"/>
              <a:t>Ex</a:t>
            </a:r>
            <a:r>
              <a:rPr spc="-120" dirty="0"/>
              <a:t>a</a:t>
            </a:r>
            <a:r>
              <a:rPr spc="-55" dirty="0"/>
              <a:t>mple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75360" y="3119627"/>
            <a:ext cx="4549140" cy="327406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03200">
              <a:lnSpc>
                <a:spcPts val="1010"/>
              </a:lnSpc>
            </a:pPr>
            <a:r>
              <a:rPr sz="9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900" spc="-1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latin typeface="Courier New"/>
                <a:cs typeface="Courier New"/>
              </a:rPr>
              <a:t>handle_trap(</a:t>
            </a:r>
            <a:r>
              <a:rPr sz="9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900" spc="-5" dirty="0">
                <a:latin typeface="Courier New"/>
                <a:cs typeface="Courier New"/>
              </a:rPr>
              <a:t>)</a:t>
            </a:r>
            <a:r>
              <a:rPr sz="900" u="sng" spc="1040" dirty="0">
                <a:uFill>
                  <a:solidFill>
                    <a:srgbClr val="6E2E9E"/>
                  </a:solidFill>
                </a:u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F2F9F"/>
                </a:solidFill>
                <a:latin typeface="Courier New"/>
                <a:cs typeface="Courier New"/>
              </a:rPr>
              <a:t>attribute</a:t>
            </a:r>
            <a:r>
              <a:rPr sz="900" spc="-10" dirty="0">
                <a:latin typeface="Courier New"/>
                <a:cs typeface="Courier New"/>
              </a:rPr>
              <a:t>((interrupt));</a:t>
            </a:r>
            <a:endParaRPr sz="900">
              <a:latin typeface="Courier New"/>
              <a:cs typeface="Courier New"/>
            </a:endParaRPr>
          </a:p>
          <a:p>
            <a:pPr marL="203200">
              <a:lnSpc>
                <a:spcPct val="100000"/>
              </a:lnSpc>
              <a:spcBef>
                <a:spcPts val="190"/>
              </a:spcBef>
            </a:pPr>
            <a:r>
              <a:rPr sz="9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900" spc="-8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latin typeface="Courier New"/>
                <a:cs typeface="Courier New"/>
              </a:rPr>
              <a:t>handle_trap()</a:t>
            </a:r>
            <a:endParaRPr sz="900">
              <a:latin typeface="Courier New"/>
              <a:cs typeface="Courier New"/>
            </a:endParaRPr>
          </a:p>
          <a:p>
            <a:pPr marL="203200">
              <a:lnSpc>
                <a:spcPct val="100000"/>
              </a:lnSpc>
              <a:spcBef>
                <a:spcPts val="204"/>
              </a:spcBef>
            </a:pPr>
            <a:r>
              <a:rPr sz="900" dirty="0">
                <a:latin typeface="Courier New"/>
                <a:cs typeface="Courier New"/>
              </a:rPr>
              <a:t>{</a:t>
            </a:r>
            <a:endParaRPr sz="900">
              <a:latin typeface="Courier New"/>
              <a:cs typeface="Courier New"/>
            </a:endParaRPr>
          </a:p>
          <a:p>
            <a:pPr marL="532765" marR="647065">
              <a:lnSpc>
                <a:spcPts val="1550"/>
              </a:lnSpc>
              <a:spcBef>
                <a:spcPts val="20"/>
              </a:spcBef>
            </a:pPr>
            <a:r>
              <a:rPr sz="1100" spc="-5" dirty="0">
                <a:solidFill>
                  <a:srgbClr val="6F2F9F"/>
                </a:solidFill>
                <a:latin typeface="Courier New"/>
                <a:cs typeface="Courier New"/>
              </a:rPr>
              <a:t>unsigned</a:t>
            </a:r>
            <a:r>
              <a:rPr sz="1100" spc="2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100" spc="-5" dirty="0">
                <a:solidFill>
                  <a:srgbClr val="6F2F9F"/>
                </a:solidFill>
                <a:latin typeface="Courier New"/>
                <a:cs typeface="Courier New"/>
              </a:rPr>
              <a:t>long</a:t>
            </a:r>
            <a:r>
              <a:rPr sz="1100" spc="1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100" spc="-5" dirty="0">
                <a:latin typeface="Courier New"/>
                <a:cs typeface="Courier New"/>
              </a:rPr>
              <a:t>mcause</a:t>
            </a:r>
            <a:r>
              <a:rPr sz="1100" spc="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=</a:t>
            </a:r>
            <a:r>
              <a:rPr sz="1100" spc="10" dirty="0">
                <a:latin typeface="Courier New"/>
                <a:cs typeface="Courier New"/>
              </a:rPr>
              <a:t> </a:t>
            </a:r>
            <a:r>
              <a:rPr sz="1100" spc="-5" dirty="0">
                <a:latin typeface="Courier New"/>
                <a:cs typeface="Courier New"/>
              </a:rPr>
              <a:t>read_csr(mcause); </a:t>
            </a:r>
            <a:r>
              <a:rPr sz="1100" spc="-645" dirty="0">
                <a:latin typeface="Courier New"/>
                <a:cs typeface="Courier New"/>
              </a:rPr>
              <a:t> </a:t>
            </a:r>
            <a:r>
              <a:rPr sz="1100" spc="-5" dirty="0">
                <a:latin typeface="Courier New"/>
                <a:cs typeface="Courier New"/>
              </a:rPr>
              <a:t>if</a:t>
            </a:r>
            <a:r>
              <a:rPr sz="1100" dirty="0">
                <a:latin typeface="Courier New"/>
                <a:cs typeface="Courier New"/>
              </a:rPr>
              <a:t> </a:t>
            </a:r>
            <a:r>
              <a:rPr sz="1100" spc="-5" dirty="0">
                <a:latin typeface="Courier New"/>
                <a:cs typeface="Courier New"/>
              </a:rPr>
              <a:t>(mcause</a:t>
            </a:r>
            <a:r>
              <a:rPr sz="1100" spc="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 </a:t>
            </a:r>
            <a:r>
              <a:rPr sz="1100" spc="-5" dirty="0">
                <a:latin typeface="Courier New"/>
                <a:cs typeface="Courier New"/>
              </a:rPr>
              <a:t>MCAUSE_INT)</a:t>
            </a:r>
            <a:r>
              <a:rPr sz="1100" spc="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805180" marR="887730" indent="-20320">
              <a:lnSpc>
                <a:spcPts val="1370"/>
              </a:lnSpc>
              <a:spcBef>
                <a:spcPts val="80"/>
              </a:spcBef>
            </a:pP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//mask interrupt bit and branch to handler </a:t>
            </a:r>
            <a:r>
              <a:rPr sz="900" spc="-5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isr_handler[mcause</a:t>
            </a:r>
            <a:r>
              <a:rPr sz="900" spc="-6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&amp;</a:t>
            </a:r>
            <a:r>
              <a:rPr sz="900" spc="-15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MCAUSE_CAUSE]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();</a:t>
            </a:r>
            <a:endParaRPr sz="900">
              <a:latin typeface="Courier New"/>
              <a:cs typeface="Courier New"/>
            </a:endParaRPr>
          </a:p>
          <a:p>
            <a:pPr marL="532765">
              <a:lnSpc>
                <a:spcPct val="100000"/>
              </a:lnSpc>
              <a:spcBef>
                <a:spcPts val="85"/>
              </a:spcBef>
            </a:pPr>
            <a:r>
              <a:rPr sz="1100" dirty="0">
                <a:latin typeface="Courier New"/>
                <a:cs typeface="Courier New"/>
              </a:rPr>
              <a:t>}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else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</a:t>
            </a:r>
            <a:endParaRPr sz="1100">
              <a:latin typeface="Courier New"/>
              <a:cs typeface="Courier New"/>
            </a:endParaRPr>
          </a:p>
          <a:p>
            <a:pPr marL="736600" marR="681990" indent="48260">
              <a:lnSpc>
                <a:spcPct val="126699"/>
              </a:lnSpc>
              <a:spcBef>
                <a:spcPts val="85"/>
              </a:spcBef>
              <a:tabLst>
                <a:tab pos="3378835" algn="l"/>
              </a:tabLst>
            </a:pP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//synchronou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s</a:t>
            </a:r>
            <a:r>
              <a:rPr sz="900" spc="-4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exception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,</a:t>
            </a:r>
            <a:r>
              <a:rPr sz="900" spc="-4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branc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h</a:t>
            </a:r>
            <a:r>
              <a:rPr sz="900" spc="-1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t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o	</a:t>
            </a: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handler  </a:t>
            </a:r>
            <a:r>
              <a:rPr sz="900" spc="-10" dirty="0">
                <a:latin typeface="Courier New"/>
                <a:cs typeface="Courier New"/>
              </a:rPr>
              <a:t>exception_handler[mcause</a:t>
            </a:r>
            <a:r>
              <a:rPr sz="900" spc="-50" dirty="0">
                <a:latin typeface="Courier New"/>
                <a:cs typeface="Courier New"/>
              </a:rPr>
              <a:t> </a:t>
            </a:r>
            <a:r>
              <a:rPr sz="900" dirty="0">
                <a:latin typeface="Courier New"/>
                <a:cs typeface="Courier New"/>
              </a:rPr>
              <a:t>&amp; </a:t>
            </a:r>
            <a:r>
              <a:rPr sz="900" spc="-5" dirty="0">
                <a:latin typeface="Courier New"/>
                <a:cs typeface="Courier New"/>
              </a:rPr>
              <a:t>MCAUSE_CAUSE]();</a:t>
            </a:r>
            <a:endParaRPr sz="900">
              <a:latin typeface="Courier New"/>
              <a:cs typeface="Courier New"/>
            </a:endParaRPr>
          </a:p>
          <a:p>
            <a:pPr marL="532765">
              <a:lnSpc>
                <a:spcPct val="100000"/>
              </a:lnSpc>
              <a:spcBef>
                <a:spcPts val="185"/>
              </a:spcBef>
            </a:pPr>
            <a:r>
              <a:rPr sz="1100" dirty="0">
                <a:latin typeface="Courier New"/>
                <a:cs typeface="Courier New"/>
              </a:rPr>
              <a:t>}</a:t>
            </a:r>
            <a:endParaRPr sz="1100">
              <a:latin typeface="Courier New"/>
              <a:cs typeface="Courier New"/>
            </a:endParaRPr>
          </a:p>
          <a:p>
            <a:pPr marL="203200">
              <a:lnSpc>
                <a:spcPct val="100000"/>
              </a:lnSpc>
              <a:spcBef>
                <a:spcPts val="210"/>
              </a:spcBef>
            </a:pPr>
            <a:r>
              <a:rPr sz="900" dirty="0">
                <a:latin typeface="Courier New"/>
                <a:cs typeface="Courier New"/>
              </a:rPr>
              <a:t>}</a:t>
            </a:r>
            <a:endParaRPr sz="9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50">
              <a:latin typeface="Courier New"/>
              <a:cs typeface="Courier New"/>
            </a:endParaRPr>
          </a:p>
          <a:p>
            <a:pPr marL="203200" marR="1260475" indent="71120">
              <a:lnSpc>
                <a:spcPct val="126699"/>
              </a:lnSpc>
            </a:pP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//install PLIC handler at MEIP Location 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solidFill>
                  <a:srgbClr val="3B3B3B"/>
                </a:solidFill>
                <a:latin typeface="Courier New"/>
                <a:cs typeface="Courier New"/>
              </a:rPr>
              <a:t>isr_handler[11]</a:t>
            </a:r>
            <a:r>
              <a:rPr sz="900" spc="-40" dirty="0">
                <a:solidFill>
                  <a:srgbClr val="3B3B3B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B3B3B"/>
                </a:solidFill>
                <a:latin typeface="Courier New"/>
                <a:cs typeface="Courier New"/>
              </a:rPr>
              <a:t>= </a:t>
            </a:r>
            <a:r>
              <a:rPr sz="900" spc="-10" dirty="0">
                <a:solidFill>
                  <a:srgbClr val="3B3B3B"/>
                </a:solidFill>
                <a:latin typeface="Courier New"/>
                <a:cs typeface="Courier New"/>
              </a:rPr>
              <a:t>machine_external_interrupt;</a:t>
            </a:r>
            <a:endParaRPr sz="900">
              <a:latin typeface="Courier New"/>
              <a:cs typeface="Courier New"/>
            </a:endParaRPr>
          </a:p>
          <a:p>
            <a:pPr marL="203200" marR="1054735">
              <a:lnSpc>
                <a:spcPct val="117800"/>
              </a:lnSpc>
              <a:spcBef>
                <a:spcPts val="35"/>
              </a:spcBef>
            </a:pPr>
            <a:r>
              <a:rPr sz="900" spc="-5" dirty="0">
                <a:solidFill>
                  <a:srgbClr val="00AF50"/>
                </a:solidFill>
                <a:latin typeface="Courier New"/>
                <a:cs typeface="Courier New"/>
              </a:rPr>
              <a:t>//write trap_entry address to mtvec </a:t>
            </a:r>
            <a:r>
              <a:rPr sz="9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900" spc="-5" dirty="0">
                <a:latin typeface="Courier New"/>
                <a:cs typeface="Courier New"/>
              </a:rPr>
              <a:t>write_csr(mtvec,</a:t>
            </a:r>
            <a:r>
              <a:rPr sz="900" spc="-35" dirty="0">
                <a:latin typeface="Courier New"/>
                <a:cs typeface="Courier New"/>
              </a:rPr>
              <a:t> </a:t>
            </a:r>
            <a:r>
              <a:rPr sz="900" spc="-5" dirty="0">
                <a:solidFill>
                  <a:srgbClr val="3B3B3B"/>
                </a:solidFill>
                <a:latin typeface="Courier New"/>
                <a:cs typeface="Courier New"/>
              </a:rPr>
              <a:t>((</a:t>
            </a:r>
            <a:r>
              <a:rPr sz="900" spc="-5" dirty="0">
                <a:solidFill>
                  <a:srgbClr val="6F2F9F"/>
                </a:solidFill>
                <a:latin typeface="Courier New"/>
                <a:cs typeface="Courier New"/>
              </a:rPr>
              <a:t>unsigned</a:t>
            </a:r>
            <a:r>
              <a:rPr sz="900" spc="-25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6F2F9F"/>
                </a:solidFill>
                <a:latin typeface="Courier New"/>
                <a:cs typeface="Courier New"/>
              </a:rPr>
              <a:t>long</a:t>
            </a:r>
            <a:r>
              <a:rPr sz="900" spc="-10" dirty="0">
                <a:latin typeface="Courier New"/>
                <a:cs typeface="Courier New"/>
              </a:rPr>
              <a:t>)&amp;handle_trap));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240779" y="3119627"/>
            <a:ext cx="5374005" cy="3274060"/>
          </a:xfrm>
          <a:prstGeom prst="rect">
            <a:avLst/>
          </a:prstGeom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76225">
              <a:lnSpc>
                <a:spcPts val="1330"/>
              </a:lnSpc>
            </a:pPr>
            <a:r>
              <a:rPr sz="1200" spc="-5" dirty="0">
                <a:solidFill>
                  <a:srgbClr val="6F2F9F"/>
                </a:solidFill>
                <a:latin typeface="Courier New"/>
                <a:cs typeface="Courier New"/>
              </a:rPr>
              <a:t>void</a:t>
            </a:r>
            <a:r>
              <a:rPr sz="120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machine_external_interrupt()</a:t>
            </a:r>
            <a:endParaRPr sz="1200">
              <a:latin typeface="Courier New"/>
              <a:cs typeface="Courier New"/>
            </a:endParaRPr>
          </a:p>
          <a:p>
            <a:pPr marL="276225">
              <a:lnSpc>
                <a:spcPct val="100000"/>
              </a:lnSpc>
              <a:spcBef>
                <a:spcPts val="204"/>
              </a:spcBef>
            </a:pPr>
            <a:r>
              <a:rPr sz="1200" dirty="0">
                <a:latin typeface="Courier New"/>
                <a:cs typeface="Courier New"/>
              </a:rPr>
              <a:t>{</a:t>
            </a:r>
            <a:endParaRPr sz="1200">
              <a:latin typeface="Courier New"/>
              <a:cs typeface="Courier New"/>
            </a:endParaRPr>
          </a:p>
          <a:p>
            <a:pPr marL="534035" marR="326390">
              <a:lnSpc>
                <a:spcPct val="113300"/>
              </a:lnSpc>
              <a:spcBef>
                <a:spcPts val="10"/>
              </a:spcBef>
            </a:pP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//get</a:t>
            </a:r>
            <a:r>
              <a:rPr sz="1200" spc="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the</a:t>
            </a:r>
            <a:r>
              <a:rPr sz="1200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highest</a:t>
            </a:r>
            <a:r>
              <a:rPr sz="1200" spc="3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priority</a:t>
            </a:r>
            <a:r>
              <a:rPr sz="1200" spc="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pending</a:t>
            </a:r>
            <a:r>
              <a:rPr sz="1200" spc="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PLIC</a:t>
            </a:r>
            <a:r>
              <a:rPr sz="1200" spc="1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interrupt </a:t>
            </a:r>
            <a:r>
              <a:rPr sz="1200" spc="-70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6F2F9F"/>
                </a:solidFill>
                <a:latin typeface="Courier New"/>
                <a:cs typeface="Courier New"/>
              </a:rPr>
              <a:t>uint32_t</a:t>
            </a:r>
            <a:r>
              <a:rPr sz="1200" spc="40" dirty="0">
                <a:solidFill>
                  <a:srgbClr val="6F2F9F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int_num</a:t>
            </a:r>
            <a:r>
              <a:rPr sz="1200" spc="25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plic.claim_comlete;</a:t>
            </a:r>
            <a:endParaRPr sz="1200">
              <a:latin typeface="Courier New"/>
              <a:cs typeface="Courier New"/>
            </a:endParaRPr>
          </a:p>
          <a:p>
            <a:pPr marL="534035" marR="2630170">
              <a:lnSpc>
                <a:spcPct val="114199"/>
              </a:lnSpc>
            </a:pP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//branch</a:t>
            </a:r>
            <a:r>
              <a:rPr sz="1200" spc="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to handler </a:t>
            </a:r>
            <a:r>
              <a:rPr sz="12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latin typeface="Courier New"/>
                <a:cs typeface="Courier New"/>
              </a:rPr>
              <a:t>plic_handler[int_num]();</a:t>
            </a:r>
            <a:endParaRPr sz="1200">
              <a:latin typeface="Courier New"/>
              <a:cs typeface="Courier New"/>
            </a:endParaRPr>
          </a:p>
          <a:p>
            <a:pPr marL="534035">
              <a:lnSpc>
                <a:spcPct val="100000"/>
              </a:lnSpc>
              <a:spcBef>
                <a:spcPts val="170"/>
              </a:spcBef>
            </a:pP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//complete</a:t>
            </a:r>
            <a:r>
              <a:rPr sz="1200" spc="5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interrupt</a:t>
            </a:r>
            <a:r>
              <a:rPr sz="1200" spc="4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by</a:t>
            </a:r>
            <a:r>
              <a:rPr sz="120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writing</a:t>
            </a:r>
            <a:r>
              <a:rPr sz="1200" spc="3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interrupt</a:t>
            </a:r>
            <a:r>
              <a:rPr sz="1200" spc="5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number</a:t>
            </a:r>
            <a:endParaRPr sz="1200">
              <a:latin typeface="Courier New"/>
              <a:cs typeface="Courier New"/>
            </a:endParaRPr>
          </a:p>
          <a:p>
            <a:pPr marL="534035">
              <a:lnSpc>
                <a:spcPct val="100000"/>
              </a:lnSpc>
              <a:spcBef>
                <a:spcPts val="25"/>
              </a:spcBef>
            </a:pP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back</a:t>
            </a:r>
            <a:r>
              <a:rPr sz="1200" spc="-20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to</a:t>
            </a:r>
            <a:r>
              <a:rPr sz="1200" spc="-25" dirty="0">
                <a:solidFill>
                  <a:srgbClr val="00AF50"/>
                </a:solidFill>
                <a:latin typeface="Courier New"/>
                <a:cs typeface="Courier New"/>
              </a:rPr>
              <a:t> </a:t>
            </a:r>
            <a:r>
              <a:rPr sz="1200" spc="-5" dirty="0">
                <a:solidFill>
                  <a:srgbClr val="00AF50"/>
                </a:solidFill>
                <a:latin typeface="Courier New"/>
                <a:cs typeface="Courier New"/>
              </a:rPr>
              <a:t>PLIC</a:t>
            </a:r>
            <a:endParaRPr sz="1200">
              <a:latin typeface="Courier New"/>
              <a:cs typeface="Courier New"/>
            </a:endParaRPr>
          </a:p>
          <a:p>
            <a:pPr marL="534035">
              <a:lnSpc>
                <a:spcPct val="100000"/>
              </a:lnSpc>
              <a:spcBef>
                <a:spcPts val="180"/>
              </a:spcBef>
            </a:pPr>
            <a:r>
              <a:rPr sz="1200" spc="-5" dirty="0">
                <a:latin typeface="Courier New"/>
                <a:cs typeface="Courier New"/>
              </a:rPr>
              <a:t>plic.claim_complete</a:t>
            </a:r>
            <a:r>
              <a:rPr sz="1200" spc="30" dirty="0">
                <a:latin typeface="Courier New"/>
                <a:cs typeface="Courier New"/>
              </a:rPr>
              <a:t> </a:t>
            </a:r>
            <a:r>
              <a:rPr sz="1200" dirty="0">
                <a:latin typeface="Courier New"/>
                <a:cs typeface="Courier New"/>
              </a:rPr>
              <a:t>=</a:t>
            </a:r>
            <a:r>
              <a:rPr sz="1200" spc="-5" dirty="0">
                <a:latin typeface="Courier New"/>
                <a:cs typeface="Courier New"/>
              </a:rPr>
              <a:t> int_num;</a:t>
            </a:r>
            <a:endParaRPr sz="1200">
              <a:latin typeface="Courier New"/>
              <a:cs typeface="Courier New"/>
            </a:endParaRPr>
          </a:p>
          <a:p>
            <a:pPr marL="276225">
              <a:lnSpc>
                <a:spcPct val="100000"/>
              </a:lnSpc>
              <a:spcBef>
                <a:spcPts val="225"/>
              </a:spcBef>
            </a:pPr>
            <a:r>
              <a:rPr sz="1200" dirty="0">
                <a:latin typeface="Courier New"/>
                <a:cs typeface="Courier New"/>
              </a:rPr>
              <a:t>}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92116" y="3300221"/>
            <a:ext cx="1929130" cy="1001394"/>
          </a:xfrm>
          <a:custGeom>
            <a:avLst/>
            <a:gdLst/>
            <a:ahLst/>
            <a:cxnLst/>
            <a:rect l="l" t="t" r="r" b="b"/>
            <a:pathLst>
              <a:path w="1929129" h="1001395">
                <a:moveTo>
                  <a:pt x="1854005" y="24077"/>
                </a:moveTo>
                <a:lnTo>
                  <a:pt x="0" y="978153"/>
                </a:lnTo>
                <a:lnTo>
                  <a:pt x="11937" y="1001267"/>
                </a:lnTo>
                <a:lnTo>
                  <a:pt x="1865832" y="47057"/>
                </a:lnTo>
                <a:lnTo>
                  <a:pt x="1854005" y="24077"/>
                </a:lnTo>
                <a:close/>
              </a:path>
              <a:path w="1929129" h="1001395">
                <a:moveTo>
                  <a:pt x="1915711" y="18161"/>
                </a:moveTo>
                <a:lnTo>
                  <a:pt x="1865503" y="18161"/>
                </a:lnTo>
                <a:lnTo>
                  <a:pt x="1877314" y="41148"/>
                </a:lnTo>
                <a:lnTo>
                  <a:pt x="1865832" y="47057"/>
                </a:lnTo>
                <a:lnTo>
                  <a:pt x="1877695" y="70103"/>
                </a:lnTo>
                <a:lnTo>
                  <a:pt x="1915711" y="18161"/>
                </a:lnTo>
                <a:close/>
              </a:path>
              <a:path w="1929129" h="1001395">
                <a:moveTo>
                  <a:pt x="1865503" y="18161"/>
                </a:moveTo>
                <a:lnTo>
                  <a:pt x="1854005" y="24077"/>
                </a:lnTo>
                <a:lnTo>
                  <a:pt x="1865832" y="47057"/>
                </a:lnTo>
                <a:lnTo>
                  <a:pt x="1877314" y="41148"/>
                </a:lnTo>
                <a:lnTo>
                  <a:pt x="1865503" y="18161"/>
                </a:lnTo>
                <a:close/>
              </a:path>
              <a:path w="1929129" h="1001395">
                <a:moveTo>
                  <a:pt x="1929003" y="0"/>
                </a:moveTo>
                <a:lnTo>
                  <a:pt x="1842135" y="1015"/>
                </a:lnTo>
                <a:lnTo>
                  <a:pt x="1854005" y="24077"/>
                </a:lnTo>
                <a:lnTo>
                  <a:pt x="1865503" y="18161"/>
                </a:lnTo>
                <a:lnTo>
                  <a:pt x="1915711" y="18161"/>
                </a:lnTo>
                <a:lnTo>
                  <a:pt x="192900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46A15F5-D556-5641-4E94-7DC472360E3A}"/>
                  </a:ext>
                </a:extLst>
              </p14:cNvPr>
              <p14:cNvContentPartPr/>
              <p14:nvPr/>
            </p14:nvContentPartPr>
            <p14:xfrm>
              <a:off x="1225440" y="685800"/>
              <a:ext cx="7067880" cy="3753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46A15F5-D556-5641-4E94-7DC472360E3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6080" y="676440"/>
                <a:ext cx="7086600" cy="3772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0933" y="1151877"/>
            <a:ext cx="9460238" cy="514533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16817" y="159082"/>
            <a:ext cx="10689091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RIS</a:t>
            </a:r>
            <a:r>
              <a:rPr spc="-200" dirty="0"/>
              <a:t>C</a:t>
            </a:r>
            <a:r>
              <a:rPr spc="-229" dirty="0"/>
              <a:t>-</a:t>
            </a:r>
            <a:r>
              <a:rPr spc="-45" dirty="0"/>
              <a:t>V</a:t>
            </a:r>
            <a:r>
              <a:rPr spc="-165" dirty="0"/>
              <a:t> </a:t>
            </a:r>
            <a:r>
              <a:rPr spc="-175" dirty="0"/>
              <a:t>Inter</a:t>
            </a:r>
            <a:r>
              <a:rPr spc="-160" dirty="0"/>
              <a:t>r</a:t>
            </a:r>
            <a:r>
              <a:rPr spc="-45" dirty="0"/>
              <a:t>upt</a:t>
            </a:r>
            <a:r>
              <a:rPr spc="-135" dirty="0"/>
              <a:t> </a:t>
            </a:r>
            <a:r>
              <a:rPr spc="-100" dirty="0"/>
              <a:t>System</a:t>
            </a:r>
            <a:r>
              <a:rPr spc="-160" dirty="0"/>
              <a:t> </a:t>
            </a:r>
            <a:r>
              <a:rPr spc="-60" dirty="0"/>
              <a:t>Ar</a:t>
            </a:r>
            <a:r>
              <a:rPr spc="-65" dirty="0"/>
              <a:t>chit</a:t>
            </a:r>
            <a:r>
              <a:rPr spc="-95" dirty="0"/>
              <a:t>e</a:t>
            </a:r>
            <a:r>
              <a:rPr spc="-30" dirty="0"/>
              <a:t>ct</a:t>
            </a:r>
            <a:r>
              <a:rPr spc="-55" dirty="0"/>
              <a:t>u</a:t>
            </a:r>
            <a:r>
              <a:rPr spc="-120" dirty="0"/>
              <a:t>re</a:t>
            </a:r>
            <a:r>
              <a:rPr spc="-110" dirty="0"/>
              <a:t> </a:t>
            </a:r>
            <a:r>
              <a:rPr spc="-160" dirty="0"/>
              <a:t>(</a:t>
            </a:r>
            <a:r>
              <a:rPr spc="-295" dirty="0"/>
              <a:t>M</a:t>
            </a:r>
            <a:r>
              <a:rPr spc="-229" dirty="0"/>
              <a:t>-</a:t>
            </a:r>
            <a:r>
              <a:rPr spc="-40" dirty="0"/>
              <a:t>mo</a:t>
            </a:r>
            <a:r>
              <a:rPr spc="-45" dirty="0"/>
              <a:t>d</a:t>
            </a:r>
            <a:r>
              <a:rPr spc="-80" dirty="0"/>
              <a:t>e</a:t>
            </a:r>
            <a:r>
              <a:rPr spc="-145" dirty="0"/>
              <a:t> </a:t>
            </a:r>
            <a:r>
              <a:rPr spc="-90" dirty="0"/>
              <a:t>on</a:t>
            </a:r>
            <a:r>
              <a:rPr spc="-55" dirty="0"/>
              <a:t>l</a:t>
            </a:r>
            <a:r>
              <a:rPr spc="-130" dirty="0"/>
              <a:t>y</a:t>
            </a:r>
            <a:r>
              <a:rPr spc="-140" dirty="0"/>
              <a:t> </a:t>
            </a:r>
            <a:r>
              <a:rPr spc="-125" dirty="0"/>
              <a:t>ex</a:t>
            </a:r>
            <a:r>
              <a:rPr spc="-145" dirty="0"/>
              <a:t>a</a:t>
            </a:r>
            <a:r>
              <a:rPr spc="-55" dirty="0"/>
              <a:t>mpl</a:t>
            </a:r>
            <a:r>
              <a:rPr spc="-65" dirty="0"/>
              <a:t>e</a:t>
            </a:r>
            <a:r>
              <a:rPr spc="-445" dirty="0"/>
              <a:t>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BAAAF6-2912-20C7-3CD4-92DCDA345FDF}"/>
              </a:ext>
            </a:extLst>
          </p:cNvPr>
          <p:cNvSpPr txBox="1"/>
          <p:nvPr/>
        </p:nvSpPr>
        <p:spPr>
          <a:xfrm>
            <a:off x="0" y="1804822"/>
            <a:ext cx="4534293" cy="5271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Core</a:t>
            </a:r>
            <a:r>
              <a:rPr lang="en-US" sz="18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Local</a:t>
            </a:r>
            <a:r>
              <a:rPr lang="en-US" sz="18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 err="1">
                <a:solidFill>
                  <a:srgbClr val="3B3B3B"/>
                </a:solidFill>
                <a:latin typeface="Calibri"/>
                <a:cs typeface="Calibri"/>
              </a:rPr>
              <a:t>Interruptor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(CLINT)</a:t>
            </a:r>
            <a:r>
              <a:rPr lang="en-US" sz="18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B3B3B"/>
                </a:solidFill>
                <a:latin typeface="Calibri"/>
                <a:cs typeface="Calibri"/>
              </a:rPr>
              <a:t>is</a:t>
            </a:r>
            <a:r>
              <a:rPr lang="en-US" sz="18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B3B3B"/>
                </a:solidFill>
                <a:latin typeface="Calibri"/>
                <a:cs typeface="Calibri"/>
              </a:rPr>
              <a:t>a</a:t>
            </a:r>
            <a:r>
              <a:rPr lang="en-US" sz="1800" b="1" spc="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memory</a:t>
            </a:r>
            <a:r>
              <a:rPr lang="en-US" sz="1800" b="1" spc="-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mapped</a:t>
            </a:r>
            <a:r>
              <a:rPr lang="en-US" sz="18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peripheral</a:t>
            </a:r>
            <a:r>
              <a:rPr lang="en-US" sz="1800" b="1" spc="-4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B3B3B"/>
                </a:solidFill>
                <a:latin typeface="Calibri"/>
                <a:cs typeface="Calibri"/>
              </a:rPr>
              <a:t>used</a:t>
            </a:r>
            <a:r>
              <a:rPr lang="en-US" sz="1800" b="1" spc="-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B3B3B"/>
                </a:solidFill>
                <a:latin typeface="Calibri"/>
                <a:cs typeface="Calibri"/>
              </a:rPr>
              <a:t>to </a:t>
            </a:r>
            <a:r>
              <a:rPr lang="en-US" sz="1800" b="1" spc="-39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generate</a:t>
            </a:r>
            <a:r>
              <a:rPr lang="en-US" sz="1800" b="1" spc="-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Software</a:t>
            </a:r>
            <a:r>
              <a:rPr lang="en-US" sz="18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dirty="0">
                <a:solidFill>
                  <a:srgbClr val="3B3B3B"/>
                </a:solidFill>
                <a:latin typeface="Calibri"/>
                <a:cs typeface="Calibri"/>
              </a:rPr>
              <a:t>and</a:t>
            </a:r>
            <a:r>
              <a:rPr lang="en-US" sz="1800" b="1" spc="-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Timer</a:t>
            </a:r>
            <a:r>
              <a:rPr lang="en-US" sz="1800" b="1" spc="-1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800" b="1" spc="-5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</a:p>
          <a:p>
            <a:endParaRPr lang="en-US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sz="1800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sz="1800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b="1" spc="-5" dirty="0">
              <a:solidFill>
                <a:srgbClr val="3B3B3B"/>
              </a:solidFill>
              <a:latin typeface="Calibri"/>
              <a:cs typeface="Calibri"/>
            </a:endParaRPr>
          </a:p>
          <a:p>
            <a:endParaRPr lang="en-US" sz="1800" dirty="0">
              <a:latin typeface="Calibri"/>
              <a:cs typeface="Calibri"/>
            </a:endParaRPr>
          </a:p>
          <a:p>
            <a:pPr marL="469900" indent="-457834">
              <a:lnSpc>
                <a:spcPts val="1735"/>
              </a:lnSpc>
              <a:spcBef>
                <a:spcPts val="125"/>
              </a:spcBef>
              <a:buSzPct val="103448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lang="en-US" sz="1450" b="1" spc="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lang="en-US" sz="145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Platform Level Interrupt Controller(PLIC)</a:t>
            </a:r>
            <a:r>
              <a:rPr lang="en-US" sz="145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10" dirty="0">
                <a:solidFill>
                  <a:srgbClr val="3B3B3B"/>
                </a:solidFill>
                <a:latin typeface="Calibri"/>
                <a:cs typeface="Calibri"/>
              </a:rPr>
              <a:t>handles</a:t>
            </a:r>
            <a:r>
              <a:rPr lang="en-US" sz="1450" b="1" spc="3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lang="en-US" sz="145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majority </a:t>
            </a:r>
            <a:r>
              <a:rPr lang="en-US" sz="1450" b="1" spc="10" dirty="0">
                <a:solidFill>
                  <a:srgbClr val="3B3B3B"/>
                </a:solidFill>
                <a:latin typeface="Calibri"/>
                <a:cs typeface="Calibri"/>
              </a:rPr>
              <a:t>of</a:t>
            </a:r>
            <a:r>
              <a:rPr lang="en-US" sz="1450" b="1" spc="2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10" dirty="0">
                <a:solidFill>
                  <a:srgbClr val="3B3B3B"/>
                </a:solidFill>
                <a:latin typeface="Calibri"/>
                <a:cs typeface="Calibri"/>
              </a:rPr>
              <a:t>the</a:t>
            </a:r>
            <a:r>
              <a:rPr lang="en-US" sz="145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Core</a:t>
            </a:r>
            <a:r>
              <a:rPr lang="en-US" sz="1450" b="1" spc="2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Complex’s</a:t>
            </a:r>
            <a:r>
              <a:rPr lang="en-US" sz="1450" b="1" spc="5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Interrupts</a:t>
            </a:r>
            <a:endParaRPr lang="en-US" sz="1450" dirty="0">
              <a:latin typeface="Calibri"/>
              <a:cs typeface="Calibri"/>
            </a:endParaRPr>
          </a:p>
          <a:p>
            <a:pPr marL="1003300" lvl="1" indent="-381635">
              <a:lnSpc>
                <a:spcPts val="1550"/>
              </a:lnSpc>
              <a:buFont typeface="Arial MT"/>
              <a:buChar char="–"/>
              <a:tabLst>
                <a:tab pos="1003300" algn="l"/>
                <a:tab pos="1003935" algn="l"/>
              </a:tabLst>
            </a:pPr>
            <a:r>
              <a:rPr lang="en-US" sz="1300" spc="-5" dirty="0">
                <a:latin typeface="Calibri"/>
                <a:cs typeface="Calibri"/>
              </a:rPr>
              <a:t>The</a:t>
            </a:r>
            <a:r>
              <a:rPr lang="en-US" sz="1300" spc="-2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PLIC</a:t>
            </a:r>
            <a:r>
              <a:rPr lang="en-US" sz="1300" spc="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has a</a:t>
            </a:r>
            <a:r>
              <a:rPr lang="en-US" sz="130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programmable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number</a:t>
            </a:r>
            <a:r>
              <a:rPr lang="en-US" sz="1300" spc="-2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prioritization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levels</a:t>
            </a:r>
            <a:endParaRPr lang="en-US" sz="1300" dirty="0">
              <a:latin typeface="Calibri"/>
              <a:cs typeface="Calibri"/>
            </a:endParaRPr>
          </a:p>
          <a:p>
            <a:pPr marL="1003300" lvl="1" indent="-381635">
              <a:lnSpc>
                <a:spcPts val="1555"/>
              </a:lnSpc>
              <a:buFont typeface="Arial MT"/>
              <a:buChar char="–"/>
              <a:tabLst>
                <a:tab pos="1003300" algn="l"/>
                <a:tab pos="1003935" algn="l"/>
              </a:tabLst>
            </a:pPr>
            <a:r>
              <a:rPr lang="en-US" sz="1300" spc="-5" dirty="0">
                <a:latin typeface="Calibri"/>
                <a:cs typeface="Calibri"/>
              </a:rPr>
              <a:t>Only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the</a:t>
            </a:r>
            <a:r>
              <a:rPr lang="en-US" sz="1300" spc="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highest</a:t>
            </a:r>
            <a:r>
              <a:rPr lang="en-US" sz="130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priority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pending</a:t>
            </a:r>
            <a:r>
              <a:rPr lang="en-US" sz="1300" spc="-3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interrupt</a:t>
            </a:r>
            <a:r>
              <a:rPr lang="en-US" sz="1300" spc="-2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is</a:t>
            </a:r>
            <a:r>
              <a:rPr lang="en-US" sz="1300" spc="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presented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on</a:t>
            </a:r>
            <a:r>
              <a:rPr lang="en-US" sz="1300" spc="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the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claim/complete</a:t>
            </a:r>
            <a:r>
              <a:rPr lang="en-US" sz="1300" spc="1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register</a:t>
            </a:r>
            <a:endParaRPr lang="en-US" sz="13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797979"/>
              </a:buClr>
              <a:buFont typeface="Arial MT"/>
              <a:buChar char="–"/>
            </a:pPr>
            <a:endParaRPr lang="en-US" sz="1200" dirty="0">
              <a:latin typeface="Calibri"/>
              <a:cs typeface="Calibri"/>
            </a:endParaRPr>
          </a:p>
          <a:p>
            <a:pPr marL="469900" indent="-457834">
              <a:lnSpc>
                <a:spcPts val="1735"/>
              </a:lnSpc>
              <a:spcBef>
                <a:spcPts val="5"/>
              </a:spcBef>
              <a:buSzPct val="103448"/>
              <a:buFont typeface="Arial MT"/>
              <a:buChar char="•"/>
              <a:tabLst>
                <a:tab pos="469900" algn="l"/>
                <a:tab pos="470534" algn="l"/>
              </a:tabLst>
            </a:pP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Multi-Core</a:t>
            </a:r>
            <a:r>
              <a:rPr lang="en-US" sz="1450" b="1" spc="30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interrupt</a:t>
            </a:r>
            <a:r>
              <a:rPr lang="en-US" sz="1450" b="1" spc="45" dirty="0">
                <a:solidFill>
                  <a:srgbClr val="3B3B3B"/>
                </a:solidFill>
                <a:latin typeface="Calibri"/>
                <a:cs typeface="Calibri"/>
              </a:rPr>
              <a:t> </a:t>
            </a:r>
            <a:r>
              <a:rPr lang="en-US" sz="1450" b="1" spc="5" dirty="0">
                <a:solidFill>
                  <a:srgbClr val="3B3B3B"/>
                </a:solidFill>
                <a:latin typeface="Calibri"/>
                <a:cs typeface="Calibri"/>
              </a:rPr>
              <a:t>distribution</a:t>
            </a:r>
            <a:endParaRPr lang="en-US" sz="1450" dirty="0">
              <a:latin typeface="Calibri"/>
              <a:cs typeface="Calibri"/>
            </a:endParaRPr>
          </a:p>
          <a:p>
            <a:pPr marL="1003300" marR="5080" lvl="1" indent="-381000">
              <a:lnSpc>
                <a:spcPct val="80000"/>
              </a:lnSpc>
              <a:spcBef>
                <a:spcPts val="305"/>
              </a:spcBef>
              <a:buFont typeface="Arial MT"/>
              <a:buChar char="–"/>
              <a:tabLst>
                <a:tab pos="1003300" algn="l"/>
                <a:tab pos="1003935" algn="l"/>
              </a:tabLst>
            </a:pPr>
            <a:r>
              <a:rPr lang="en-US" sz="1300" spc="-5" dirty="0">
                <a:latin typeface="Calibri"/>
                <a:cs typeface="Calibri"/>
              </a:rPr>
              <a:t>The</a:t>
            </a:r>
            <a:r>
              <a:rPr lang="en-US" sz="1300" spc="-2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PLIC</a:t>
            </a:r>
            <a:r>
              <a:rPr lang="en-US" sz="1300" spc="1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is</a:t>
            </a:r>
            <a:r>
              <a:rPr lang="en-US" sz="1300" spc="1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globally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addressable and is</a:t>
            </a:r>
            <a:r>
              <a:rPr lang="en-US" sz="130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connected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to</a:t>
            </a:r>
            <a:r>
              <a:rPr lang="en-US" sz="1300" spc="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the</a:t>
            </a:r>
            <a:r>
              <a:rPr lang="en-US" sz="1300" spc="-1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Machine</a:t>
            </a:r>
            <a:r>
              <a:rPr lang="en-US" sz="1300" spc="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External</a:t>
            </a:r>
            <a:r>
              <a:rPr lang="en-US" sz="1300" spc="-1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Interrupt</a:t>
            </a:r>
            <a:r>
              <a:rPr lang="en-US" sz="1300" spc="-2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signal</a:t>
            </a:r>
            <a:r>
              <a:rPr lang="en-US" sz="1300" spc="5" dirty="0">
                <a:latin typeface="Calibri"/>
                <a:cs typeface="Calibri"/>
              </a:rPr>
              <a:t> </a:t>
            </a:r>
            <a:r>
              <a:rPr lang="en-US" sz="1300" spc="-10" dirty="0">
                <a:latin typeface="Calibri"/>
                <a:cs typeface="Calibri"/>
              </a:rPr>
              <a:t>of </a:t>
            </a:r>
            <a:r>
              <a:rPr lang="en-US" sz="1300" spc="-280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all cores in the Core</a:t>
            </a:r>
            <a:r>
              <a:rPr lang="en-US" sz="1300" spc="-15" dirty="0">
                <a:latin typeface="Calibri"/>
                <a:cs typeface="Calibri"/>
              </a:rPr>
              <a:t> </a:t>
            </a:r>
            <a:r>
              <a:rPr lang="en-US" sz="1300" spc="-5" dirty="0">
                <a:latin typeface="Calibri"/>
                <a:cs typeface="Calibri"/>
              </a:rPr>
              <a:t>Complex</a:t>
            </a:r>
            <a:endParaRPr lang="en-US" sz="1300" dirty="0">
              <a:latin typeface="Calibri"/>
              <a:cs typeface="Calibri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9874</Words>
  <Application>Microsoft Office PowerPoint</Application>
  <PresentationFormat>Widescreen</PresentationFormat>
  <Paragraphs>1813</Paragraphs>
  <Slides>106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23" baseType="lpstr">
      <vt:lpstr>__PT_Serif_89977a</vt:lpstr>
      <vt:lpstr>Arial</vt:lpstr>
      <vt:lpstr>Arial</vt:lpstr>
      <vt:lpstr>Arial MT</vt:lpstr>
      <vt:lpstr>Bahnschrift</vt:lpstr>
      <vt:lpstr>Calibri</vt:lpstr>
      <vt:lpstr>Calibri Light</vt:lpstr>
      <vt:lpstr>Cambria</vt:lpstr>
      <vt:lpstr>Courier New</vt:lpstr>
      <vt:lpstr>Google Sans</vt:lpstr>
      <vt:lpstr>Lucida Console</vt:lpstr>
      <vt:lpstr>Symbol</vt:lpstr>
      <vt:lpstr>Tahoma</vt:lpstr>
      <vt:lpstr>Times New Roman</vt:lpstr>
      <vt:lpstr>Verdana</vt:lpstr>
      <vt:lpstr>Wingdings</vt:lpstr>
      <vt:lpstr>Office Theme</vt:lpstr>
      <vt:lpstr>RISC-V</vt:lpstr>
      <vt:lpstr>Eight Great Ideas</vt:lpstr>
      <vt:lpstr>Below Your Program</vt:lpstr>
      <vt:lpstr>Levels of Program Code</vt:lpstr>
      <vt:lpstr>Why RISC V?</vt:lpstr>
      <vt:lpstr>History of RISC-V.</vt:lpstr>
      <vt:lpstr>Industry Opinion about RISC V &amp; Applications</vt:lpstr>
      <vt:lpstr>PowerPoint Presentation</vt:lpstr>
      <vt:lpstr>Advantage of RISC V</vt:lpstr>
      <vt:lpstr>ARM vs RISC V : ISA Comparison</vt:lpstr>
      <vt:lpstr>ARM vs RISC V :  Architectural Overview</vt:lpstr>
      <vt:lpstr>ARM vs RISC V :  Performance</vt:lpstr>
      <vt:lpstr>ARM vs RISC V : Power Efficiency</vt:lpstr>
      <vt:lpstr>RISC V Architecture</vt:lpstr>
      <vt:lpstr>RISC V Architecture: Modularity &amp; Extensibility</vt:lpstr>
      <vt:lpstr>Standard extensions</vt:lpstr>
      <vt:lpstr>RISC V Architecture: Compressed Instruction set</vt:lpstr>
      <vt:lpstr>2 Versions of RISC-V (based on  maximum width of registers supported)</vt:lpstr>
      <vt:lpstr>RISC V Modes: Privilege levels &amp; Virtual Memory</vt:lpstr>
      <vt:lpstr>RISC-V Modes</vt:lpstr>
      <vt:lpstr>We will discuss 4 addressing modes  (relevant for RISC-V)</vt:lpstr>
      <vt:lpstr>1. Immediate addressing mode</vt:lpstr>
      <vt:lpstr>2. Register Direct Mode</vt:lpstr>
      <vt:lpstr>Examples of instructions that use those modes</vt:lpstr>
      <vt:lpstr>3. Register Indirect Mode</vt:lpstr>
      <vt:lpstr>4. Base-offset Addressing Mode</vt:lpstr>
      <vt:lpstr>Examples of instructions that use those modes</vt:lpstr>
      <vt:lpstr>Solved Example</vt:lpstr>
      <vt:lpstr>Arithmetic Operations</vt:lpstr>
      <vt:lpstr>Arithmetic Example</vt:lpstr>
      <vt:lpstr>Register Operands</vt:lpstr>
      <vt:lpstr>RISC-V Registers</vt:lpstr>
      <vt:lpstr>RISC-V Registers</vt:lpstr>
      <vt:lpstr>Register Description</vt:lpstr>
      <vt:lpstr>Register Operand Example</vt:lpstr>
      <vt:lpstr>Memory Operands</vt:lpstr>
      <vt:lpstr>Memory Operand Example</vt:lpstr>
      <vt:lpstr>Registers vs. Memory</vt:lpstr>
      <vt:lpstr>PowerPoint Presentation</vt:lpstr>
      <vt:lpstr>Immediate Operands</vt:lpstr>
      <vt:lpstr>Example on add</vt:lpstr>
      <vt:lpstr>LI and MV (pseudo) instructions</vt:lpstr>
      <vt:lpstr>RISC-V R-format Instructions</vt:lpstr>
      <vt:lpstr>R-format Example</vt:lpstr>
      <vt:lpstr>RISC-V I-format Instructions</vt:lpstr>
      <vt:lpstr>RISC-V S-format Instructions</vt:lpstr>
      <vt:lpstr>The 6 Instruction Formats</vt:lpstr>
      <vt:lpstr>Logical Operations</vt:lpstr>
      <vt:lpstr>Shift Operations</vt:lpstr>
      <vt:lpstr>Conditional Operations</vt:lpstr>
      <vt:lpstr>Compiling If Statements</vt:lpstr>
      <vt:lpstr>Compiling Loop Statements</vt:lpstr>
      <vt:lpstr>More Conditional Operations</vt:lpstr>
      <vt:lpstr>Signed vs. Unsigned</vt:lpstr>
      <vt:lpstr>Signed and unsigned comparison</vt:lpstr>
      <vt:lpstr>SLT:SET On Less Than (signed comparison) and SLTU  (unsigned comparison)</vt:lpstr>
      <vt:lpstr>Comparison Instructions (SLT and SLTU)</vt:lpstr>
      <vt:lpstr>Variants of SLT</vt:lpstr>
      <vt:lpstr>PowerPoint Presentation</vt:lpstr>
      <vt:lpstr>Procedure Calling</vt:lpstr>
      <vt:lpstr>Procedure Call Instructions</vt:lpstr>
      <vt:lpstr>How to pass arguments/ return values</vt:lpstr>
      <vt:lpstr>Limitations with use of registers for argument  passing or returning results</vt:lpstr>
      <vt:lpstr>Register Spilling</vt:lpstr>
      <vt:lpstr>caller or callee-saver conventions</vt:lpstr>
      <vt:lpstr>Limitations with our approach</vt:lpstr>
      <vt:lpstr>Activation Block</vt:lpstr>
      <vt:lpstr>Organising Activation Blocks</vt:lpstr>
      <vt:lpstr>Pattern of Function Calls</vt:lpstr>
      <vt:lpstr>Pattern of Function Calls</vt:lpstr>
      <vt:lpstr>Issues solved by stack</vt:lpstr>
      <vt:lpstr>Working with the Stack</vt:lpstr>
      <vt:lpstr>PowerPoint Presentation</vt:lpstr>
      <vt:lpstr>How Stack Functions</vt:lpstr>
      <vt:lpstr>A Question on Stack</vt:lpstr>
      <vt:lpstr>Solution</vt:lpstr>
      <vt:lpstr>Leaf Procedure Example</vt:lpstr>
      <vt:lpstr>Leaf Procedure Example</vt:lpstr>
      <vt:lpstr>Register Usage</vt:lpstr>
      <vt:lpstr>Byte/Halfword/Word Operations</vt:lpstr>
      <vt:lpstr>RISC-V SB-format Instructions: Branch Addressing</vt:lpstr>
      <vt:lpstr>RISC-V UJ-format Instructions : Jump Addressing</vt:lpstr>
      <vt:lpstr>RISC-V Addressing Summary</vt:lpstr>
      <vt:lpstr>RISC-V Encoding Summary</vt:lpstr>
      <vt:lpstr>RISC-V Multiplication</vt:lpstr>
      <vt:lpstr>RISC-V Division</vt:lpstr>
      <vt:lpstr>PowerPoint Presentation</vt:lpstr>
      <vt:lpstr>What are Control and Status Registers (CSRs)</vt:lpstr>
      <vt:lpstr>Identification CSRs</vt:lpstr>
      <vt:lpstr>Machine Status (mstatus) - The Most Important CSR</vt:lpstr>
      <vt:lpstr>Timer CSRs</vt:lpstr>
      <vt:lpstr>Supervisor CSRs</vt:lpstr>
      <vt:lpstr>Virtual Memory</vt:lpstr>
      <vt:lpstr>Physical Memory Protection (PMP)</vt:lpstr>
      <vt:lpstr>RISC-V Interrupts</vt:lpstr>
      <vt:lpstr>Interrupts bits in Machine Status (mstatus)</vt:lpstr>
      <vt:lpstr>Machine Interrupt Cause CSR (mcause)</vt:lpstr>
      <vt:lpstr>Machine Interrupt-Enable and Pending CSRs (mie, mip)</vt:lpstr>
      <vt:lpstr>Machine Trap Vector CSR (mtvec)</vt:lpstr>
      <vt:lpstr>Trap Handler – Entry and Exit</vt:lpstr>
      <vt:lpstr>Flow</vt:lpstr>
      <vt:lpstr>Interrupt Handler Code</vt:lpstr>
      <vt:lpstr>Compiler Interrupt Attribute</vt:lpstr>
      <vt:lpstr>RISC-V Global Interrupts</vt:lpstr>
      <vt:lpstr>PLIC Interrupt Code Example</vt:lpstr>
      <vt:lpstr>RISC-V Interrupt System Architecture (M-mode only example)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 Requisite</dc:title>
  <dc:creator>Bharani Tarun HYD DIWIU42</dc:creator>
  <cp:lastModifiedBy>Bharani Tarun HYD UDBA2</cp:lastModifiedBy>
  <cp:revision>45</cp:revision>
  <dcterms:created xsi:type="dcterms:W3CDTF">2023-09-28T17:54:28Z</dcterms:created>
  <dcterms:modified xsi:type="dcterms:W3CDTF">2026-04-06T04:04:42Z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294a1c8-9899-41e7-8f6e-8b1b3c79592a_Enabled">
    <vt:lpwstr>true</vt:lpwstr>
  </property>
  <property fmtid="{D5CDD505-2E9C-101B-9397-08002B2CF9AE}" pid="3" name="MSIP_Label_7294a1c8-9899-41e7-8f6e-8b1b3c79592a_SetDate">
    <vt:lpwstr>2023-09-28T18:06:11Z</vt:lpwstr>
  </property>
  <property fmtid="{D5CDD505-2E9C-101B-9397-08002B2CF9AE}" pid="4" name="MSIP_Label_7294a1c8-9899-41e7-8f6e-8b1b3c79592a_Method">
    <vt:lpwstr>Privileged</vt:lpwstr>
  </property>
  <property fmtid="{D5CDD505-2E9C-101B-9397-08002B2CF9AE}" pid="5" name="MSIP_Label_7294a1c8-9899-41e7-8f6e-8b1b3c79592a_Name">
    <vt:lpwstr>Internal sub2 (no marking)</vt:lpwstr>
  </property>
  <property fmtid="{D5CDD505-2E9C-101B-9397-08002B2CF9AE}" pid="6" name="MSIP_Label_7294a1c8-9899-41e7-8f6e-8b1b3c79592a_SiteId">
    <vt:lpwstr>eb70b763-b6d7-4486-8555-8831709a784e</vt:lpwstr>
  </property>
  <property fmtid="{D5CDD505-2E9C-101B-9397-08002B2CF9AE}" pid="7" name="MSIP_Label_7294a1c8-9899-41e7-8f6e-8b1b3c79592a_ActionId">
    <vt:lpwstr>e70d1386-8688-4dae-a116-f74fc153d4ec</vt:lpwstr>
  </property>
  <property fmtid="{D5CDD505-2E9C-101B-9397-08002B2CF9AE}" pid="8" name="MSIP_Label_7294a1c8-9899-41e7-8f6e-8b1b3c79592a_ContentBits">
    <vt:lpwstr>0</vt:lpwstr>
  </property>
</Properties>
</file>